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B4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1250000"/>
            <a:ext cx="7744000" cy="13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PT Serif"/>
              </a:rPr>
              <a:t>Introducción a la Ciencia de Datos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72000" y="2650000"/>
            <a:ext cx="5200000" cy="520000"/>
          </a:xfrm>
          <a:prstGeom prst="roundRect">
            <a:avLst/>
          </a:prstGeom>
          <a:solidFill>
            <a:srgbClr val="E0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 i="0">
                <a:solidFill>
                  <a:srgbClr val="1D3557"/>
                </a:solidFill>
                <a:latin typeface="PT Serif"/>
              </a:rPr>
              <a:t>Clase 1 · Introducción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3550000"/>
            <a:ext cx="7744000" cy="9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PT Serif"/>
              </a:rPr>
              <a:t>Daniela Opitz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C4D4"/>
                </a:solidFill>
                <a:latin typeface="PT Serif"/>
              </a:rPr>
              <a:t>INF-396 · Departamento de Informática · UTFSM · viernes 7 de agosto,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300000"/>
            <a:ext cx="8344000" cy="8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l"/>
            <a:r>
              <a:rPr sz="2800" b="1" i="0">
                <a:solidFill>
                  <a:srgbClr val="0F0F0F"/>
                </a:solidFill>
                <a:latin typeface="PT Serif"/>
              </a:rPr>
              <a:t>Qué veremos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350000"/>
            <a:ext cx="7744000" cy="33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8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800" b="0" i="0">
                <a:solidFill>
                  <a:srgbClr val="3A4A5C"/>
                </a:solidFill>
                <a:latin typeface="PT Serif"/>
              </a:rPr>
              <a:t>Qué es la ciencia de datos: de qué se trata este curso.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8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800" b="0" i="0">
                <a:solidFill>
                  <a:srgbClr val="3A4A5C"/>
                </a:solidFill>
                <a:latin typeface="PT Serif"/>
              </a:rPr>
              <a:t>Las reglas del juego: evaluación, tareas y proyecto.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8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800" b="0" i="0">
                <a:solidFill>
                  <a:srgbClr val="3A4A5C"/>
                </a:solidFill>
                <a:latin typeface="PT Serif"/>
              </a:rPr>
              <a:t>Inteligencia artificial responsable: por qué la ética cruza todo el semestre.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8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800" b="1" i="0">
                <a:solidFill>
                  <a:srgbClr val="1D3557"/>
                </a:solidFill>
                <a:latin typeface="PT Serif"/>
              </a:rPr>
              <a:t>Y cerramos con la actividad de hoy: una discusión de caso y dejar el entorno funcionando.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1850000"/>
            <a:ext cx="7944000" cy="14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PT Serif"/>
              </a:rPr>
              <a:t>¿Qué es la ciencia de datos?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E0A437"/>
                </a:solidFill>
                <a:latin typeface="PT Serif"/>
              </a:rPr>
              <a:t>El oficio de aprender de los datos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300000"/>
            <a:ext cx="8344000" cy="8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ctr"/>
            <a:r>
              <a:rPr sz="2800" b="1" i="0">
                <a:solidFill>
                  <a:srgbClr val="0F0F0F"/>
                </a:solidFill>
                <a:latin typeface="PT Serif"/>
              </a:rPr>
              <a:t>Definiciones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300000"/>
            <a:ext cx="7744000" cy="35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D3557"/>
                </a:solidFill>
                <a:latin typeface="PT Serif"/>
              </a:rPr>
              <a:t>Cleveland (2001), 'Data Science: An Action Plan…', International Statistical Review: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300" b="0" i="0">
                <a:solidFill>
                  <a:srgbClr val="6B7785"/>
                </a:solidFill>
                <a:latin typeface="PT Serif"/>
              </a:rPr>
              <a:t>propone la ciencia de datos como una expansión de la estadística hacia la computación y el trabajo con datos reales.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D3557"/>
                </a:solidFill>
                <a:latin typeface="PT Serif"/>
              </a:rPr>
              <a:t>Donoho (2017), '50 Years of Data Science', Journal of Computational and Graphical Statistics: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300" b="0" i="0">
                <a:solidFill>
                  <a:srgbClr val="6B7785"/>
                </a:solidFill>
                <a:latin typeface="PT Serif"/>
              </a:rPr>
              <a:t>abarca todo el proceso de aprender de los datos (obtención, procesamiento, análisis, modelamiento y comunicación), no sólo el modelo.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D3557"/>
                </a:solidFill>
                <a:latin typeface="PT Serif"/>
              </a:rPr>
              <a:t>Provost &amp; Fawcett (2013), 'Data Science and its Relationship to Big Data', Big Data: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300" b="0" i="0">
                <a:solidFill>
                  <a:srgbClr val="6B7785"/>
                </a:solidFill>
                <a:latin typeface="PT Serif"/>
              </a:rPr>
              <a:t>un conjunto de principios que guían la extracción de conocimiento a partir de datos.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300000"/>
            <a:ext cx="8344000" cy="8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l"/>
            <a:r>
              <a:rPr sz="2800" b="1" i="0">
                <a:solidFill>
                  <a:srgbClr val="0F0F0F"/>
                </a:solidFill>
                <a:latin typeface="PT Serif"/>
              </a:rPr>
              <a:t>Tres competencias que se cruzan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1250000"/>
            <a:ext cx="4237760" cy="32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0" i="0">
                <a:solidFill>
                  <a:srgbClr val="3A4A5C"/>
                </a:solidFill>
                <a:latin typeface="PT Serif"/>
              </a:rPr>
              <a:t>La ciencia de datos vive en la intersección de tres áreas (VanderPlas, Python Data Science Handbook, 2016):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300" b="0" i="0">
                <a:solidFill>
                  <a:srgbClr val="6B7785"/>
                </a:solidFill>
                <a:latin typeface="PT Serif"/>
              </a:rPr>
              <a:t>Estadística: modelar y cuantificar la incertidumbre.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300" b="0" i="0">
                <a:solidFill>
                  <a:srgbClr val="6B7785"/>
                </a:solidFill>
                <a:latin typeface="PT Serif"/>
              </a:rPr>
              <a:t>Computación: obtener, procesar y visualizar a escala.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300" b="0" i="0">
                <a:solidFill>
                  <a:srgbClr val="6B7785"/>
                </a:solidFill>
                <a:latin typeface="PT Serif"/>
              </a:rPr>
              <a:t>Dominio: formular la pregunta y darle sentido a la respuesta.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1" i="0">
                <a:solidFill>
                  <a:srgbClr val="1D3557"/>
                </a:solidFill>
                <a:latin typeface="PT Serif"/>
              </a:rPr>
              <a:t>Ninguna basta por sí sola.</a:t>
            </a:r>
          </a:p>
        </p:txBody>
      </p:sp>
      <p:pic>
        <p:nvPicPr>
          <p:cNvPr id="5" name="Picture 4" descr="fig_ve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868" y="1300000"/>
            <a:ext cx="2968024" cy="29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300000"/>
            <a:ext cx="8344000" cy="8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l"/>
            <a:r>
              <a:rPr sz="2800" b="1" i="0">
                <a:solidFill>
                  <a:srgbClr val="0F0F0F"/>
                </a:solidFill>
                <a:latin typeface="PT Serif"/>
              </a:rPr>
              <a:t>El ciclo de vida de un proyecto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1250000"/>
            <a:ext cx="4786400" cy="32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0" i="0">
                <a:solidFill>
                  <a:srgbClr val="3A4A5C"/>
                </a:solidFill>
                <a:latin typeface="PT Serif"/>
              </a:rPr>
              <a:t>Un proyecto no es sólo 'entrenar un modelo' (Wickham &amp; Grolemund, R for Data Science, 2017):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300" b="0" i="0">
                <a:solidFill>
                  <a:srgbClr val="6B7785"/>
                </a:solidFill>
                <a:latin typeface="PT Serif"/>
              </a:rPr>
              <a:t>Explorar: transformar, visualizar, describir (EDA, clases 2 a 4).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300" b="0" i="0">
                <a:solidFill>
                  <a:srgbClr val="6B7785"/>
                </a:solidFill>
                <a:latin typeface="PT Serif"/>
              </a:rPr>
              <a:t>Modelar: inferencia y aprendizaje automático (clases 5 a 15).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300" b="0" i="0">
                <a:solidFill>
                  <a:srgbClr val="6B7785"/>
                </a:solidFill>
                <a:latin typeface="PT Serif"/>
              </a:rPr>
              <a:t>Comunicar y decidir: el modelo cambia el mundo que midió.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0" i="1">
                <a:solidFill>
                  <a:srgbClr val="E0A437"/>
                </a:solidFill>
                <a:latin typeface="PT Serif"/>
              </a:rPr>
              <a:t>La mayor parte del tiempo se va en obtener y limpiar datos, no en el modelo.</a:t>
            </a:r>
          </a:p>
        </p:txBody>
      </p:sp>
      <p:pic>
        <p:nvPicPr>
          <p:cNvPr id="5" name="Picture 4" descr="fig_cic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474" y="1300000"/>
            <a:ext cx="2613452" cy="29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300000"/>
            <a:ext cx="8344000" cy="8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l"/>
            <a:r>
              <a:rPr sz="2800" b="1" i="0">
                <a:solidFill>
                  <a:srgbClr val="0F0F0F"/>
                </a:solidFill>
                <a:latin typeface="PT Serif"/>
              </a:rPr>
              <a:t>Ciencia de datos, aprendizaje 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1350000"/>
            <a:ext cx="4300000" cy="32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0" i="0">
                <a:solidFill>
                  <a:srgbClr val="3A4A5C"/>
                </a:solidFill>
                <a:latin typeface="PT Serif"/>
              </a:rPr>
              <a:t>Aprendizaje estadístico: herramientas para modelar y entender datos (James, Witten, Hastie y Tibshirani, An Introduction to Statistical Learning, 2021; texto guía, gratuito).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0" i="0">
                <a:solidFill>
                  <a:srgbClr val="3A4A5C"/>
                </a:solidFill>
                <a:latin typeface="PT Serif"/>
              </a:rPr>
              <a:t>El aprendizaje automático es hoy la rama dominante de la IA.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0" i="0">
                <a:solidFill>
                  <a:srgbClr val="3A4A5C"/>
                </a:solidFill>
                <a:latin typeface="PT Serif"/>
              </a:rPr>
              <a:t>La ciencia de datos lo usa como herramienta, pero incluye todo el proceso, no sólo el algoritmo.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0" i="1">
                <a:solidFill>
                  <a:srgbClr val="E0A437"/>
                </a:solidFill>
                <a:latin typeface="PT Serif"/>
              </a:rPr>
              <a:t>Como alimenta sistemas que deciden sobre personas, empezamos por su cara responsable.</a:t>
            </a:r>
          </a:p>
        </p:txBody>
      </p:sp>
      <p:sp>
        <p:nvSpPr>
          <p:cNvPr id="5" name="Oval 4"/>
          <p:cNvSpPr/>
          <p:nvPr/>
        </p:nvSpPr>
        <p:spPr>
          <a:xfrm>
            <a:off x="4450000" y="1350000"/>
            <a:ext cx="4400000" cy="3200000"/>
          </a:xfrm>
          <a:prstGeom prst="ellipse">
            <a:avLst/>
          </a:prstGeom>
          <a:solidFill>
            <a:srgbClr val="DDE4EC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25000" y="1870000"/>
            <a:ext cx="3050000" cy="2160000"/>
          </a:xfrm>
          <a:prstGeom prst="ellipse">
            <a:avLst/>
          </a:prstGeom>
          <a:solidFill>
            <a:srgbClr val="C6D2E0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00000" y="2375000"/>
            <a:ext cx="1700000" cy="1150000"/>
          </a:xfrm>
          <a:prstGeom prst="ellipse">
            <a:avLst/>
          </a:prstGeom>
          <a:solidFill>
            <a:srgbClr val="E0A437"/>
          </a:solidFill>
          <a:ln w="19050">
            <a:solidFill>
              <a:srgbClr val="E0A4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50000" y="1440000"/>
            <a:ext cx="4400000" cy="38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 algn="ctr"/>
            <a:r>
              <a:rPr sz="1500" b="1" i="0">
                <a:solidFill>
                  <a:srgbClr val="1D3557"/>
                </a:solidFill>
                <a:latin typeface="PT Serif"/>
              </a:rPr>
              <a:t>Inteligencia artificial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5000" y="1960000"/>
            <a:ext cx="3050000" cy="38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 algn="ctr"/>
            <a:r>
              <a:rPr sz="1300" b="1" i="0">
                <a:solidFill>
                  <a:srgbClr val="1D3557"/>
                </a:solidFill>
                <a:latin typeface="PT Serif"/>
              </a:rPr>
              <a:t>Aprendizaje automático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0000" y="2375000"/>
            <a:ext cx="1700000" cy="115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T Serif"/>
              </a:rPr>
              <a:t>Redes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PT Serif"/>
              </a:rPr>
              <a:t>neuronales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1850000"/>
            <a:ext cx="7944000" cy="14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PT Serif"/>
              </a:rPr>
              <a:t>Evaluación y contenidos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E0A437"/>
                </a:solidFill>
                <a:latin typeface="PT Serif"/>
              </a:rPr>
              <a:t>INF-396 · 16 clases, los viernes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300000"/>
            <a:ext cx="8344000" cy="8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ctr"/>
            <a:r>
              <a:rPr sz="2800" b="1" i="0">
                <a:solidFill>
                  <a:srgbClr val="0F0F0F"/>
                </a:solidFill>
                <a:latin typeface="PT Serif"/>
              </a:rPr>
              <a:t>Evaluación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0000" y="1350000"/>
            <a:ext cx="1761000" cy="19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A4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1470000"/>
            <a:ext cx="1761000" cy="17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 algn="ctr"/>
            <a:r>
              <a:rPr sz="1500" b="1" i="0">
                <a:solidFill>
                  <a:srgbClr val="1D3557"/>
                </a:solidFill>
                <a:latin typeface="PT Serif"/>
              </a:rPr>
              <a:t>Controles (Q)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4400" b="1" i="0">
                <a:solidFill>
                  <a:srgbClr val="E0A437"/>
                </a:solidFill>
                <a:latin typeface="PT Serif"/>
              </a:rPr>
              <a:t>10%</a:t>
            </a:r>
          </a:p>
          <a:p>
            <a:pPr algn="ctr">
              <a:spcBef>
                <a:spcPts val="200"/>
              </a:spcBef>
              <a:spcAft>
                <a:spcPts val="600"/>
              </a:spcAft>
            </a:pPr>
            <a:r>
              <a:rPr sz="1200" b="0" i="0">
                <a:solidFill>
                  <a:srgbClr val="3A4A5C"/>
                </a:solidFill>
                <a:latin typeface="PT Serif"/>
              </a:rPr>
              <a:t>4 lecturas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61000" y="1350000"/>
            <a:ext cx="1761000" cy="19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A4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61000" y="1470000"/>
            <a:ext cx="1761000" cy="17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 algn="ctr"/>
            <a:r>
              <a:rPr sz="1500" b="1" i="0">
                <a:solidFill>
                  <a:srgbClr val="1D3557"/>
                </a:solidFill>
                <a:latin typeface="PT Serif"/>
              </a:rPr>
              <a:t>Tareas (T)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4400" b="1" i="0">
                <a:solidFill>
                  <a:srgbClr val="E0A437"/>
                </a:solidFill>
                <a:latin typeface="PT Serif"/>
              </a:rPr>
              <a:t>10%</a:t>
            </a:r>
          </a:p>
          <a:p>
            <a:pPr algn="ctr">
              <a:spcBef>
                <a:spcPts val="200"/>
              </a:spcBef>
              <a:spcAft>
                <a:spcPts val="600"/>
              </a:spcAft>
            </a:pPr>
            <a:r>
              <a:rPr sz="1200" b="0" i="0">
                <a:solidFill>
                  <a:srgbClr val="3A4A5C"/>
                </a:solidFill>
                <a:latin typeface="PT Serif"/>
              </a:rPr>
              <a:t>4 en grupo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22000" y="1350000"/>
            <a:ext cx="1761000" cy="19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A4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2000" y="1470000"/>
            <a:ext cx="1761000" cy="17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 algn="ctr"/>
            <a:r>
              <a:rPr sz="1500" b="1" i="0">
                <a:solidFill>
                  <a:srgbClr val="1D3557"/>
                </a:solidFill>
                <a:latin typeface="PT Serif"/>
              </a:rPr>
              <a:t>Certámenes (C)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4400" b="1" i="0">
                <a:solidFill>
                  <a:srgbClr val="E0A437"/>
                </a:solidFill>
                <a:latin typeface="PT Serif"/>
              </a:rPr>
              <a:t>50%</a:t>
            </a:r>
          </a:p>
          <a:p>
            <a:pPr algn="ctr">
              <a:spcBef>
                <a:spcPts val="200"/>
              </a:spcBef>
              <a:spcAft>
                <a:spcPts val="600"/>
              </a:spcAft>
            </a:pPr>
            <a:r>
              <a:rPr sz="1200" b="0" i="0">
                <a:solidFill>
                  <a:srgbClr val="3A4A5C"/>
                </a:solidFill>
                <a:latin typeface="PT Serif"/>
              </a:rPr>
              <a:t>C1 y C2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83000" y="1350000"/>
            <a:ext cx="1761000" cy="19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A4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3000" y="1470000"/>
            <a:ext cx="1761000" cy="17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 algn="ctr"/>
            <a:r>
              <a:rPr sz="1500" b="1" i="0">
                <a:solidFill>
                  <a:srgbClr val="1D3557"/>
                </a:solidFill>
                <a:latin typeface="PT Serif"/>
              </a:rPr>
              <a:t>Proyecto (P)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4400" b="1" i="0">
                <a:solidFill>
                  <a:srgbClr val="E0A437"/>
                </a:solidFill>
                <a:latin typeface="PT Serif"/>
              </a:rPr>
              <a:t>30%</a:t>
            </a:r>
          </a:p>
          <a:p>
            <a:pPr algn="ctr">
              <a:spcBef>
                <a:spcPts val="200"/>
              </a:spcBef>
              <a:spcAft>
                <a:spcPts val="600"/>
              </a:spcAft>
            </a:pPr>
            <a:r>
              <a:rPr sz="1200" b="0" i="0">
                <a:solidFill>
                  <a:srgbClr val="3A4A5C"/>
                </a:solidFill>
                <a:latin typeface="PT Serif"/>
              </a:rPr>
              <a:t>con informe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00" y="3450000"/>
            <a:ext cx="7944000" cy="5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 algn="ctr"/>
            <a:r>
              <a:rPr sz="2000" b="1" i="0">
                <a:solidFill>
                  <a:srgbClr val="1D3557"/>
                </a:solidFill>
                <a:latin typeface="PT Serif"/>
              </a:rPr>
              <a:t>NF = 0,1·Q + 0,1·T + 0,5·promedio(C1, C2) + 0,3·P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000" y="4150000"/>
            <a:ext cx="7944000" cy="8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 i="1">
                <a:solidFill>
                  <a:srgbClr val="6B7785"/>
                </a:solidFill>
                <a:latin typeface="PT Serif"/>
              </a:rPr>
              <a:t>Tareas y proyecto en parejas · certámenes individuales.</a:t>
            </a:r>
          </a:p>
          <a:p>
            <a:pPr algn="ctr">
              <a:spcAft>
                <a:spcPts val="200"/>
              </a:spcAft>
            </a:pPr>
            <a:r>
              <a:rPr sz="1250" b="0" i="1">
                <a:solidFill>
                  <a:srgbClr val="6B7785"/>
                </a:solidFill>
                <a:latin typeface="PT Serif"/>
              </a:rPr>
              <a:t>Atrasos: menos 10 puntos por día, hasta 3 días (escala 0 a 100).</a:t>
            </a:r>
          </a:p>
          <a:p>
            <a:pPr algn="ctr">
              <a:spcAft>
                <a:spcPts val="200"/>
              </a:spcAft>
            </a:pPr>
            <a:r>
              <a:rPr sz="1250" b="0" i="1">
                <a:solidFill>
                  <a:srgbClr val="6B7785"/>
                </a:solidFill>
                <a:latin typeface="PT Serif"/>
              </a:rPr>
              <a:t>IA generativa permitida si se declara y se entiende; certámenes sin 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300000"/>
            <a:ext cx="8344000" cy="8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ctr"/>
            <a:r>
              <a:rPr sz="2800" b="1" i="0">
                <a:solidFill>
                  <a:srgbClr val="0F0F0F"/>
                </a:solidFill>
                <a:latin typeface="PT Serif"/>
              </a:rPr>
              <a:t>Contenidos del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940000"/>
            <a:ext cx="8144000" cy="36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 algn="ctr"/>
            <a:r>
              <a:rPr sz="1300" b="0" i="1">
                <a:solidFill>
                  <a:srgbClr val="6B7785"/>
                </a:solidFill>
                <a:latin typeface="PT Serif"/>
              </a:rPr>
              <a:t>Nueve unidades temáticas (programa INF-396)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000" y="1400000"/>
            <a:ext cx="2588000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20000" y="1670000"/>
            <a:ext cx="540000" cy="540000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300" b="1" i="0">
                <a:solidFill>
                  <a:srgbClr val="FFFFFF"/>
                </a:solidFill>
                <a:latin typeface="PT Serif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0000" y="1550000"/>
            <a:ext cx="1678000" cy="83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350" b="1" i="0">
                <a:solidFill>
                  <a:srgbClr val="1D3557"/>
                </a:solidFill>
                <a:latin typeface="PT Serif"/>
              </a:rPr>
              <a:t>Fundamentos y ética</a:t>
            </a:r>
          </a:p>
          <a:p>
            <a:pPr>
              <a:spcBef>
                <a:spcPts val="100"/>
              </a:spcBef>
            </a:pPr>
            <a:r>
              <a:rPr sz="1050" b="0" i="1">
                <a:solidFill>
                  <a:srgbClr val="6B7785"/>
                </a:solidFill>
                <a:latin typeface="PT Serif"/>
              </a:rPr>
              <a:t>privacidad, seguridad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78000" y="1400000"/>
            <a:ext cx="2588000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28000" y="1670000"/>
            <a:ext cx="540000" cy="540000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300" b="1" i="0">
                <a:solidFill>
                  <a:srgbClr val="FFFFFF"/>
                </a:solidFill>
                <a:latin typeface="PT Serif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8000" y="1550000"/>
            <a:ext cx="1678000" cy="83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350" b="1" i="0">
                <a:solidFill>
                  <a:srgbClr val="1D3557"/>
                </a:solidFill>
                <a:latin typeface="PT Serif"/>
              </a:rPr>
              <a:t>Análisis exploratorio</a:t>
            </a:r>
          </a:p>
          <a:p>
            <a:pPr>
              <a:spcBef>
                <a:spcPts val="100"/>
              </a:spcBef>
            </a:pPr>
            <a:r>
              <a:rPr sz="1050" b="0" i="1">
                <a:solidFill>
                  <a:srgbClr val="6B7785"/>
                </a:solidFill>
                <a:latin typeface="PT Serif"/>
              </a:rPr>
              <a:t>EDA, métodos gráficos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6000" y="1400000"/>
            <a:ext cx="2588000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36000" y="1670000"/>
            <a:ext cx="540000" cy="540000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300" b="1" i="0">
                <a:solidFill>
                  <a:srgbClr val="FFFFFF"/>
                </a:solidFill>
                <a:latin typeface="PT Serif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6000" y="1550000"/>
            <a:ext cx="1678000" cy="83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350" b="1" i="0">
                <a:solidFill>
                  <a:srgbClr val="1D3557"/>
                </a:solidFill>
                <a:latin typeface="PT Serif"/>
              </a:rPr>
              <a:t>Pre-procesamiento</a:t>
            </a:r>
          </a:p>
          <a:p>
            <a:pPr>
              <a:spcBef>
                <a:spcPts val="100"/>
              </a:spcBef>
            </a:pPr>
            <a:r>
              <a:rPr sz="1050" b="0" i="1">
                <a:solidFill>
                  <a:srgbClr val="6B7785"/>
                </a:solidFill>
                <a:latin typeface="PT Serif"/>
              </a:rPr>
              <a:t>limpieza, imputación, reducción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000" y="2680000"/>
            <a:ext cx="2588000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0000" y="2950000"/>
            <a:ext cx="540000" cy="540000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300" b="1" i="0">
                <a:solidFill>
                  <a:srgbClr val="FFFFFF"/>
                </a:solidFill>
                <a:latin typeface="PT Serif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0000" y="2830000"/>
            <a:ext cx="1678000" cy="83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350" b="1" i="0">
                <a:solidFill>
                  <a:srgbClr val="1D3557"/>
                </a:solidFill>
                <a:latin typeface="PT Serif"/>
              </a:rPr>
              <a:t>Visualización</a:t>
            </a:r>
          </a:p>
          <a:p>
            <a:pPr>
              <a:spcBef>
                <a:spcPts val="100"/>
              </a:spcBef>
            </a:pPr>
            <a:r>
              <a:rPr sz="1050" b="0" i="1">
                <a:solidFill>
                  <a:srgbClr val="6B7785"/>
                </a:solidFill>
                <a:latin typeface="PT Serif"/>
              </a:rPr>
              <a:t>datos multivariados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8000" y="2680000"/>
            <a:ext cx="2588000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28000" y="2950000"/>
            <a:ext cx="540000" cy="540000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300" b="1" i="0">
                <a:solidFill>
                  <a:srgbClr val="FFFFFF"/>
                </a:solidFill>
                <a:latin typeface="PT Serif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8000" y="2830000"/>
            <a:ext cx="1678000" cy="83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350" b="1" i="0">
                <a:solidFill>
                  <a:srgbClr val="1D3557"/>
                </a:solidFill>
                <a:latin typeface="PT Serif"/>
              </a:rPr>
              <a:t>Inferencia estadística</a:t>
            </a:r>
          </a:p>
          <a:p>
            <a:pPr>
              <a:spcBef>
                <a:spcPts val="100"/>
              </a:spcBef>
            </a:pPr>
            <a:r>
              <a:rPr sz="1050" b="0" i="1">
                <a:solidFill>
                  <a:srgbClr val="6B7785"/>
                </a:solidFill>
                <a:latin typeface="PT Serif"/>
              </a:rPr>
              <a:t>paramétrica, no param., bootstrap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6000" y="2680000"/>
            <a:ext cx="2588000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36000" y="2950000"/>
            <a:ext cx="540000" cy="540000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300" b="1" i="0">
                <a:solidFill>
                  <a:srgbClr val="FFFFFF"/>
                </a:solidFill>
                <a:latin typeface="PT Serif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6000" y="2830000"/>
            <a:ext cx="1678000" cy="83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350" b="1" i="0">
                <a:solidFill>
                  <a:srgbClr val="1D3557"/>
                </a:solidFill>
                <a:latin typeface="PT Serif"/>
              </a:rPr>
              <a:t>Aprendizaje automático</a:t>
            </a:r>
          </a:p>
          <a:p>
            <a:pPr>
              <a:spcBef>
                <a:spcPts val="100"/>
              </a:spcBef>
            </a:pPr>
            <a:r>
              <a:rPr sz="1050" b="0" i="1">
                <a:solidFill>
                  <a:srgbClr val="6B7785"/>
                </a:solidFill>
                <a:latin typeface="PT Serif"/>
              </a:rPr>
              <a:t>supervisado, riesgo esperado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000" y="3960000"/>
            <a:ext cx="2588000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0000" y="4230000"/>
            <a:ext cx="540000" cy="540000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300" b="1" i="0">
                <a:solidFill>
                  <a:srgbClr val="FFFFFF"/>
                </a:solidFill>
                <a:latin typeface="PT Serif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0000" y="4110000"/>
            <a:ext cx="1678000" cy="83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350" b="1" i="0">
                <a:solidFill>
                  <a:srgbClr val="1D3557"/>
                </a:solidFill>
                <a:latin typeface="PT Serif"/>
              </a:rPr>
              <a:t>Clasificación</a:t>
            </a:r>
          </a:p>
          <a:p>
            <a:pPr>
              <a:spcBef>
                <a:spcPts val="100"/>
              </a:spcBef>
            </a:pPr>
            <a:r>
              <a:rPr sz="1050" b="0" i="1">
                <a:solidFill>
                  <a:srgbClr val="6B7785"/>
                </a:solidFill>
                <a:latin typeface="PT Serif"/>
              </a:rPr>
              <a:t>logística, LDA, KNN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78000" y="3960000"/>
            <a:ext cx="2588000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28000" y="4230000"/>
            <a:ext cx="540000" cy="540000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300" b="1" i="0">
                <a:solidFill>
                  <a:srgbClr val="FFFFFF"/>
                </a:solidFill>
                <a:latin typeface="PT Serif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98000" y="4110000"/>
            <a:ext cx="1678000" cy="83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350" b="1" i="0">
                <a:solidFill>
                  <a:srgbClr val="1D3557"/>
                </a:solidFill>
                <a:latin typeface="PT Serif"/>
              </a:rPr>
              <a:t>Evaluación de modelos</a:t>
            </a:r>
          </a:p>
          <a:p>
            <a:pPr>
              <a:spcBef>
                <a:spcPts val="100"/>
              </a:spcBef>
            </a:pPr>
            <a:r>
              <a:rPr sz="1050" b="0" i="1">
                <a:solidFill>
                  <a:srgbClr val="6B7785"/>
                </a:solidFill>
                <a:latin typeface="PT Serif"/>
              </a:rPr>
              <a:t>sesgo-varianza, validación, regularización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6000" y="3960000"/>
            <a:ext cx="2588000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36000" y="4230000"/>
            <a:ext cx="540000" cy="540000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300" b="1" i="0">
                <a:solidFill>
                  <a:srgbClr val="FFFFFF"/>
                </a:solidFill>
                <a:latin typeface="PT Serif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6000" y="4110000"/>
            <a:ext cx="1678000" cy="83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350" b="1" i="0">
                <a:solidFill>
                  <a:srgbClr val="1D3557"/>
                </a:solidFill>
                <a:latin typeface="PT Serif"/>
              </a:rPr>
              <a:t>SVM y redes neuronales</a:t>
            </a:r>
          </a:p>
          <a:p>
            <a:pPr>
              <a:spcBef>
                <a:spcPts val="100"/>
              </a:spcBef>
            </a:pPr>
            <a:r>
              <a:rPr sz="1050" b="0" i="1">
                <a:solidFill>
                  <a:srgbClr val="6B7785"/>
                </a:solidFill>
                <a:latin typeface="PT Serif"/>
              </a:rPr>
              <a:t>soporte vectorial, redes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300000"/>
            <a:ext cx="8344000" cy="8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ctr"/>
            <a:r>
              <a:rPr sz="2800" b="1" i="0">
                <a:solidFill>
                  <a:srgbClr val="0F0F0F"/>
                </a:solidFill>
                <a:latin typeface="PT Serif"/>
              </a:rPr>
              <a:t>Controles de lectura (Q)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300000"/>
            <a:ext cx="7744000" cy="35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450" b="0" i="0">
                <a:solidFill>
                  <a:srgbClr val="3A4A5C"/>
                </a:solidFill>
                <a:latin typeface="PT Serif"/>
              </a:rPr>
              <a:t>Cuatro controles al inicio de la clase, de 15 a 20 minutos, sobre un texto leído antes.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D3557"/>
                </a:solidFill>
                <a:latin typeface="PT Serif"/>
              </a:rPr>
              <a:t>Q1, viernes 21 de agosto: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250" b="0" i="0">
                <a:solidFill>
                  <a:srgbClr val="6B7785"/>
                </a:solidFill>
                <a:latin typeface="PT Serif"/>
              </a:rPr>
              <a:t>O'Neil, Armas de destrucción matemática, Introducción y Capítulo 1 (¿qué es un modelo?).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D3557"/>
                </a:solidFill>
                <a:latin typeface="PT Serif"/>
              </a:rPr>
              <a:t>Q2, viernes 4 de septiembre: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250" b="0" i="0">
                <a:solidFill>
                  <a:srgbClr val="6B7785"/>
                </a:solidFill>
                <a:latin typeface="PT Serif"/>
              </a:rPr>
              <a:t>Gebru et al., Datasheets for Datasets (la ficha de los datos).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D3557"/>
                </a:solidFill>
                <a:latin typeface="PT Serif"/>
              </a:rPr>
              <a:t>Q3, viernes 23 de octubre: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250" b="0" i="0">
                <a:solidFill>
                  <a:srgbClr val="6B7785"/>
                </a:solidFill>
                <a:latin typeface="PT Serif"/>
              </a:rPr>
              <a:t>Mitchell et al., Model Cards for Model Reporting (la ficha de los modelos).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D3557"/>
                </a:solidFill>
                <a:latin typeface="PT Serif"/>
              </a:rPr>
              <a:t>Q4, viernes 13 de noviembre: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250" b="0" i="0">
                <a:solidFill>
                  <a:srgbClr val="6B7785"/>
                </a:solidFill>
                <a:latin typeface="PT Serif"/>
              </a:rPr>
              <a:t>artículo aplicado, por definir según los intereses del curso.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1850000"/>
            <a:ext cx="7944000" cy="14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PT Serif"/>
              </a:rPr>
              <a:t>Inteligencia artificial responsable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E0A437"/>
                </a:solidFill>
                <a:latin typeface="PT Serif"/>
              </a:rPr>
              <a:t>Por qué la ética cruza todo el curso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300000"/>
            <a:ext cx="8344000" cy="8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ctr"/>
            <a:r>
              <a:rPr sz="2700" b="1" i="0">
                <a:solidFill>
                  <a:srgbClr val="0F0F0F"/>
                </a:solidFill>
                <a:latin typeface="PT Serif"/>
              </a:rPr>
              <a:t>¿Qué es la inteligencia artificial?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1050000"/>
            <a:ext cx="3650000" cy="32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1D3557"/>
                </a:solidFill>
                <a:latin typeface="PT Serif"/>
              </a:rPr>
              <a:t>¿Pueden pensar las máquinas?</a:t>
            </a:r>
          </a:p>
          <a:p>
            <a:pPr>
              <a:spcAft>
                <a:spcPts val="400"/>
              </a:spcAft>
            </a:pPr>
            <a:r>
              <a:rPr sz="1250" b="0" i="1">
                <a:solidFill>
                  <a:srgbClr val="6B7785"/>
                </a:solidFill>
                <a:latin typeface="PT Serif"/>
              </a:rPr>
              <a:t>Turing (1950): en vez de definir 'pensar', propone una prueba de comportamiento.</a:t>
            </a:r>
          </a:p>
          <a:p>
            <a:pPr>
              <a:spcAft>
                <a:spcPts val="400"/>
              </a:spcAft>
            </a:pPr>
            <a:r>
              <a:rPr sz="600" b="0" i="0">
                <a:solidFill>
                  <a:srgbClr val="6B7785"/>
                </a:solidFill>
                <a:latin typeface="PT Serif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1D3557"/>
                </a:solidFill>
                <a:latin typeface="PT Serif"/>
              </a:rPr>
              <a:t>¿Qué buscamos: imitar a un humano, o actuar de forma óptima?</a:t>
            </a:r>
          </a:p>
          <a:p>
            <a:pPr>
              <a:spcAft>
                <a:spcPts val="400"/>
              </a:spcAft>
            </a:pPr>
            <a:r>
              <a:rPr sz="1250" b="0" i="1">
                <a:solidFill>
                  <a:srgbClr val="6B7785"/>
                </a:solidFill>
                <a:latin typeface="PT Serif"/>
              </a:rPr>
              <a:t>La respuesta define cuatro enfoques distintos (Russell y Norvig, Artificial Intelligence: A Modern Approach, 2021).</a:t>
            </a:r>
          </a:p>
          <a:p>
            <a:pPr>
              <a:spcAft>
                <a:spcPts val="400"/>
              </a:spcAft>
            </a:pPr>
            <a:r>
              <a:rPr sz="600" b="0" i="0">
                <a:solidFill>
                  <a:srgbClr val="6B7785"/>
                </a:solidFill>
                <a:latin typeface="PT Serif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300" b="1" i="1">
                <a:solidFill>
                  <a:srgbClr val="E0A437"/>
                </a:solidFill>
                <a:latin typeface="PT Serif"/>
              </a:rPr>
              <a:t>El curso parte del agente racional (4º enfoque). Pero el libro agrega un quinto.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80000" y="1350000"/>
            <a:ext cx="1935000" cy="36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ctr"/>
            <a:r>
              <a:rPr sz="1300" b="1" i="0">
                <a:solidFill>
                  <a:srgbClr val="6B7785"/>
                </a:solidFill>
                <a:latin typeface="PT Serif"/>
              </a:rPr>
              <a:t>como humano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65000" y="1350000"/>
            <a:ext cx="1935000" cy="36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ctr"/>
            <a:r>
              <a:rPr sz="1300" b="1" i="0">
                <a:solidFill>
                  <a:srgbClr val="6B7785"/>
                </a:solidFill>
                <a:latin typeface="PT Serif"/>
              </a:rPr>
              <a:t>racionalmente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4065000" y="2270000"/>
            <a:ext cx="1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 i="0">
                <a:solidFill>
                  <a:srgbClr val="6B7785"/>
                </a:solidFill>
                <a:latin typeface="PT Serif"/>
              </a:rPr>
              <a:t>PENSAR</a:t>
            </a:r>
          </a:p>
        </p:txBody>
      </p:sp>
      <p:sp>
        <p:nvSpPr>
          <p:cNvPr id="8" name="TextBox 7"/>
          <p:cNvSpPr txBox="1"/>
          <p:nvPr/>
        </p:nvSpPr>
        <p:spPr>
          <a:xfrm rot="16200000">
            <a:off x="4065000" y="3840000"/>
            <a:ext cx="1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 i="0">
                <a:solidFill>
                  <a:srgbClr val="6B7785"/>
                </a:solidFill>
                <a:latin typeface="PT Serif"/>
              </a:rPr>
              <a:t>ACTUAR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80000" y="1710000"/>
            <a:ext cx="1935000" cy="14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D3557"/>
                </a:solidFill>
                <a:latin typeface="PT Serif"/>
              </a:rPr>
              <a:t>Modelo cognitivo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3A4A5C"/>
                </a:solidFill>
                <a:latin typeface="PT Serif"/>
              </a:rPr>
              <a:t>imita cómo razona la mente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B7785"/>
                </a:solidFill>
                <a:latin typeface="PT Serif"/>
              </a:rPr>
              <a:t>ej.: ciencia cognitiva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65000" y="1710000"/>
            <a:ext cx="1935000" cy="14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D3557"/>
                </a:solidFill>
                <a:latin typeface="PT Serif"/>
              </a:rPr>
              <a:t>Leyes lógicas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3A4A5C"/>
                </a:solidFill>
                <a:latin typeface="PT Serif"/>
              </a:rPr>
              <a:t>lógica formal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B7785"/>
                </a:solidFill>
                <a:latin typeface="PT Serif"/>
              </a:rPr>
              <a:t>ej.: demostrar teoremas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80000" y="3280000"/>
            <a:ext cx="1935000" cy="14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3B6FB8"/>
                </a:solidFill>
                <a:latin typeface="PT Serif"/>
              </a:rPr>
              <a:t>Test de Turing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3A4A5C"/>
                </a:solidFill>
                <a:latin typeface="PT Serif"/>
              </a:rPr>
              <a:t>parecer humano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B7785"/>
                </a:solidFill>
                <a:latin typeface="PT Serif"/>
              </a:rPr>
              <a:t>ej.: un chatbot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65000" y="3280000"/>
            <a:ext cx="1935000" cy="1420000"/>
          </a:xfrm>
          <a:prstGeom prst="roundRect">
            <a:avLst/>
          </a:prstGeom>
          <a:solidFill>
            <a:srgbClr val="E0A437"/>
          </a:solidFill>
          <a:ln w="19050">
            <a:solidFill>
              <a:srgbClr val="E0A4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PT Serif"/>
              </a:rPr>
              <a:t>Agente racional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PT Serif"/>
              </a:rPr>
              <a:t>maximizar el objetivo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FFFFFF"/>
                </a:solidFill>
                <a:latin typeface="PT Serif"/>
              </a:rPr>
              <a:t>ej.: un auto autónomo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300000"/>
            <a:ext cx="8344000" cy="8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l"/>
            <a:r>
              <a:rPr sz="2700" b="1" i="0">
                <a:solidFill>
                  <a:srgbClr val="0F0F0F"/>
                </a:solidFill>
                <a:latin typeface="PT Serif"/>
              </a:rPr>
              <a:t>Un quinto enfoque: IA beneficiosa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1300000"/>
            <a:ext cx="4550000" cy="33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400" b="0" i="0">
                <a:solidFill>
                  <a:srgbClr val="3A4A5C"/>
                </a:solidFill>
                <a:latin typeface="PT Serif"/>
              </a:rPr>
              <a:t>El enfoque de agente racional supone que le damos al sistema el objetivo correcto. Pero rara vez sabemos expresar con exactitud lo que queremos.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400" b="0" i="0">
                <a:solidFill>
                  <a:srgbClr val="3A4A5C"/>
                </a:solidFill>
                <a:latin typeface="PT Serif"/>
              </a:rPr>
              <a:t>Russell y Norvig (4ª ed., 2021) proponen ir más allá: máquinas beneficiosas, inciertas sobre los verdaderos objetivos humanos, que consultan y se dejan corregir (Russell, Human Compatible, 2019).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400" b="1" i="0">
                <a:solidFill>
                  <a:srgbClr val="C04860"/>
                </a:solidFill>
                <a:latin typeface="PT Serif"/>
              </a:rPr>
              <a:t>Un objetivo mal especificado y optimizado a ciegas es justo lo que produce los daños que veremos hoy.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400" b="1" i="0">
                <a:solidFill>
                  <a:srgbClr val="1D3557"/>
                </a:solidFill>
                <a:latin typeface="PT Serif"/>
              </a:rPr>
              <a:t>Hacia allá apunta el curso; se llega con herramientas que recién estamos aprendiendo. Por eso partimos del 4º enfoque y le sumamos la pregunta ética todo el semestre.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50000" y="1450000"/>
            <a:ext cx="3050000" cy="11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D3557"/>
                </a:solidFill>
                <a:latin typeface="PT Serif"/>
              </a:rPr>
              <a:t>Modelo estándar (4º enfoque)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A4A5C"/>
                </a:solidFill>
                <a:latin typeface="PT Serif"/>
              </a:rPr>
              <a:t>recibe un objetivo fijo y lo optimiza al máximo</a:t>
            </a:r>
          </a:p>
        </p:txBody>
      </p:sp>
      <p:sp>
        <p:nvSpPr>
          <p:cNvPr id="6" name="Down Arrow 5"/>
          <p:cNvSpPr/>
          <p:nvPr/>
        </p:nvSpPr>
        <p:spPr>
          <a:xfrm>
            <a:off x="6725000" y="2690000"/>
            <a:ext cx="300000" cy="500000"/>
          </a:xfrm>
          <a:prstGeom prst="downArrow">
            <a:avLst/>
          </a:prstGeom>
          <a:solidFill>
            <a:srgbClr val="6B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50000" y="3250000"/>
            <a:ext cx="3050000" cy="1180000"/>
          </a:xfrm>
          <a:prstGeom prst="roundRect">
            <a:avLst/>
          </a:prstGeom>
          <a:solidFill>
            <a:srgbClr val="E0A437"/>
          </a:solidFill>
          <a:ln w="19050">
            <a:solidFill>
              <a:srgbClr val="E0A4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PT Serif"/>
              </a:rPr>
              <a:t>IA beneficiosa (5º enfoque)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PT Serif"/>
              </a:rPr>
              <a:t>incierta sobre el objetivo humano: consulta y se deja corregir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50000" y="4470000"/>
            <a:ext cx="3050000" cy="5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 algn="ctr"/>
            <a:r>
              <a:rPr sz="1100" b="0" i="1">
                <a:solidFill>
                  <a:srgbClr val="E0A437"/>
                </a:solidFill>
                <a:latin typeface="PT Serif"/>
              </a:rPr>
              <a:t>reconoce que no sabe con certeza lo que queremos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1850000"/>
            <a:ext cx="7944000" cy="14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PT Serif"/>
              </a:rPr>
              <a:t>IA irresponsable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E0A437"/>
                </a:solidFill>
                <a:latin typeface="PT Serif"/>
              </a:rPr>
              <a:t>Seis formas concretas en que un sistema de datos hace daño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300000"/>
            <a:ext cx="8344000" cy="8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l"/>
            <a:r>
              <a:rPr sz="2800" b="1" i="0">
                <a:solidFill>
                  <a:srgbClr val="0F0F0F"/>
                </a:solidFill>
                <a:latin typeface="PT Serif"/>
              </a:rPr>
              <a:t>IA irresponsable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1150000"/>
            <a:ext cx="5000000" cy="4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r>
              <a:rPr sz="1700" b="1" i="0">
                <a:solidFill>
                  <a:srgbClr val="E0A437"/>
                </a:solidFill>
                <a:latin typeface="PT Serif"/>
              </a:rPr>
              <a:t>1  </a:t>
            </a:r>
            <a:r>
              <a:rPr sz="1700" b="1" i="0">
                <a:solidFill>
                  <a:srgbClr val="1D3557"/>
                </a:solidFill>
                <a:latin typeface="PT Serif"/>
              </a:rPr>
              <a:t>Discriminación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650000"/>
            <a:ext cx="4603520" cy="32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0" i="0">
                <a:solidFill>
                  <a:srgbClr val="3A4A5C"/>
                </a:solidFill>
                <a:latin typeface="PT Serif"/>
              </a:rPr>
              <a:t>Los sistemas aprenden de datos del mundo real, y el mundo real tiene prejuicios: por género, por barrio, por color de piel, por edad.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0" i="0">
                <a:solidFill>
                  <a:srgbClr val="3A4A5C"/>
                </a:solidFill>
                <a:latin typeface="PT Serif"/>
              </a:rPr>
              <a:t>Ejemplo: un banco entrena un modelo con historial de créditos. Si personas jóvenes de ciertos barrios pagaron peor, el modelo puede etiquetarte de 'riesgosa' por tu zona, aunque seas responsable.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1" i="0">
                <a:solidFill>
                  <a:srgbClr val="C04860"/>
                </a:solidFill>
                <a:latin typeface="PT Serif"/>
              </a:rPr>
              <a:t>El modelo no inventa el sesgo: lo hereda de los datos y lo aplica a escala.</a:t>
            </a:r>
          </a:p>
        </p:txBody>
      </p:sp>
      <p:pic>
        <p:nvPicPr>
          <p:cNvPr id="6" name="Picture 5" descr="man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520" y="1771711"/>
            <a:ext cx="3490480" cy="195657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300000"/>
            <a:ext cx="8344000" cy="8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ctr"/>
            <a:r>
              <a:rPr sz="2800" b="1" i="0">
                <a:solidFill>
                  <a:srgbClr val="0F0F0F"/>
                </a:solidFill>
                <a:latin typeface="PT Serif"/>
              </a:rPr>
              <a:t>Caso: ¿pueden las máquinas decidir mejor que los jueces?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300000"/>
            <a:ext cx="7744000" cy="35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D3557"/>
                </a:solidFill>
                <a:latin typeface="PT Serif"/>
              </a:rPr>
              <a:t>Contexto real (Kleinberg et al., 2018, Quarterly Journal of Economics):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200" b="0" i="0">
                <a:solidFill>
                  <a:srgbClr val="6B7785"/>
                </a:solidFill>
                <a:latin typeface="PT Serif"/>
              </a:rPr>
              <a:t>758.027 audiencias de fianza en Nueva York (2008 a 2013). Se entrenó un modelo con esos datos (experimento; no se usó en tribunales).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200" b="0" i="0">
                <a:solidFill>
                  <a:srgbClr val="6B7785"/>
                </a:solidFill>
                <a:latin typeface="PT Serif"/>
              </a:rPr>
              <a:t>En Nueva York el juez solo debe evaluar el riesgo de no presentarse al juicio, no la peligrosidad.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D3557"/>
                </a:solidFill>
                <a:latin typeface="PT Serif"/>
              </a:rPr>
              <a:t>La decisión no es 'cárcel sí o no': es la fianza.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200" b="0" i="0">
                <a:solidFill>
                  <a:srgbClr val="6B7785"/>
                </a:solidFill>
                <a:latin typeface="PT Serif"/>
              </a:rPr>
              <a:t>Libertad sin condiciones (63%), fianza (36%) o prisión preventiva (1%). De quienes reciben fianza, solo un tercio logra pagarla: la mayoría de los presos lo está por no poder pagar.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400" b="0" i="0">
                <a:solidFill>
                  <a:srgbClr val="3A4A5C"/>
                </a:solidFill>
                <a:latin typeface="PT Serif"/>
              </a:rPr>
              <a:t>Pregunta del estudio: ¿predice el modelo, mejor que el juez, quién no volverá al juicio?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400" b="0" i="0">
                <a:solidFill>
                  <a:srgbClr val="3A4A5C"/>
                </a:solidFill>
                <a:latin typeface="PT Serif"/>
              </a:rPr>
              <a:t>Hallazgo optimista: los jueces se equivocan, y el modelo podía reducir errores al decidir a quién dejar en libertad.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400" b="1" i="1">
                <a:solidFill>
                  <a:srgbClr val="E0A437"/>
                </a:solidFill>
                <a:latin typeface="PT Serif"/>
              </a:rPr>
              <a:t>Pero el modelo también aprendió algo más…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300000"/>
            <a:ext cx="8344000" cy="8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l"/>
            <a:r>
              <a:rPr sz="2700" b="1" i="0">
                <a:solidFill>
                  <a:srgbClr val="0F0F0F"/>
                </a:solidFill>
                <a:latin typeface="PT Serif"/>
              </a:rPr>
              <a:t>El modelo aprende el sesgo y lo amplifica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1150000"/>
            <a:ext cx="8244000" cy="10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350" b="0" i="0">
                <a:solidFill>
                  <a:srgbClr val="3A4A5C"/>
                </a:solidFill>
                <a:latin typeface="PT Serif"/>
              </a:rPr>
              <a:t>A: las personas afrodescendientes son el 18% de la población, pero el 49% de los acusados citados a la corte.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350" b="0" i="0">
                <a:solidFill>
                  <a:srgbClr val="3A4A5C"/>
                </a:solidFill>
                <a:latin typeface="PT Serif"/>
              </a:rPr>
              <a:t>B: entre quienes quedan presos sin fianza, con el juez son el 57%; con el mejor modelo entrenado con esos datos, el 60%.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350" b="1" i="0">
                <a:solidFill>
                  <a:srgbClr val="1D3557"/>
                </a:solidFill>
                <a:latin typeface="PT Serif"/>
              </a:rPr>
              <a:t>El modelo hereda el sesgo de los datos y lo amplifica.</a:t>
            </a:r>
          </a:p>
        </p:txBody>
      </p:sp>
      <p:pic>
        <p:nvPicPr>
          <p:cNvPr id="5" name="Picture 4" descr="fig_quien_lle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753" y="2400000"/>
            <a:ext cx="7242493" cy="255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300000"/>
            <a:ext cx="8344000" cy="8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l"/>
            <a:r>
              <a:rPr sz="2800" b="1" i="0">
                <a:solidFill>
                  <a:srgbClr val="0F0F0F"/>
                </a:solidFill>
                <a:latin typeface="PT Serif"/>
              </a:rPr>
              <a:t>IA irresponsable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1150000"/>
            <a:ext cx="5000000" cy="4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r>
              <a:rPr sz="1700" b="1" i="0">
                <a:solidFill>
                  <a:srgbClr val="E0A437"/>
                </a:solidFill>
                <a:latin typeface="PT Serif"/>
              </a:rPr>
              <a:t>2  </a:t>
            </a:r>
            <a:r>
              <a:rPr sz="1700" b="1" i="0">
                <a:solidFill>
                  <a:srgbClr val="1D3557"/>
                </a:solidFill>
                <a:latin typeface="PT Serif"/>
              </a:rPr>
              <a:t>Pseudociencia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650000"/>
            <a:ext cx="5335039" cy="32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0" i="0">
                <a:solidFill>
                  <a:srgbClr val="3A4A5C"/>
                </a:solidFill>
                <a:latin typeface="PT Serif"/>
              </a:rPr>
              <a:t>Sistemas que se venden como 'IA muy avanzada' pero sin fundamento científico: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300" b="0" i="0">
                <a:solidFill>
                  <a:srgbClr val="6B7785"/>
                </a:solidFill>
                <a:latin typeface="PT Serif"/>
              </a:rPr>
              <a:t>Predecir criminalidad a partir de la cara.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300" b="0" i="0">
                <a:solidFill>
                  <a:srgbClr val="6B7785"/>
                </a:solidFill>
                <a:latin typeface="PT Serif"/>
              </a:rPr>
              <a:t>Inferir orientación sexual desde una foto.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300" b="0" i="0">
                <a:solidFill>
                  <a:srgbClr val="6B7785"/>
                </a:solidFill>
                <a:latin typeface="PT Serif"/>
              </a:rPr>
              <a:t>Deducir a quién vota alguien por sus rasgos.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1" i="0">
                <a:solidFill>
                  <a:srgbClr val="C04860"/>
                </a:solidFill>
                <a:latin typeface="PT Serif"/>
              </a:rPr>
              <a:t>Que un modelo entregue un número no significa que mida algo real.</a:t>
            </a:r>
          </a:p>
        </p:txBody>
      </p:sp>
      <p:pic>
        <p:nvPicPr>
          <p:cNvPr id="6" name="Picture 5" descr="pseudoci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2543" y="1300000"/>
            <a:ext cx="2343952" cy="29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0000" y="4523500"/>
            <a:ext cx="8144000" cy="48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r>
              <a:rPr sz="13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300" b="0" i="1">
                <a:solidFill>
                  <a:srgbClr val="3A4A5C"/>
                </a:solidFill>
                <a:latin typeface="PT Serif"/>
              </a:rPr>
              <a:t>Fisionomía y frenología del siglo XXI: correlaciones espurias con apariencia de rigor.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300000"/>
            <a:ext cx="8344000" cy="8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l"/>
            <a:r>
              <a:rPr sz="2800" b="1" i="0">
                <a:solidFill>
                  <a:srgbClr val="0F0F0F"/>
                </a:solidFill>
                <a:latin typeface="PT Serif"/>
              </a:rPr>
              <a:t>IA irresponsable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1150000"/>
            <a:ext cx="5000000" cy="4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r>
              <a:rPr sz="1700" b="1" i="0">
                <a:solidFill>
                  <a:srgbClr val="E0A437"/>
                </a:solidFill>
                <a:latin typeface="PT Serif"/>
              </a:rPr>
              <a:t>3  </a:t>
            </a:r>
            <a:r>
              <a:rPr sz="1700" b="1" i="0">
                <a:solidFill>
                  <a:srgbClr val="1D3557"/>
                </a:solidFill>
                <a:latin typeface="PT Serif"/>
              </a:rPr>
              <a:t>Uso indiscriminado de recursos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650000"/>
            <a:ext cx="3872000" cy="32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0" i="0">
                <a:solidFill>
                  <a:srgbClr val="3A4A5C"/>
                </a:solidFill>
                <a:latin typeface="PT Serif"/>
              </a:rPr>
              <a:t>Los modelos grandes consumen mucha energía y agua: no es gratis para el planeta.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0" i="0">
                <a:solidFill>
                  <a:srgbClr val="3A4A5C"/>
                </a:solidFill>
                <a:latin typeface="PT Serif"/>
              </a:rPr>
              <a:t>Entrenar un solo modelo grande puede emitir mucho más CO₂ que un auto en toda su vida útil.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0" i="0">
                <a:solidFill>
                  <a:srgbClr val="3A4A5C"/>
                </a:solidFill>
                <a:latin typeface="PT Serif"/>
              </a:rPr>
              <a:t>Usar un chatbot unas 25 veces gasta del orden de medio litro de agua para refrigerar los centros de datos (Bender et al., 2021).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1" i="0">
                <a:solidFill>
                  <a:srgbClr val="1D3557"/>
                </a:solidFill>
                <a:latin typeface="PT Serif"/>
              </a:rPr>
              <a:t>¿El problema justifica el tamaño del modelo?</a:t>
            </a:r>
          </a:p>
        </p:txBody>
      </p:sp>
      <p:pic>
        <p:nvPicPr>
          <p:cNvPr id="6" name="Picture 5" descr="fig_hu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000" y="1357988"/>
            <a:ext cx="4222000" cy="278402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300000"/>
            <a:ext cx="8344000" cy="8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l"/>
            <a:r>
              <a:rPr sz="2800" b="1" i="0">
                <a:solidFill>
                  <a:srgbClr val="0F0F0F"/>
                </a:solidFill>
                <a:latin typeface="PT Serif"/>
              </a:rPr>
              <a:t>IA irresponsable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1150000"/>
            <a:ext cx="5000000" cy="4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r>
              <a:rPr sz="1700" b="1" i="0">
                <a:solidFill>
                  <a:srgbClr val="E0A437"/>
                </a:solidFill>
                <a:latin typeface="PT Serif"/>
              </a:rPr>
              <a:t>4  </a:t>
            </a:r>
            <a:r>
              <a:rPr sz="1700" b="1" i="0">
                <a:solidFill>
                  <a:srgbClr val="1D3557"/>
                </a:solidFill>
                <a:latin typeface="PT Serif"/>
              </a:rPr>
              <a:t>Incompetencia humana (mal uso)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650000"/>
            <a:ext cx="4603520" cy="32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0" i="0">
                <a:solidFill>
                  <a:srgbClr val="3A4A5C"/>
                </a:solidFill>
                <a:latin typeface="PT Serif"/>
              </a:rPr>
              <a:t>Muchos daños graves no son 'culpa de la IA', sino de cómo la usamos o de dejarla sin supervisión.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0" i="0">
                <a:solidFill>
                  <a:srgbClr val="3A4A5C"/>
                </a:solidFill>
                <a:latin typeface="PT Serif"/>
              </a:rPr>
              <a:t>Si un sistema decide sin que nadie revise sus errores, el problema no es la máquina: es quién decidió usarla así.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0" i="0">
                <a:solidFill>
                  <a:srgbClr val="3A4A5C"/>
                </a:solidFill>
                <a:latin typeface="PT Serif"/>
              </a:rPr>
              <a:t>Caso: Facebook bloqueó la página de la comuna francesa de Ville de Bitche por su nombre. Un filtro automático sin supervisión humana.</a:t>
            </a:r>
          </a:p>
        </p:txBody>
      </p:sp>
      <p:pic>
        <p:nvPicPr>
          <p:cNvPr id="6" name="Picture 5" descr="facebook_bit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876" y="1300000"/>
            <a:ext cx="3241767" cy="29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0000" y="4523500"/>
            <a:ext cx="8144000" cy="48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r>
              <a:rPr sz="13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300" b="0" i="1">
                <a:solidFill>
                  <a:srgbClr val="3A4A5C"/>
                </a:solidFill>
                <a:latin typeface="PT Serif"/>
              </a:rPr>
              <a:t>La responsabilidad no se delega en el algoritmo: siempre hay una persona que decide desplegarlo.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300000"/>
            <a:ext cx="8344000" cy="8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l"/>
            <a:r>
              <a:rPr sz="2800" b="1" i="0">
                <a:solidFill>
                  <a:srgbClr val="0F0F0F"/>
                </a:solidFill>
                <a:latin typeface="PT Serif"/>
              </a:rPr>
              <a:t>IA irresponsable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1150000"/>
            <a:ext cx="5000000" cy="4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r>
              <a:rPr sz="1700" b="1" i="0">
                <a:solidFill>
                  <a:srgbClr val="E0A437"/>
                </a:solidFill>
                <a:latin typeface="PT Serif"/>
              </a:rPr>
              <a:t>5  </a:t>
            </a:r>
            <a:r>
              <a:rPr sz="1700" b="1" i="0">
                <a:solidFill>
                  <a:srgbClr val="1D3557"/>
                </a:solidFill>
                <a:latin typeface="PT Serif"/>
              </a:rPr>
              <a:t>Desinformación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650000"/>
            <a:ext cx="5152160" cy="32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0" i="0">
                <a:solidFill>
                  <a:srgbClr val="3A4A5C"/>
                </a:solidFill>
                <a:latin typeface="PT Serif"/>
              </a:rPr>
              <a:t>Hoy se generan noticias, imágenes, audios y videos falsos muy convincentes.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0" i="0">
                <a:solidFill>
                  <a:srgbClr val="3A4A5C"/>
                </a:solidFill>
                <a:latin typeface="PT Serif"/>
              </a:rPr>
              <a:t>Puede parecer que alguien dijo o hizo algo que nunca ocurrió (deepfakes).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0" i="0">
                <a:solidFill>
                  <a:srgbClr val="3A4A5C"/>
                </a:solidFill>
                <a:latin typeface="PT Serif"/>
              </a:rPr>
              <a:t>Caso real: estafadores usaron una video-llamada con deepfakes para hacer transferir millones a una empresa en Hong Kong.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1" i="0">
                <a:solidFill>
                  <a:srgbClr val="C04860"/>
                </a:solidFill>
                <a:latin typeface="PT Serif"/>
              </a:rPr>
              <a:t>El costo de fabricar una mentira creíble se desplomó; el de verificarla, no.</a:t>
            </a:r>
          </a:p>
        </p:txBody>
      </p:sp>
      <p:pic>
        <p:nvPicPr>
          <p:cNvPr id="6" name="Picture 5" descr="desinform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2160" y="1769387"/>
            <a:ext cx="2941840" cy="196122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300000"/>
            <a:ext cx="8344000" cy="8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ctr"/>
            <a:r>
              <a:rPr sz="2800" b="1" i="0">
                <a:solidFill>
                  <a:srgbClr val="0F0F0F"/>
                </a:solidFill>
                <a:latin typeface="PT Serif"/>
              </a:rPr>
              <a:t>IA irresponsable: salud mental y economía de la atención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300000"/>
            <a:ext cx="7744000" cy="35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600" b="0" i="0">
                <a:solidFill>
                  <a:srgbClr val="3A4A5C"/>
                </a:solidFill>
                <a:latin typeface="PT Serif"/>
              </a:rPr>
              <a:t>Muchas plataformas usan IA para maximizar el tiempo que pasamos conectados: ese es su modelo de negocio.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600" b="0" i="0">
                <a:solidFill>
                  <a:srgbClr val="3A4A5C"/>
                </a:solidFill>
                <a:latin typeface="PT Serif"/>
              </a:rPr>
              <a:t>Optimizar 'engagement' no es lo mismo que optimizar tu bienestar.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600" b="0" i="0">
                <a:solidFill>
                  <a:srgbClr val="3A4A5C"/>
                </a:solidFill>
                <a:latin typeface="PT Serif"/>
              </a:rPr>
              <a:t>Puede afectar el sueño, la concentración, la autoimagen y el ánimo.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600" b="1" i="0">
                <a:solidFill>
                  <a:srgbClr val="1D3557"/>
                </a:solidFill>
                <a:latin typeface="PT Serif"/>
              </a:rPr>
              <a:t>Pregunta clave de todo proyecto: ¿qué función objetivo estamos optimizando, y a quién beneficia?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1850000"/>
            <a:ext cx="7944000" cy="14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PT Serif"/>
              </a:rPr>
              <a:t>IA responsable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E0A437"/>
                </a:solidFill>
                <a:latin typeface="PT Serif"/>
              </a:rPr>
              <a:t>Límites, regulación y cómo trabajar bien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300000"/>
            <a:ext cx="8344000" cy="8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l"/>
            <a:r>
              <a:rPr sz="2800" b="1" i="0">
                <a:solidFill>
                  <a:srgbClr val="0F0F0F"/>
                </a:solidFill>
                <a:latin typeface="PT Serif"/>
              </a:rPr>
              <a:t>Lo que NO está en los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1350000"/>
            <a:ext cx="4200000" cy="32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0" i="0">
                <a:solidFill>
                  <a:srgbClr val="3A4A5C"/>
                </a:solidFill>
                <a:latin typeface="PT Serif"/>
              </a:rPr>
              <a:t>La IA solo sabe lo que le enseñaron: los datos son una aproximación de la realidad, no la realidad.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0" i="0">
                <a:solidFill>
                  <a:srgbClr val="3A4A5C"/>
                </a:solidFill>
                <a:latin typeface="PT Serif"/>
              </a:rPr>
              <a:t>La precisión no es lo único: a veces un error es mucho peor que otro.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0" i="0">
                <a:solidFill>
                  <a:srgbClr val="3A4A5C"/>
                </a:solidFill>
                <a:latin typeface="PT Serif"/>
              </a:rPr>
              <a:t>En diagnóstico, un falso negativo (no detectar al enfermo) suele ser peor que un falso positivo. Lo formalizamos en la clase 12.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0000" y="1400000"/>
            <a:ext cx="1575000" cy="36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ctr"/>
            <a:r>
              <a:rPr sz="1250" b="1" i="0">
                <a:solidFill>
                  <a:srgbClr val="1D3557"/>
                </a:solidFill>
                <a:latin typeface="PT Serif"/>
              </a:rPr>
              <a:t>Predice sano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5000" y="1400000"/>
            <a:ext cx="1575000" cy="36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ctr"/>
            <a:r>
              <a:rPr sz="1250" b="1" i="0">
                <a:solidFill>
                  <a:srgbClr val="1D3557"/>
                </a:solidFill>
                <a:latin typeface="PT Serif"/>
              </a:rPr>
              <a:t>Predice enfermo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4735000" y="2275000"/>
            <a:ext cx="11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1" i="0">
                <a:solidFill>
                  <a:srgbClr val="1D3557"/>
                </a:solidFill>
                <a:latin typeface="PT Serif"/>
              </a:rPr>
              <a:t>Enfermo</a:t>
            </a:r>
          </a:p>
          <a:p>
            <a:pPr algn="ctr"/>
            <a:r>
              <a:rPr sz="1150" b="1" i="0">
                <a:solidFill>
                  <a:srgbClr val="1D3557"/>
                </a:solidFill>
                <a:latin typeface="PT Serif"/>
              </a:rPr>
              <a:t>(real)</a:t>
            </a:r>
          </a:p>
        </p:txBody>
      </p:sp>
      <p:sp>
        <p:nvSpPr>
          <p:cNvPr id="8" name="TextBox 7"/>
          <p:cNvSpPr txBox="1"/>
          <p:nvPr/>
        </p:nvSpPr>
        <p:spPr>
          <a:xfrm rot="16200000">
            <a:off x="4735000" y="3735000"/>
            <a:ext cx="11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1" i="0">
                <a:solidFill>
                  <a:srgbClr val="1D3557"/>
                </a:solidFill>
                <a:latin typeface="PT Serif"/>
              </a:rPr>
              <a:t>Sano</a:t>
            </a:r>
          </a:p>
          <a:p>
            <a:pPr algn="ctr"/>
            <a:r>
              <a:rPr sz="1150" b="1" i="0">
                <a:solidFill>
                  <a:srgbClr val="1D3557"/>
                </a:solidFill>
                <a:latin typeface="PT Serif"/>
              </a:rPr>
              <a:t>(real)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20000" y="1760000"/>
            <a:ext cx="1575000" cy="1330000"/>
          </a:xfrm>
          <a:prstGeom prst="roundRect">
            <a:avLst/>
          </a:prstGeom>
          <a:solidFill>
            <a:srgbClr val="C04860"/>
          </a:solidFill>
          <a:ln w="25400">
            <a:solidFill>
              <a:srgbClr val="C04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PT Serif"/>
              </a:rPr>
              <a:t>Falso negativo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FFFFFF"/>
                </a:solidFill>
                <a:latin typeface="PT Serif"/>
              </a:rPr>
              <a:t>no detecta al enfermo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5000" y="1760000"/>
            <a:ext cx="1575000" cy="133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F9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3F9078"/>
                </a:solidFill>
                <a:latin typeface="PT Serif"/>
              </a:rPr>
              <a:t>Verdadero positivo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20000" y="3220000"/>
            <a:ext cx="1575000" cy="133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F9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3F9078"/>
                </a:solidFill>
                <a:latin typeface="PT Serif"/>
              </a:rPr>
              <a:t>Verdadero negativo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5000" y="3220000"/>
            <a:ext cx="1575000" cy="133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A4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0A437"/>
                </a:solidFill>
                <a:latin typeface="PT Serif"/>
              </a:rPr>
              <a:t>Falso positivo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B7785"/>
                </a:solidFill>
                <a:latin typeface="PT Serif"/>
              </a:rPr>
              <a:t>alarma en sano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300000"/>
            <a:ext cx="8344000" cy="8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ctr"/>
            <a:r>
              <a:rPr sz="2800" b="1" i="0">
                <a:solidFill>
                  <a:srgbClr val="0F0F0F"/>
                </a:solidFill>
                <a:latin typeface="PT Serif"/>
              </a:rPr>
              <a:t>No humanizar la tecnología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300000"/>
            <a:ext cx="7744000" cy="35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0" i="0">
                <a:solidFill>
                  <a:srgbClr val="3A4A5C"/>
                </a:solidFill>
                <a:latin typeface="PT Serif"/>
              </a:rPr>
              <a:t>Mantengan la lucidez sobre lo que un modelo de lenguaje (LLM) puede y no puede hacer: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300" b="0" i="0">
                <a:solidFill>
                  <a:srgbClr val="6B7785"/>
                </a:solidFill>
                <a:latin typeface="PT Serif"/>
              </a:rPr>
              <a:t>No 'alucina': comete errores.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300" b="0" i="0">
                <a:solidFill>
                  <a:srgbClr val="6B7785"/>
                </a:solidFill>
                <a:latin typeface="PT Serif"/>
              </a:rPr>
              <a:t>No 'piensa': imita conversación.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300" b="0" i="0">
                <a:solidFill>
                  <a:srgbClr val="6B7785"/>
                </a:solidFill>
                <a:latin typeface="PT Serif"/>
              </a:rPr>
              <a:t>No 'tiene' opiniones ni carácter: refleja los de otros.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300" b="0" i="0">
                <a:solidFill>
                  <a:srgbClr val="6B7785"/>
                </a:solidFill>
                <a:latin typeface="PT Serif"/>
              </a:rPr>
              <a:t>No 'intenta' nada, aunque produce resultados.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300" b="0" i="0">
                <a:solidFill>
                  <a:srgbClr val="6B7785"/>
                </a:solidFill>
                <a:latin typeface="PT Serif"/>
              </a:rPr>
              <a:t>No tiene intención de manipular ni dañar, pero puede causar manipulación, desinformación y daño.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1" i="0">
                <a:solidFill>
                  <a:srgbClr val="1D3557"/>
                </a:solidFill>
                <a:latin typeface="PT Serif"/>
              </a:rPr>
              <a:t>El lenguaje que usamos para describir la IA moldea cuánta responsabilidad le atribuimos.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300000"/>
            <a:ext cx="8344000" cy="8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l"/>
            <a:r>
              <a:rPr sz="2800" b="1" i="0">
                <a:solidFill>
                  <a:srgbClr val="0F0F0F"/>
                </a:solidFill>
                <a:latin typeface="PT Serif"/>
              </a:rPr>
              <a:t>¿Deberíamos regular el uso de la 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1250000"/>
            <a:ext cx="4786400" cy="32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D3557"/>
                </a:solidFill>
                <a:latin typeface="PT Serif"/>
              </a:rPr>
              <a:t>Regulación de sistemas de IA, por nivel de riesgo: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200" b="0" i="0">
                <a:solidFill>
                  <a:srgbClr val="6B7785"/>
                </a:solidFill>
                <a:latin typeface="PT Serif"/>
              </a:rPr>
              <a:t>Unión Europea: AI Act (Reglamento 2024/1689), la pirámide de la derecha.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200" b="0" i="0">
                <a:solidFill>
                  <a:srgbClr val="6B7785"/>
                </a:solidFill>
                <a:latin typeface="PT Serif"/>
              </a:rPr>
              <a:t>Chile: proyecto de ley de IA en trámite (2024), con el mismo enfoque de riesgos; complementa la Política Nacional de IA.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D3557"/>
                </a:solidFill>
                <a:latin typeface="PT Serif"/>
              </a:rPr>
              <a:t>Protección de datos personales, rige use o no IA el proyecto: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200" b="0" i="0">
                <a:solidFill>
                  <a:srgbClr val="6B7785"/>
                </a:solidFill>
                <a:latin typeface="PT Serif"/>
              </a:rPr>
              <a:t>Chile: Ley 21.719 (2024), análoga al GDPR europeo. Entra en vigencia el 1 de diciembre de 2026, este semestre.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400" b="1" i="0">
                <a:solidFill>
                  <a:srgbClr val="1D3557"/>
                </a:solidFill>
                <a:latin typeface="PT Serif"/>
              </a:rPr>
              <a:t>Dos marcos que se complementan: uno regula el sistema de IA según su riesgo; el otro, el tratamiento de los datos personales.</a:t>
            </a:r>
          </a:p>
        </p:txBody>
      </p:sp>
      <p:pic>
        <p:nvPicPr>
          <p:cNvPr id="5" name="Picture 4" descr="fig_piram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400" y="1339461"/>
            <a:ext cx="3307600" cy="28210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0000" y="4523500"/>
            <a:ext cx="8144000" cy="48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r>
              <a:rPr sz="13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300" b="0" i="1">
                <a:solidFill>
                  <a:srgbClr val="3A4A5C"/>
                </a:solidFill>
                <a:latin typeface="PT Serif"/>
              </a:rPr>
              <a:t>Pirámide: niveles de riesgo del AI Act (Unión Europea).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300000"/>
            <a:ext cx="8344000" cy="8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ctr"/>
            <a:r>
              <a:rPr sz="2800" b="1" i="0">
                <a:solidFill>
                  <a:srgbClr val="0F0F0F"/>
                </a:solidFill>
                <a:latin typeface="PT Serif"/>
              </a:rPr>
              <a:t>Documentar lo que hacemos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300000"/>
            <a:ext cx="7744000" cy="35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0" i="0">
                <a:solidFill>
                  <a:srgbClr val="3A4A5C"/>
                </a:solidFill>
                <a:latin typeface="PT Serif"/>
              </a:rPr>
              <a:t>La propuesta: así como un alimento trae etiqueta nutricional, los datos y los modelos deben venir con su ficha.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D3557"/>
                </a:solidFill>
                <a:latin typeface="PT Serif"/>
              </a:rPr>
              <a:t>Datasheets for Datasets (Gebru et al., 2021): la ficha del dataset.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300" b="0" i="0">
                <a:solidFill>
                  <a:srgbClr val="6B7785"/>
                </a:solidFill>
                <a:latin typeface="PT Serif"/>
              </a:rPr>
              <a:t>De dónde salen los datos, cómo y para qué se recolectaron, qué contienen y qué sesgos se conocen.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D3557"/>
                </a:solidFill>
                <a:latin typeface="PT Serif"/>
              </a:rPr>
              <a:t>Model Cards (Mitchell et al., 2019): la ficha del modelo.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6B7785"/>
                </a:solidFill>
                <a:latin typeface="PT Serif"/>
              </a:rPr>
              <a:t>     ◦  </a:t>
            </a:r>
            <a:r>
              <a:rPr sz="1300" b="0" i="0">
                <a:solidFill>
                  <a:srgbClr val="6B7785"/>
                </a:solidFill>
                <a:latin typeface="PT Serif"/>
              </a:rPr>
              <a:t>Para qué sirve y para qué NO, y su desempeño desagregado por grupo: un buen promedio puede esconder errores graves en un subgrupo.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1" i="0">
                <a:solidFill>
                  <a:srgbClr val="1D3557"/>
                </a:solidFill>
                <a:latin typeface="PT Serif"/>
              </a:rPr>
              <a:t>El objetivo es transparencia: que quien use datos o modelos ajenos conozca sus límites antes de que fallen. Hoy es práctica estándar en la industria.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500" b="0" i="1">
                <a:solidFill>
                  <a:srgbClr val="E0A437"/>
                </a:solidFill>
                <a:latin typeface="PT Serif"/>
              </a:rPr>
              <a:t>Son las lecturas de los controles Q2 y Q3, y la ficha que escribirán para su proyecto final.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1850000"/>
            <a:ext cx="7944000" cy="14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PT Serif"/>
              </a:rPr>
              <a:t>La IA es una herramienta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E0A437"/>
                </a:solidFill>
                <a:latin typeface="PT Serif"/>
              </a:rPr>
              <a:t>Lo que importa es cómo la usamos, quién la diseña y quién la supervisa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300000"/>
            <a:ext cx="8344000" cy="800000"/>
          </a:xfrm>
          <a:prstGeom prst="rect">
            <a:avLst/>
          </a:prstGeom>
          <a:noFill/>
        </p:spPr>
        <p:txBody>
          <a:bodyPr wrap="square" lIns="91425" rIns="91425" tIns="45700" bIns="45700" anchor="ctr">
            <a:spAutoFit/>
          </a:bodyPr>
          <a:lstStyle/>
          <a:p>
            <a:pPr algn="ctr"/>
            <a:r>
              <a:rPr sz="2800" b="1" i="0">
                <a:solidFill>
                  <a:srgbClr val="0F0F0F"/>
                </a:solidFill>
                <a:latin typeface="PT Serif"/>
              </a:rPr>
              <a:t>Créditos y referencias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300000"/>
            <a:ext cx="7744000" cy="3500000"/>
          </a:xfrm>
          <a:prstGeom prst="rect">
            <a:avLst/>
          </a:prstGeom>
          <a:noFill/>
        </p:spPr>
        <p:txBody>
          <a:bodyPr wrap="square" lIns="91425" rIns="91425" tIns="45700" bIns="45700" anchor="t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600" b="0" i="0">
                <a:solidFill>
                  <a:srgbClr val="3A4A5C"/>
                </a:solidFill>
                <a:latin typeface="PT Serif"/>
              </a:rPr>
              <a:t>Charla base: Ricardo Baeza-Yates, 'IA Responsable', keynote 50 CLEI.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600" b="0" i="0">
                <a:solidFill>
                  <a:srgbClr val="3A4A5C"/>
                </a:solidFill>
                <a:latin typeface="PT Serif"/>
              </a:rPr>
              <a:t>Definiciones: Russell &amp; Norvig (2021); Mitchell (1997); Donoho (2017); Cleveland (2001).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600" b="0" i="0">
                <a:solidFill>
                  <a:srgbClr val="3A4A5C"/>
                </a:solidFill>
                <a:latin typeface="PT Serif"/>
              </a:rPr>
              <a:t>Casos: Kleinberg et al. (2018); Bender et al. (2021); Buolamwini &amp; Gebru (2018).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600" b="0" i="0">
                <a:solidFill>
                  <a:srgbClr val="3A4A5C"/>
                </a:solidFill>
                <a:latin typeface="PT Serif"/>
              </a:rPr>
              <a:t>Marco legal: Ley 21.719 (Chile, 2024) y AI Act (UE, 2024).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E0A437"/>
                </a:solidFill>
                <a:latin typeface="PT Serif"/>
              </a:rPr>
              <a:t>▸ </a:t>
            </a:r>
            <a:r>
              <a:rPr sz="1600" b="1" i="1">
                <a:solidFill>
                  <a:srgbClr val="E0A437"/>
                </a:solidFill>
                <a:latin typeface="PT Serif"/>
              </a:rPr>
              <a:t>El hilo ético continúa toda la asignatura.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
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3B4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1252728"/>
            <a:ext cx="77449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Fira Sans"/>
              </a:rPr>
              <a:t>Análisis exploratorio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75104" y="2651760"/>
            <a:ext cx="5202936" cy="521207"/>
          </a:xfrm>
          <a:prstGeom prst="rect">
            <a:avLst/>
          </a:prstGeom>
          <a:solidFill>
            <a:srgbClr val="E0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D3557"/>
                </a:solidFill>
                <a:latin typeface="Fira Sans"/>
              </a:rPr>
              <a:t>Clase 2 · Modelos, tipos de datos y Pandas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547872"/>
            <a:ext cx="774496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Fira Sans"/>
              </a:rPr>
              <a:t>Daniela Opitz</a:t>
            </a:r>
          </a:p>
          <a:p>
            <a:r>
              <a:rPr sz="1300" b="0">
                <a:solidFill>
                  <a:srgbClr val="B8C4D4"/>
                </a:solidFill>
                <a:latin typeface="Fira Sans"/>
              </a:rPr>
              <a:t>INF-396 · Departamento de Informática · UTFSM · viernes 21 de agosto,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Contenidos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1. Qué es un modelo.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2. Inferencia y predicción: dos objetivos distintos.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3. Correlación (Pearson y Spearman) y causalidad.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4. Tipos de datos.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5. El análisis exploratorio de datos.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6. Aplicación: la Encuesta Origen Destino de Santiago, con Pandas.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En el segundo bloque comienza la Tarea 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Marco conceptual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Modelos, inferencia y tipos de datos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¿Qué es un modelo?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Una representación simplificada del proceso que genera los datos (James et al., 2023, cap. 2).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Formalmente, se postula Y = f(X) + ε: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Y es la variable de interés; X, las variables observadas.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f es la relación sistemática que se quiere estimar.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ε es el error irreducible: lo que X no explica de Y.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Ejemplo: el tiempo de un viaje en función de la distancia, el modo y la hora.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Construir un modelo implica decidir qué variables entran, qué se omite y qué se considera éxito (clase 1: esas decisiones incorporan las opiniones de quien modela).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Inferencia y predicción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Al estimar f puede buscarse una de dos cosas (James et al., cap. 2):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Inferencia: comprender la relación entre X e Y.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Qué variables se asocian con Y, con qué magnitud y signo.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La forma de f importa: se prefieren modelos interpretables.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Ejemplo: ¿cómo se asocia el nivel socioeconómico con el uso de transporte público?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Predicción: estimar Y para casos nuevos.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f puede tratarse como caja negra si predice con precisión.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Ejemplo: ¿cuántos viajes tendrá esta zona un día laboral?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En el curso: unidades 2 a 5 son descriptivas e inferenciales; unidades 6 a 9, predictivas.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coeficiente de correlación de Pearson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Mide la asociación lineal: qué tan bien se ajustan los puntos a una recta. Entre -1 y 1 (Bruce, Bruce y Gedeck, 2020).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r = cov(X, Y) / (σX · σY): la covarianza estandarizada.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300" b="0">
                <a:solidFill>
                  <a:srgbClr val="333333"/>
                </a:solidFill>
                <a:latin typeface="Fira Sans"/>
              </a:rPr>
              <a:t>Un extremo entra multiplicando y puede dominar el resultado.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300" b="0">
                <a:solidFill>
                  <a:srgbClr val="333333"/>
                </a:solidFill>
                <a:latin typeface="Fira Sans"/>
              </a:rPr>
              <a:t>Una relación curva baja el coeficiente aunque la asociación sea fuerte.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300" b="0">
                <a:solidFill>
                  <a:srgbClr val="333333"/>
                </a:solidFill>
                <a:latin typeface="Fira Sans"/>
              </a:rPr>
              <a:t>Transformar los datos cambia su valor.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1">
                <a:solidFill>
                  <a:srgbClr val="1D3557"/>
                </a:solidFill>
                <a:latin typeface="Fira Sans"/>
              </a:rPr>
              <a:t>Su cuadrado anticipa el R² de la regresión (unidad 7).</a:t>
            </a:r>
          </a:p>
        </p:txBody>
      </p:sp>
      <p:pic>
        <p:nvPicPr>
          <p:cNvPr id="5" name="Picture 4" descr="16_pearson_re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3313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coeficiente de Spearman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El mismo Pearson, calculado sobre los rangos: la posición de cada valor al ordenar.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Sin empates:  ρ = 1 - 6·Σd² / (n·(n² - 1)),  con d la diferencia de rangos.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300" b="0">
                <a:solidFill>
                  <a:srgbClr val="333333"/>
                </a:solidFill>
                <a:latin typeface="Fira Sans"/>
              </a:rPr>
              <a:t>Los valores 5, 12, 8 y 200 tienen rangos 1, 3, 2 y 4: el 200 pasa a ser solo el cuarto.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1">
                <a:solidFill>
                  <a:srgbClr val="1D3557"/>
                </a:solidFill>
                <a:latin typeface="Fira Sans"/>
              </a:rPr>
              <a:t>Robusto a extremos, invariante ante transformaciones monótonas, y válido para variables ordinales.</a:t>
            </a:r>
          </a:p>
        </p:txBody>
      </p:sp>
      <p:pic>
        <p:nvPicPr>
          <p:cNvPr id="5" name="Picture 4" descr="17_spearman_ran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33825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correlación, vista en los datos completos</a:t>
            </a:r>
          </a:p>
        </p:txBody>
      </p:sp>
      <p:pic>
        <p:nvPicPr>
          <p:cNvPr id="4" name="Picture 3" descr="12_scatter_distancia_tiem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014" y="1143000"/>
            <a:ext cx="4581971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mediana por tramo sube de forma sostenida (Spearman 0,76) pero no recta y con extremos (Pearson 0,43).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¿Cuándo usar cada coeficiente?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Pearson: relación aproximadamente recta, sin extremos dominantes; antesala del modelo lineal.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Spearman: asimetrías, extremos, curvas crecientes, o variables ordinales.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300" b="0">
                <a:solidFill>
                  <a:srgbClr val="333333"/>
                </a:solidFill>
                <a:latin typeface="Fira Sans"/>
              </a:rPr>
              <a:t>La brecha entre ambos es un diagnóstico: 0,43 contra 0,76 indica curva o extremos.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300" b="0">
                <a:solidFill>
                  <a:srgbClr val="333333"/>
                </a:solidFill>
                <a:latin typeface="Fira Sans"/>
              </a:rPr>
              <a:t>Tras el logaritmo, Pearson llega a 0,73, casi igual a Spearman.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1">
                <a:solidFill>
                  <a:srgbClr val="1D3557"/>
                </a:solidFill>
                <a:latin typeface="Fira Sans"/>
              </a:rPr>
              <a:t>Calcule ambos; si difieren mucho, mire el gráfico antes de reportar.</a:t>
            </a:r>
          </a:p>
        </p:txBody>
      </p:sp>
      <p:pic>
        <p:nvPicPr>
          <p:cNvPr id="5" name="Picture 4" descr="18_log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33509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Correlación y causalidad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Causalidad: intervenir X cambiaría Y. Es una afirmación más fuerte que la asociación.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Una asociación observada admite varias explicaciones: X causa Y, Y causa X, o una variable de confusión Z afecta a ambas.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Los datos observacionales, como los de una encuesta, muestran asociación; no bastan para establecer causalidad.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La inferencia causal tiene métodos propios; este curso no los cubre.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Regla de trabajo: una asociación se reporta como asociación, sin verbos causales que los datos no respaldan.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Tipos de datos</a:t>
            </a:r>
          </a:p>
        </p:txBody>
      </p:sp>
      <p:pic>
        <p:nvPicPr>
          <p:cNvPr id="4" name="Picture 3" descr="11_diagrama_ti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807" y="1143000"/>
            <a:ext cx="5012385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tipo de la variable determina qué operaciones tienen sentido (Bruce, Bruce y Gedeck, 2020, cap. 1).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tipo estadístico no es el tipo computacional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En la EOD el sexo viene codificado 1 o 2: para Pandas es un entero (int64).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tipo computacional permite operar; el tipo estadístico decide si la operación significa algo.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El promedio de Sexo en la EOD es 1,53: aritméticamente correcto, sin significado.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El promedio de Edad sí es interpretable: la variable es numérica.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Identificar el tipo de cada variable es un paso del análisis, no una formalidad.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análisis exploratorio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etapa en que se examinan los datos antes de modelarlos (Tukey, 1977).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Responde cuatro tipos de pregunta: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La forma: cómo se distribuye cada variable.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Lo típico y lo extremo: qué es frecuente y qué es anómalo.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Lo que falta: qué datos están ausentes y con qué patrón.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Las relaciones: qué variables se asocian con qué otras.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Genera hipótesis; el análisis confirmatorio (unidad 5) las pone a prueba.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Una pregunta transversal para toda cifra resumen: ¿de quién habla este número? ¿De la muestra, de un subgrupo, de la ciudad?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Los datos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Encuesta Origen Destino de Santiago 2012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EOD 2012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Encuesta de movilidad del Gran Santiago (SECTRA y U. Alberto Hurtado).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Registra todos los viajes de un día de los hogares encuestados.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18.264 hogares, 60.054 personas, 113.591 viajes.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Se usa en la planificación de transporte de la ciudad.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El mismo diseño relacional de la Casen, el Censo o la ENUSC.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Una encuesta, varias tablas</a:t>
            </a:r>
          </a:p>
        </p:txBody>
      </p:sp>
      <p:pic>
        <p:nvPicPr>
          <p:cNvPr id="4" name="Picture 3" descr="05_diagrama_tab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651" y="1143000"/>
            <a:ext cx="6036697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Los códigos no significan nada sin sus tablas de parámetros: unirlas es parte del análisis.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Repaso de Pandas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Dos casos concretos con la EOD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Abrir el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237744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import pandas as pd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/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viajes = pd.read_csv('datos/eod_stgo/viajes.csv',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                     sep=';', decimal=',')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88620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Todo el código de la clase está en el notebook 02_pandas_eda.ipynb del repositorio.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DataFrame: la estructura central de Pandas</a:t>
            </a:r>
          </a:p>
        </p:txBody>
      </p:sp>
      <p:pic>
        <p:nvPicPr>
          <p:cNvPr id="4" name="Picture 3" descr="13_data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5537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Una tabla con filas indexadas y columnas con nombre y tipo. Los códigos (comuna, propósito) se traducen con las tablas de parámetros, uniéndolas con merge.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Las variantes del merge: qué filas se conservan</a:t>
            </a:r>
          </a:p>
        </p:txBody>
      </p:sp>
      <p:pic>
        <p:nvPicPr>
          <p:cNvPr id="4" name="Picture 3" descr="07_diagrama_me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3972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valor por defecto es inner: descarta sin aviso las filas sin pareja.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efecto del parámetro how sobre la población analizada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Personas con viajes, merge inner: 113.591 filas (una por viaje).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mismo merge en left: 127.379 filas.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La diferencia son 13.788 personas que no viajaron ese día.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Con inner desaparecen; con left quedan, con NaN en el viaje.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Un promedio calculado sobre el resultado del inner excluye a quienes no viajaron.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Exploración de la EOD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Estadística descriptiva sobre datos reales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Viajes por persona: los ausentes también cuentan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El 23% de las personas no viajó ese día.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Media: 1,9 viajes. Mediana: 2 viajes.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La media quedó bajo la mediana: la masa de ceros la desplaza.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1">
                <a:solidFill>
                  <a:srgbClr val="1D3557"/>
                </a:solidFill>
                <a:latin typeface="Fira Sans"/>
              </a:rPr>
              <a:t>La dirección del sesgo depende de la forma de la distribución.</a:t>
            </a:r>
          </a:p>
        </p:txBody>
      </p:sp>
      <p:pic>
        <p:nvPicPr>
          <p:cNvPr id="5" name="Picture 4" descr="02_viajes_por_perso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219173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Los factores de expansión: de la muestra a la ciudad</a:t>
            </a:r>
          </a:p>
        </p:txBody>
      </p:sp>
      <p:pic>
        <p:nvPicPr>
          <p:cNvPr id="4" name="Picture 3" descr="06_diagrama_fact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8712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Contar filas responde por la muestra; sumar factores responde por la ciudad.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ingreso de los hogares: media y mediana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Media: $688.274. Mediana: $507.826.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La media es un 36% más alta que la mediana.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Los ingresos altos desplazan el promedio; la mayoría gana menos.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1">
                <a:solidFill>
                  <a:srgbClr val="1D3557"/>
                </a:solidFill>
                <a:latin typeface="Fira Sans"/>
              </a:rPr>
              <a:t>El promedio describe una situación en la que la mayoría no está.</a:t>
            </a:r>
          </a:p>
        </p:txBody>
      </p:sp>
      <p:pic>
        <p:nvPicPr>
          <p:cNvPr id="5" name="Picture 4" descr="01_ingreso_media_medi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218271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duración de los viajes: valores extremos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Mediana: 30 minutos. Percentil 95: 98 minutos.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Máximo registrado: 1.335 minutos, un viaje de 22 horas.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¿Error de digitación? ¿Turno nocturno mal anotado?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1">
                <a:solidFill>
                  <a:srgbClr val="1D3557"/>
                </a:solidFill>
                <a:latin typeface="Fira Sans"/>
              </a:rPr>
              <a:t>Los valores extremos se investigan y la decisión se declara.</a:t>
            </a:r>
          </a:p>
        </p:txBody>
      </p:sp>
      <p:pic>
        <p:nvPicPr>
          <p:cNvPr id="5" name="Picture 4" descr="04_duracion_viaj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21464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partición modal del Gran Santiago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Dos merges y un groupby ponderado por factor.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300" b="0">
                <a:solidFill>
                  <a:srgbClr val="333333"/>
                </a:solidFill>
                <a:latin typeface="Fira Sans"/>
              </a:rPr>
              <a:t>Caminata: 34% de los viajes.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300" b="0">
                <a:solidFill>
                  <a:srgbClr val="333333"/>
                </a:solidFill>
                <a:latin typeface="Fira Sans"/>
              </a:rPr>
              <a:t>Transporte público (Bip!): 24%.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300" b="0">
                <a:solidFill>
                  <a:srgbClr val="333333"/>
                </a:solidFill>
                <a:latin typeface="Fira Sans"/>
              </a:rPr>
              <a:t>Auto: 23%.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1">
                <a:solidFill>
                  <a:srgbClr val="1D3557"/>
                </a:solidFill>
                <a:latin typeface="Fira Sans"/>
              </a:rPr>
              <a:t>Calculada desde los microdatos, con los factores de un día laboral.</a:t>
            </a:r>
          </a:p>
        </p:txBody>
      </p:sp>
      <p:pic>
        <p:nvPicPr>
          <p:cNvPr id="5" name="Picture 4" descr="03_reparto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193857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reparto modal difiere entre comunas</a:t>
            </a:r>
          </a:p>
        </p:txBody>
      </p:sp>
      <p:pic>
        <p:nvPicPr>
          <p:cNvPr id="4" name="Picture 3" descr="08_modo_por_com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250" y="1143000"/>
            <a:ext cx="5155498" cy="31546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Normalizar por comuna permite comparar proporciones entre comunas de tamaños muy distintos.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Ingreso y uso de transporte público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Cada punto es una comuna: ingreso medio contra proporción de viajes en transporte público.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300" b="0">
                <a:solidFill>
                  <a:srgbClr val="333333"/>
                </a:solidFill>
                <a:latin typeface="Fira Sans"/>
              </a:rPr>
              <a:t>Periferia (Buin, Melipilla): poco transporte público; la red no llega.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300" b="0">
                <a:solidFill>
                  <a:srgbClr val="333333"/>
                </a:solidFill>
                <a:latin typeface="Fira Sans"/>
              </a:rPr>
              <a:t>Ingresos altos (Vitacura, Lo Barnechea): conectadas, con poco uso.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300" b="0">
                <a:solidFill>
                  <a:srgbClr val="333333"/>
                </a:solidFill>
                <a:latin typeface="Fira Sans"/>
              </a:rPr>
              <a:t>Correlación de Pearson: -0,17. La asociación lineal es débil.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1">
                <a:solidFill>
                  <a:srgbClr val="1D3557"/>
                </a:solidFill>
                <a:latin typeface="Fira Sans"/>
              </a:rPr>
              <a:t>Como vimos en el marco conceptual: el coeficiente no reemplaza al gráfico, y la asociación no autoriza verbos causales.</a:t>
            </a:r>
          </a:p>
        </p:txBody>
      </p:sp>
      <p:pic>
        <p:nvPicPr>
          <p:cNvPr id="5" name="Picture 4" descr="09_ingreso_vs_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252697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Los propósitos de viaje según el día de la semana</a:t>
            </a:r>
          </a:p>
        </p:txBody>
      </p:sp>
      <p:pic>
        <p:nvPicPr>
          <p:cNvPr id="4" name="Picture 3" descr="10_heatmap_ruti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778" y="1143000"/>
            <a:ext cx="6016443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heatmap muestra 14 propósitos por 7 días en una sola figura: útil para tablas completas.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Cuando los datos crecen</a:t>
            </a:r>
          </a:p>
        </p:txBody>
      </p:sp>
      <p:pic>
        <p:nvPicPr>
          <p:cNvPr id="4" name="Picture 3" descr="14_escala_d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3249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PySpark se usa con SQL o con sus propios DataFrames; Dask reparte operaciones estilo Pandas; Polars y DuckDB rinden en una sola máquina.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Síntesis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Un modelo es una simplificación con decisiones incorporadas; estimarlo puede buscar inferencia o predicción.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Las asociaciones se reportan como asociaciones: la causalidad exige más que datos observacionales.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tipo de la variable, no su dtype, determina qué resúmenes tienen sentido.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Con distribuciones asimétricas, la mediana y los percentiles describen mejor lo típico que la media.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Ante toda cifra resumen: ¿de quién habla este número? ¿Muestra, subgrupo o ciudad?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Segundo bloque: comienza la Tarea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retrato de tu comuna: cada pareja adopta una comuna del Gran Santiago.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Hoy: elegir la comuna y construir su retrato numérico.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Próxima clase: el retrato gráfico, con métodos de visualización.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Entrega del retrato completo: jueves 10 de septiembre, por Aula.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enunciado está en evaluaciones/tareas/ y la guía de hoy en actividades/.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Lo que avancen en este bloque ya es parte de la tarea.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James, G., Witten, D., Hastie, T. y Tibshirani, R. (2023). An Introduction to Statistical Learning with Applications in Python. Springer. Capítulo 2. Descarga gratuita en statlearning.com.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Bruce, P., Bruce, A. y Gedeck, P. (2020). Practical Statistics for Data Scientists, 2ª ed. O'Reilly. Capítulo 1.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Tukey, J. W. (1977). Exploratory Data Analysis. Addison-Wesley.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SECTRA (2014). Encuesta Origen Destino de Viajes Santiago 2012.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Material inspirado en el curso de visualización de E. Graells-Garrido (github.com/zorzalerrante/aves).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
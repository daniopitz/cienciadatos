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PT Serif"/>
              </a:rPr>
              <a:t>¿Cómo se mueve Santiago?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PT Serif"/>
              </a:rPr>
              <a:t>Clase 2 · Pandas (repaso) y análisis exploratorio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PT Serif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PT Serif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Qué veremos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Le haremos preguntas reales a la Encuesta Origen Destino de Santiago.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Cada pregunta trae su herramienta: el repaso de Pandas va en el camino.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Cargar y mirar, derivar columnas, filtrar, merge, groupby.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Lo probablemente nuevo: tablas de códigos y factores de expansión.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Inicio del análisis exploratorio: qué número resume bien una respuesta.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En el segundo bloque parte la Tarea 1: el retrato de tu comuna.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¿De quién habla este número?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El concepto que nos llevamos hoy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 pregunta que ordena toda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Pandas ya lo conocen: hoy no es el aprendizaje, es la herramienta.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Lo que se llevan es un hábito: interrogar cada cifra antes de creerle.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Un promedio puede describir una situación en la que casi nadie está.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Contar filas de una encuesta habla de la muestra, no de la ciudad.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Hay personas de las que la tabla no dice nada, y ese silencio informa.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Al final de la clase volveremos a esta pregunta con cuatro respuestas.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Los datos de hoy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La encuesta de movilidad más completa de Chile (SECTRA y U. Alberto Hurtado).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Registra todos los viajes de un día de los hogares encuestados.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18.264 hogares, 60.054 personas, 113.591 viajes.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Es la base de la planificación de transporte de Santiago.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Es una base relacional: varias tablas conectadas por identificadores.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El mismo diseño que van a encontrar en la Casen, el Censo o la ENUSC.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Las tablas y sus llaves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Hogares.csv: una fila por hogar. Llave: Hogar.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personas.csv: una fila por persona. Llave: Hogar + Persona.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viajes.csv: una fila por viaje. Llave: Hogar + Persona + Viaje.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tablas_parametros/: el significado de cada código.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Equivocarse de llave es la fuente clásica de merges malos.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Cinco preguntas, cinco herramientas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¿A quiénes les preguntaron? Cargar y mirar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 = pd.read_csv('datos/eod_stgo/personas.csv',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sep=';', decimal=',')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personas.shape    # 60.054 filas, 39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personas.info()   # tipos y no nulos, siempre antes de calcular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Estos archivos usan punto y coma como separador y coma decimal: primer hallazgo.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¿Quiénes son? Derivar una columna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personas['Edad'] = 2013 - personas['AnoNac']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personas['Edad'].describe()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personas['Sexo'].value_counts()   # devuelve 1 y 2...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No hay columna de edad: se deriva. Y el sexo son códigos que no significan nada solos.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¿Qué significan los códigos? El merge motivado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sexo = pd.read_csv('tablas_parametros/Sexo.csv', sep=';')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 = personas.merge(sexo, left_on='Sexo',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right_on='Id', how='left')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personas['Sexo'].isna().sum()   # regla de oro: contar los sin pareja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Los significados viven en otra tabla: así se diseñan las bases de datos reales.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¿Cuántos viajes hace una persona? groupby y una trampa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viajes_por_persona = viajes.groupby(['Hogar', 'Persona']).size()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conteo = personas.set_index(['Hogar', 'Persona']).assign(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n_viajes=viajes_por_persona)['n_viajes'].fillna(0)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0A437"/>
                </a:solidFill>
                <a:latin typeface="PT Serif"/>
              </a:rPr>
              <a:t>▸ </a:t>
            </a:r>
            <a:r>
              <a:rPr sz="1600" b="0">
                <a:solidFill>
                  <a:srgbClr val="3A4A5C"/>
                </a:solidFill>
                <a:latin typeface="PT Serif"/>
              </a:rPr>
              <a:t>Quien no viajó no aparece en la tabla de viajes: si solo agrupamos, lo perdemos.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Quien no viaja también es 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El 23% de las personas no viajó ese día.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Media: 1,9 viajes. Mediana: 2 viajes.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Aquí la media quedó BAJO la mediana: el bloque de ceros la arrastra.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La asimetría no siempre empuja hacia el mismo lado: se mira, no se adivina.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62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¿A quién representa la encuesta?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Los factores de expansión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De 37 mil encuestados a 6,7 millones de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Cada encuestado representa a un número de personas parecidas a él.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Ese número es su factor de expansión (Factor_LaboralNormal).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37.326 personas con factor de día laboral en temporada normal.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La suma de sus factores: 6.651.735 personas representadas.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Contar filas responde por la muestra; sumar factores responde por la ciudad.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Toda cifra oficial de la EOD, la Casen o la ENUSC está ponderada así.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PT Serif"/>
              </a:rPr>
              <a:t>Análisis exploratorio</a:t>
            </a:r>
          </a:p>
          <a:p>
            <a:r>
              <a:rPr sz="1800" b="0">
                <a:solidFill>
                  <a:srgbClr val="E0A437"/>
                </a:solidFill>
                <a:latin typeface="PT Serif"/>
              </a:rPr>
              <a:t>¿Qué número resume bien una respuesta?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¿Cuánto gana un hogar típico?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Media: $688.274. Mediana: $507.826.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La media es un 36% más alta que la mediana.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Unos pocos hogares de ingresos muy altos arrastran el promedio.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'El hogar promedio gana $688 mil'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943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¿Cuánto dura un viaje?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Mediana: 30 minutos. Percentil 95: 98 minutos.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Máximo registrado: 1.335 minutos, un viaje de 22 horas.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¿Error de digitación? ¿Turno nocturno mal anotado?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Los valores extremos no se borran por molestos: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627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¿En qué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0">
                <a:solidFill>
                  <a:srgbClr val="3A4A5C"/>
                </a:solidFill>
                <a:latin typeface="PT Serif"/>
              </a:rPr>
              <a:t>Dos merges y un groupby ponderado por factor.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Caminata: 34% de los viajes.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Transporte público (Bip!): 24%.</a:t>
            </a:r>
          </a:p>
          <a:p>
            <a:r>
              <a:rPr sz="13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300" b="0">
                <a:solidFill>
                  <a:srgbClr val="6B7785"/>
                </a:solidFill>
                <a:latin typeface="PT Serif"/>
              </a:rPr>
              <a:t>Auto: 23%.</a:t>
            </a:r>
          </a:p>
          <a:p>
            <a:r>
              <a:rPr sz="1500" b="1">
                <a:solidFill>
                  <a:srgbClr val="E0A437"/>
                </a:solidFill>
                <a:latin typeface="PT Serif"/>
              </a:rPr>
              <a:t>▸ </a:t>
            </a:r>
            <a:r>
              <a:rPr sz="1500" b="1">
                <a:solidFill>
                  <a:srgbClr val="1D3557"/>
                </a:solidFill>
                <a:latin typeface="PT Serif"/>
              </a:rPr>
              <a:t>Esta es la partición modal oficial, calculada por nosotros desde los microdatos.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6681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Síntesis: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'El hogar promedio gana $688 mil': de casi nadie; la mediana habla del hogar típico.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'El 53% de los encuestados...': de la muestra; los factores de expansión hablan de la ciudad.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'1,9 viajes en promedio': solo si contamos a quienes no viajaron y no estaban en la tabla.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'El sexo es 1 o 2': sin su tabla de códigos, un número no habla de nada.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La técnica era repaso; el hábito de interrogar cada cifra es lo que se llevan.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PT Serif"/>
              </a:rPr>
              <a:t>Segundo bloque: parte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retrato de tu comuna: cada pareja adopta una comuna del Gran Santiago.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Hoy: elegir la comuna y construir su retrato numérico.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Próxima clase: el retrato gráfico, con métodos de visualización.</a:t>
            </a:r>
          </a:p>
          <a:p>
            <a:r>
              <a:rPr sz="1400" b="0">
                <a:solidFill>
                  <a:srgbClr val="6B7785"/>
                </a:solidFill>
                <a:latin typeface="PT Serif"/>
              </a:rPr>
              <a:t>     ◦  </a:t>
            </a:r>
            <a:r>
              <a:rPr sz="1400" b="0">
                <a:solidFill>
                  <a:srgbClr val="6B7785"/>
                </a:solidFill>
                <a:latin typeface="PT Serif"/>
              </a:rPr>
              <a:t>Entrega del retrato completo: jueves 10 de septiembre, por Aula.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0">
                <a:solidFill>
                  <a:srgbClr val="3A4A5C"/>
                </a:solidFill>
                <a:latin typeface="PT Serif"/>
              </a:rPr>
              <a:t>El enunciado está en evaluaciones/tareas/ y la guía de hoy en actividades/.</a:t>
            </a:r>
          </a:p>
          <a:p>
            <a:r>
              <a:rPr sz="1800" b="1">
                <a:solidFill>
                  <a:srgbClr val="E0A437"/>
                </a:solidFill>
                <a:latin typeface="PT Serif"/>
              </a:rPr>
              <a:t>▸ </a:t>
            </a:r>
            <a:r>
              <a:rPr sz="1800" b="1">
                <a:solidFill>
                  <a:srgbClr val="1D3557"/>
                </a:solidFill>
                <a:latin typeface="PT Serif"/>
              </a:rPr>
              <a:t>Lo que hagan en este bloque ya es parte de la tarea.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
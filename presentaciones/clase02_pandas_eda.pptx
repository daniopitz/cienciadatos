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PT Serif"/>
              </a:rPr>
              <a:t>¿Cómo se mueve Santiago?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PT Serif"/>
              </a:rPr>
              <a:t>Clase 2 · Pandas (repaso) y análisis exploratorio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PT Serif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PT Serif"/>
              </a:rPr>
              <a:t>INF-396 · Departamento de Informática · UTFSM · viernes 21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Qué veremos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Le haremos preguntas a la Encuesta Origen Destino de Santiago 2012.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El repaso de Pandas va en el camino: cada pregunta trae su herramienta.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Merge y sus variantes, groupby, medidas de resumen.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Lo probablemente nuevo: tablas de códigos y factores de expansión.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1">
                <a:solidFill>
                  <a:srgbClr val="1D3557"/>
                </a:solidFill>
                <a:latin typeface="PT Serif"/>
              </a:rPr>
              <a:t>En el segundo bloque parte la Tarea 1: el retrato de tu comuna.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PT Serif"/>
              </a:rPr>
              <a:t>¿De quién habla este número?</a:t>
            </a:r>
          </a:p>
          <a:p>
            <a:r>
              <a:rPr sz="1800" b="0">
                <a:solidFill>
                  <a:srgbClr val="E0A437"/>
                </a:solidFill>
                <a:latin typeface="PT Serif"/>
              </a:rPr>
              <a:t>El concepto de esta clase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La pregunta que ordena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Pandas ya lo conocen: hoy es la herramienta, no el aprendizaje.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Lo nuevo es un hábito: examinar cada cifra antes de usarla.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Un promedio puede describir una situación en la que pocos están.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Contar filas de una encuesta habla de la muestra, no de la ciudad.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Hay personas de las que la tabla no dice nada; esa ausencia informa.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1">
                <a:solidFill>
                  <a:srgbClr val="1D3557"/>
                </a:solidFill>
                <a:latin typeface="PT Serif"/>
              </a:rPr>
              <a:t>Al cierre volveremos a esta pregunta con las respuestas del día.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PT Serif"/>
              </a:rPr>
              <a:t>Los datos de hoy</a:t>
            </a:r>
          </a:p>
          <a:p>
            <a:r>
              <a:rPr sz="1800" b="0">
                <a:solidFill>
                  <a:srgbClr val="E0A437"/>
                </a:solidFill>
                <a:latin typeface="PT Serif"/>
              </a:rPr>
              <a:t>Encuesta Origen Destino de Santiago 2012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La EOD 2012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Encuesta de movilidad del Gran Santiago (SECTRA y U. Alberto Hurtado).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Registra todos los viajes de un día de los hogares encuestados.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18.264 hogares, 60.054 personas, 113.591 viajes.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Se usa en la planificación de transporte de la ciudad.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1">
                <a:solidFill>
                  <a:srgbClr val="1D3557"/>
                </a:solidFill>
                <a:latin typeface="PT Serif"/>
              </a:rPr>
              <a:t>El mismo diseño relacional de la Casen, el Censo o la ENUSC.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Una encuesta, varias tablas</a:t>
            </a:r>
          </a:p>
        </p:txBody>
      </p:sp>
      <p:pic>
        <p:nvPicPr>
          <p:cNvPr id="4" name="Picture 3" descr="05_diagrama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17" y="1143000"/>
            <a:ext cx="603376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785"/>
                </a:solidFill>
                <a:latin typeface="PT Serif"/>
              </a:rPr>
              <a:t>Los códigos no significan nada sin sus tablas de parámetros: unirlas es parte del análisis.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PT Serif"/>
              </a:rPr>
              <a:t>Repaso de Pandas</a:t>
            </a:r>
          </a:p>
          <a:p>
            <a:r>
              <a:rPr sz="1800" b="0">
                <a:solidFill>
                  <a:srgbClr val="E0A437"/>
                </a:solidFill>
                <a:latin typeface="PT Serif"/>
              </a:rPr>
              <a:t>Dos casos concretos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Caso 1: códigos que no significan nada solos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8862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personas['Sexo'].value_counts()      # 1 y 2: ¿qué son?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sexo = pd.read_csv('tablas_parametros/Sexo.csv', sep=';')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personas = personas.merge(sexo, left_on='Sexo',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right_on='Id', how='left')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personas['Sexo'].isna().sum()        # después de todo merge: contar los NaN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53949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0A437"/>
                </a:solidFill>
                <a:latin typeface="PT Serif"/>
              </a:rPr>
              <a:t>▸ </a:t>
            </a:r>
            <a:r>
              <a:rPr sz="1600" b="0">
                <a:solidFill>
                  <a:srgbClr val="3A4A5C"/>
                </a:solidFill>
                <a:latin typeface="PT Serif"/>
              </a:rPr>
              <a:t>El detalle completo, con las cuatro variantes de how, está en el notebook.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Las variantes del merge: qué filas sobreviven</a:t>
            </a:r>
          </a:p>
        </p:txBody>
      </p:sp>
      <p:pic>
        <p:nvPicPr>
          <p:cNvPr id="4" name="Picture 3" descr="07_diagrama_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730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785"/>
                </a:solidFill>
                <a:latin typeface="PT Serif"/>
              </a:rPr>
              <a:t>El valor por defecto es inner: descarta sin aviso las filas sin pareja.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La elección de how define de quién hablan los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Personas con viajes, merge inner: 113.591 filas (una por viaje).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El mismo merge en left: 127.379 filas.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La diferencia son 13.788 personas que no viajaron ese día.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Con inner desaparecen; con left quedan, con NaN en el viaje.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1">
                <a:solidFill>
                  <a:srgbClr val="1D3557"/>
                </a:solidFill>
                <a:latin typeface="PT Serif"/>
              </a:rPr>
              <a:t>Un promedio de viajes calculado sobre el inner habla solo de quienes viajan.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Caso 2: contar sin perder a los que no aparecen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viajes_por_persona = viajes.groupby(['Hogar', 'Persona']).size()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conteo = personas.set_index(['Hogar', 'Persona']).assign(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n_viajes=viajes_por_persona)['n_viajes'].fillna(0)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0A437"/>
                </a:solidFill>
                <a:latin typeface="PT Serif"/>
              </a:rPr>
              <a:t>▸ </a:t>
            </a:r>
            <a:r>
              <a:rPr sz="1600" b="0">
                <a:solidFill>
                  <a:srgbClr val="3A4A5C"/>
                </a:solidFill>
                <a:latin typeface="PT Serif"/>
              </a:rPr>
              <a:t>El groupby cuenta sobre la tabla de viajes; el fillna(0) trae de vuelta a los ausentes.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Quien no viaja también es dato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0">
                <a:solidFill>
                  <a:srgbClr val="3A4A5C"/>
                </a:solidFill>
                <a:latin typeface="PT Serif"/>
              </a:rPr>
              <a:t>El 23% de las personas no viajó ese día.</a:t>
            </a:r>
          </a:p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0">
                <a:solidFill>
                  <a:srgbClr val="3A4A5C"/>
                </a:solidFill>
                <a:latin typeface="PT Serif"/>
              </a:rPr>
              <a:t>Media: 1,9 viajes. Mediana: 2 viajes.</a:t>
            </a:r>
          </a:p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0">
                <a:solidFill>
                  <a:srgbClr val="3A4A5C"/>
                </a:solidFill>
                <a:latin typeface="PT Serif"/>
              </a:rPr>
              <a:t>Aquí la media quedó bajo la mediana: el bloque de ceros la baja.</a:t>
            </a:r>
          </a:p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1">
                <a:solidFill>
                  <a:srgbClr val="1D3557"/>
                </a:solidFill>
                <a:latin typeface="PT Serif"/>
              </a:rPr>
              <a:t>La asimetría no siempre empuja hacia el mismo lado: se mira, no se adivina.</a:t>
            </a:r>
          </a:p>
        </p:txBody>
      </p:sp>
      <p:pic>
        <p:nvPicPr>
          <p:cNvPr id="5" name="Picture 4" descr="02_viajes_por_pers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9627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PT Serif"/>
              </a:rPr>
              <a:t>¿A quién representa la encuesta?</a:t>
            </a:r>
          </a:p>
          <a:p>
            <a:r>
              <a:rPr sz="1800" b="0">
                <a:solidFill>
                  <a:srgbClr val="E0A437"/>
                </a:solidFill>
                <a:latin typeface="PT Serif"/>
              </a:rPr>
              <a:t>Los factores de expansión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De la muestra a la ciudad</a:t>
            </a:r>
          </a:p>
        </p:txBody>
      </p:sp>
      <p:pic>
        <p:nvPicPr>
          <p:cNvPr id="4" name="Picture 3" descr="06_diagrama_fa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695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785"/>
                </a:solidFill>
                <a:latin typeface="PT Serif"/>
              </a:rPr>
              <a:t>Contar filas responde por la muestra; sumar factores responde por la ciudad.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PT Serif"/>
              </a:rPr>
              <a:t>Análisis exploratorio</a:t>
            </a:r>
          </a:p>
          <a:p>
            <a:r>
              <a:rPr sz="1800" b="0">
                <a:solidFill>
                  <a:srgbClr val="E0A437"/>
                </a:solidFill>
                <a:latin typeface="PT Serif"/>
              </a:rPr>
              <a:t>¿Qué número resume bien una respuesta?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¿Cuánto gana un hogar típico?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0">
                <a:solidFill>
                  <a:srgbClr val="3A4A5C"/>
                </a:solidFill>
                <a:latin typeface="PT Serif"/>
              </a:rPr>
              <a:t>Media: $688.274. Mediana: $507.826.</a:t>
            </a:r>
          </a:p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0">
                <a:solidFill>
                  <a:srgbClr val="3A4A5C"/>
                </a:solidFill>
                <a:latin typeface="PT Serif"/>
              </a:rPr>
              <a:t>La media es un 36% más alta que la mediana.</a:t>
            </a:r>
          </a:p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0">
                <a:solidFill>
                  <a:srgbClr val="3A4A5C"/>
                </a:solidFill>
                <a:latin typeface="PT Serif"/>
              </a:rPr>
              <a:t>Los ingresos altos desplazan el promedio; la mayoría gana menos.</a:t>
            </a:r>
          </a:p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1">
                <a:solidFill>
                  <a:srgbClr val="1D3557"/>
                </a:solidFill>
                <a:latin typeface="PT Serif"/>
              </a:rPr>
              <a:t>El promedio describe una situación en la que la mayoría no está.</a:t>
            </a:r>
          </a:p>
        </p:txBody>
      </p:sp>
      <p:pic>
        <p:nvPicPr>
          <p:cNvPr id="5" name="Picture 4" descr="01_ingreso_media_medi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8943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¿Cuánto dura un viaje?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0">
                <a:solidFill>
                  <a:srgbClr val="3A4A5C"/>
                </a:solidFill>
                <a:latin typeface="PT Serif"/>
              </a:rPr>
              <a:t>Mediana: 30 minutos. Percentil 95: 98 minutos.</a:t>
            </a:r>
          </a:p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0">
                <a:solidFill>
                  <a:srgbClr val="3A4A5C"/>
                </a:solidFill>
                <a:latin typeface="PT Serif"/>
              </a:rPr>
              <a:t>Máximo registrado: 1.335 minutos, un viaje de 22 horas.</a:t>
            </a:r>
          </a:p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0">
                <a:solidFill>
                  <a:srgbClr val="3A4A5C"/>
                </a:solidFill>
                <a:latin typeface="PT Serif"/>
              </a:rPr>
              <a:t>¿Error de digitación? ¿Turno nocturno mal anotado?</a:t>
            </a:r>
          </a:p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1">
                <a:solidFill>
                  <a:srgbClr val="1D3557"/>
                </a:solidFill>
                <a:latin typeface="PT Serif"/>
              </a:rPr>
              <a:t>Los valores extremos se investigan y la decisión se declara.</a:t>
            </a:r>
          </a:p>
        </p:txBody>
      </p:sp>
      <p:pic>
        <p:nvPicPr>
          <p:cNvPr id="5" name="Picture 4" descr="04_duracion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9627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¿En qué se mueve Santiago?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0">
                <a:solidFill>
                  <a:srgbClr val="3A4A5C"/>
                </a:solidFill>
                <a:latin typeface="PT Serif"/>
              </a:rPr>
              <a:t>Dos merges y un groupby ponderado por factor.</a:t>
            </a:r>
          </a:p>
          <a:p>
            <a:r>
              <a:rPr sz="13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300" b="0">
                <a:solidFill>
                  <a:srgbClr val="6B7785"/>
                </a:solidFill>
                <a:latin typeface="PT Serif"/>
              </a:rPr>
              <a:t>Caminata: 34% de los viajes.</a:t>
            </a:r>
          </a:p>
          <a:p>
            <a:r>
              <a:rPr sz="13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300" b="0">
                <a:solidFill>
                  <a:srgbClr val="6B7785"/>
                </a:solidFill>
                <a:latin typeface="PT Serif"/>
              </a:rPr>
              <a:t>Transporte público (Bip!): 24%.</a:t>
            </a:r>
          </a:p>
          <a:p>
            <a:r>
              <a:rPr sz="13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300" b="0">
                <a:solidFill>
                  <a:srgbClr val="6B7785"/>
                </a:solidFill>
                <a:latin typeface="PT Serif"/>
              </a:rPr>
              <a:t>Auto: 23%.</a:t>
            </a:r>
          </a:p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1">
                <a:solidFill>
                  <a:srgbClr val="1D3557"/>
                </a:solidFill>
                <a:latin typeface="PT Serif"/>
              </a:rPr>
              <a:t>La partición modal de un día laboral, calculada desde los microdatos.</a:t>
            </a:r>
          </a:p>
        </p:txBody>
      </p:sp>
      <p:pic>
        <p:nvPicPr>
          <p:cNvPr id="5" name="Picture 4" descr="03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6681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¿Se mueve igual toda la ciudad?</a:t>
            </a:r>
          </a:p>
        </p:txBody>
      </p:sp>
      <p:pic>
        <p:nvPicPr>
          <p:cNvPr id="4" name="Picture 3" descr="08_modo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818" y="1143000"/>
            <a:ext cx="51203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785"/>
                </a:solidFill>
                <a:latin typeface="PT Serif"/>
              </a:rPr>
              <a:t>Normalizar por comuna permite comparar proporciones entre comunas de tamaños muy distintos.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¿El ingreso explica el uso de transporte público?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0">
                <a:solidFill>
                  <a:srgbClr val="3A4A5C"/>
                </a:solidFill>
                <a:latin typeface="PT Serif"/>
              </a:rPr>
              <a:t>Cada punto es una comuna: ingreso medio contra proporción de viajes en transporte público.</a:t>
            </a:r>
          </a:p>
          <a:p>
            <a:r>
              <a:rPr sz="13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300" b="0">
                <a:solidFill>
                  <a:srgbClr val="6B7785"/>
                </a:solidFill>
                <a:latin typeface="PT Serif"/>
              </a:rPr>
              <a:t>Periferia (Buin, Melipilla): poco transporte público porque la red no llega.</a:t>
            </a:r>
          </a:p>
          <a:p>
            <a:r>
              <a:rPr sz="13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300" b="0">
                <a:solidFill>
                  <a:srgbClr val="6B7785"/>
                </a:solidFill>
                <a:latin typeface="PT Serif"/>
              </a:rPr>
              <a:t>Ingresos altos (Vitacura, Lo Barnechea): conectadas, pero con poco uso.</a:t>
            </a:r>
          </a:p>
          <a:p>
            <a:r>
              <a:rPr sz="13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300" b="0">
                <a:solidFill>
                  <a:srgbClr val="6B7785"/>
                </a:solidFill>
                <a:latin typeface="PT Serif"/>
              </a:rPr>
              <a:t>La Pintana o Conchalí superan el 45%.</a:t>
            </a:r>
          </a:p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1">
                <a:solidFill>
                  <a:srgbClr val="1D3557"/>
                </a:solidFill>
                <a:latin typeface="PT Serif"/>
              </a:rPr>
              <a:t>Un promedio comunal también esconde variación: ¿de quién habla ese punto?</a:t>
            </a:r>
          </a:p>
        </p:txBody>
      </p:sp>
      <p:pic>
        <p:nvPicPr>
          <p:cNvPr id="5" name="Picture 4" descr="09_ingreso_vs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55136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¿Cambian las rutinas durante la semana?</a:t>
            </a:r>
          </a:p>
        </p:txBody>
      </p:sp>
      <p:pic>
        <p:nvPicPr>
          <p:cNvPr id="4" name="Picture 3" descr="10_heatmap_ruti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1108" y="1143000"/>
            <a:ext cx="588178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785"/>
                </a:solidFill>
                <a:latin typeface="PT Serif"/>
              </a:rPr>
              <a:t>El heatmap muestra 14 propósitos por 7 días en una sola figura: útil para tablas completas.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Síntesis: ¿de quién habla este número?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'El hogar promedio gana $688 mil': la mayoría gana menos; la mediana describe al hogar típico.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'El 53% de los encuestados...': habla de la muestra; los factores de expansión hablan de la ciudad.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'1,9 viajes en promedio': solo si contamos a quienes no viajaron; un inner los borra sin aviso.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'En Vitacura casi no se usa transporte público': un promedio comunal esconde la variación interna.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1">
                <a:solidFill>
                  <a:srgbClr val="1D3557"/>
                </a:solidFill>
                <a:latin typeface="PT Serif"/>
              </a:rPr>
              <a:t>La técnica era repaso; el hábito de examinar cada cifra es lo nuevo.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Segundo bloque: parte la Tarea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El retrato de tu comuna: cada pareja adopta una comuna del Gran Santiago.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Hoy: elegir la comuna y construir su retrato numérico.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Próxima clase: el retrato gráfico, con métodos de visualización.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Entrega del retrato completo: jueves 10 de septiembre, por Aula.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El enunciado está en evaluaciones/tareas/ y la guía de hoy en actividades/.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1">
                <a:solidFill>
                  <a:srgbClr val="1D3557"/>
                </a:solidFill>
                <a:latin typeface="PT Serif"/>
              </a:rPr>
              <a:t>Lo que hagan en este bloque ya es parte de la tarea.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
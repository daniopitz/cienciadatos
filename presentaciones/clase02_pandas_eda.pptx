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Análisis exploratorio de 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2 · Modelos, tipos de datos y Pandas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INF-396 · Departamento de Informática · UTFSM · viernes 21 de agosto,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Qué es un modelo.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Inferencia y predicción: dos objetivos distintos.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Correlación (Pearson y Spearman) y causalidad.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Tipos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El análisis exploratorio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Aplicación: la Encuesta Origen Destino de Santiago, con Pandas.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En el segundo bloque comienza la Tarea 1.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Marco conceptual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Modelos, inferencia y tipos de datos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es un modelo?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Una representación simplificada del proceso que genera los datos (James et al., 2023, cap. 2).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Formalmente, se postula Y = f(X) + ε: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Y es la variable de interés; X, las variables observadas.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f es la relación sistemática que se quiere estimar.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ε es el error irreducible: lo que X no explica de Y.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Ejemplo: el tiempo de un viaje en función de la distancia, el modo y la hora.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Construir un modelo implica decidir qué variables entran, qué se omite y qué se considera éxito (clase 1: esas decisiones incorporan las opiniones de quien modela).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Inferencia y predicción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Al estimar f puede buscarse una de dos cosas (James et al., cap. 2):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Inferencia: comprender la relación entre X e Y.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Qué variables se asocian con Y, con qué magnitud y signo.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La forma de f importa: se prefieren modelos interpretables.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Ejemplo: ¿cómo se asocia el nivel socioeconómico con el uso de transporte público?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Predicción: estimar Y para casos nuevos.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f puede tratarse como caja negra si predice con precisión.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Ejemplo: ¿cuántos viajes tendrá esta zona un día laboral?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En el curso: unidades 2 a 5 son descriptivas e inferenciales; unidades 6 a 9, predictivas.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coeficiente de correlación de Pearson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Mide la asociación lineal entre dos variables numéricas: qué tan bien se ajustan los puntos a una recta. Se denota r (Bruce, Bruce y Gedeck, 2020).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En la fórmula: xᵢ e yᵢ son los valores del par i; x̄ e ȳ, sus medias; n, el número de pares.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r = 1: recta creciente exacta; r = -1: decreciente exacta.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r = 0: sin asociación lineal (puede existir asociación de otra forma).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Su cuadrado anticipa el R² de la regresión (unidad 7).</a:t>
            </a:r>
          </a:p>
        </p:txBody>
      </p:sp>
      <p:pic>
        <p:nvPicPr>
          <p:cNvPr id="5" name="Picture 4" descr="16_pearson_re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46573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Antes de Spearman: cómo se calculan los rangos</a:t>
            </a:r>
          </a:p>
        </p:txBody>
      </p:sp>
      <p:pic>
        <p:nvPicPr>
          <p:cNvPr id="4" name="Picture 3" descr="20_rangos_ejemp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5523" y="1143000"/>
            <a:ext cx="5872953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variable se ordena por separado y cada valor recibe su posición; d compara las posiciones de un mismo viaje.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coeficiente de Spearman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El mismo Pearson, calculado sobre los rangos: la posición de cada valor al ordenar (1 = el menor). Se denota ρ (rho).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En la fórmula: dᵢ es la diferencia entre los rangos del caso i en ambas variables; n, el número de pares. Vale sin empates.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Los valores 5, 12, 8 y 200 tienen rangos 1, 3, 2 y 4: la magnitud desaparece, queda el orden.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Mide asociación monotónica: robusto a extremos, invariante ante transformaciones monótonas, válido para ordinales.</a:t>
            </a:r>
          </a:p>
        </p:txBody>
      </p:sp>
      <p:pic>
        <p:nvPicPr>
          <p:cNvPr id="5" name="Picture 4" descr="17_spearman_rang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52714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correlación, vista en los datos completos</a:t>
            </a:r>
          </a:p>
        </p:txBody>
      </p:sp>
      <p:pic>
        <p:nvPicPr>
          <p:cNvPr id="4" name="Picture 3" descr="12_scatter_distancia_tiem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4" y="1143000"/>
            <a:ext cx="458197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mediana por tramo sube de forma sostenida (Spearman 0,76) pero no recta y con extremos (Pearson 0,43).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Cuando la relación no es lineal, el coeficiente puede ocultarla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Los viajes por persona según la edad: suben hasta los 30 a 40 años y luego bajan.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asociación es clara, pero r = 0,04 y ρ = 0,05.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La relación no es monótona: el tramo que sube y el que baja se cancelan.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Ni Pearson ni Spearman están diseñados para esta forma.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Un coeficiente cercano a cero no demuestra ausencia de asociación: el gráfico sí la muestra.</a:t>
            </a:r>
          </a:p>
        </p:txBody>
      </p:sp>
      <p:pic>
        <p:nvPicPr>
          <p:cNvPr id="5" name="Picture 4" descr="19_edad_viaj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47952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¿Cuándo usar cada coeficiente?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Pearson: relación aproximadamente recta, sin extremos dominantes; antesala del modelo lineal.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Spearman: asimetrías, extremos, curvas crecientes, o variables ordinales.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La brecha entre ambos es un diagnóstico: 0,43 contra 0,76 indica curva o extremos.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Tras el logaritmo, Pearson llega a 0,73, casi igual a Spearman.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Calcule ambos; si difieren mucho, mire el gráfico antes de reportar.</a:t>
            </a:r>
          </a:p>
        </p:txBody>
      </p:sp>
      <p:pic>
        <p:nvPicPr>
          <p:cNvPr id="5" name="Picture 4" descr="18_log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35092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Correlación y causalidad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Causalidad: intervenir X cambiaría Y. Es una afirmación más fuerte que la asociación.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Una asociación observada admite varias explicaciones: X causa Y, Y causa X, o una variable de confusión Z afecta a ambas.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Los datos observacionales, como los de una encuesta, muestran asociación; no bastan para establecer causalidad.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La inferencia causal tiene métodos propios; este curso no los cubre.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Regla de trabajo: una asociación se reporta como asociación, sin verbos causales que los datos no respaldan.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Tipos de datos</a:t>
            </a:r>
          </a:p>
        </p:txBody>
      </p:sp>
      <p:pic>
        <p:nvPicPr>
          <p:cNvPr id="4" name="Picture 3" descr="11_diagrama_ti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5807" y="1143000"/>
            <a:ext cx="501238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tipo de la variable determina qué operaciones tienen sentido (Bruce, Bruce y Gedeck, 2020, cap. 1).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tipo estadístico no es el tipo computacional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 el sexo viene codificado 1 o 2: para Pandas es un entero (int64).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tipo computacional permite operar; el tipo estadístico decide si la operación significa algo.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El promedio de Sexo en la EOD es 1,53: aritméticamente correcto, sin significado.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El promedio de Edad sí es interpretable: la variable es numérica.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Identificar el tipo de cada variable es un paso del análisis, no una formalidad.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análisis exploratorio de datos (EDA)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etapa en que se examinan los datos antes de modelarlos (EDA, por exploratory data analysis; Tukey, 1977).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Responde cuatro tipos de pregunta: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La forma: cómo se distribuye cada variable.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Lo típico y lo extremo: qué es frecuente y qué es anómalo.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Lo que falta: qué datos están ausentes y con qué patrón.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Las relaciones: qué variables se asocian con qué otras.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Genera hipótesis; el análisis confirmatorio (unidad 5) las pone a prueba.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Una pregunta transversal para toda cifra resumen: ¿de quién habla este número? ¿De la muestra, de un subgrupo, de la ciudad?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Los datos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Encuesta Origen Destino de Santiago 2012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EOD 2012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Encuesta de movilidad del Gran Santiago (SECTRA y U. Alberto Hurtado).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Registra todos los viajes de un día de los hogares encuestados.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18.264 hogares, 60.054 personas, 113.591 viajes.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Se usa en la planificación de transporte de la ciudad.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mismo diseño relacional de la Casen, el Censo o la ENUSC.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encuesta, varias tablas</a:t>
            </a:r>
          </a:p>
        </p:txBody>
      </p:sp>
      <p:pic>
        <p:nvPicPr>
          <p:cNvPr id="4" name="Picture 3" descr="05_diagrama_tabl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3651" y="1143000"/>
            <a:ext cx="603669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Llaves: Hogar · Hogar + Persona · Hogar + Persona + Viaje. Los códigos se resuelven contra tablas_parametros/.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Repaso de Pandas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Dos casos concretos con la EOD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DataFrame: la estructura central de Pandas</a:t>
            </a:r>
          </a:p>
        </p:txBody>
      </p:sp>
      <p:pic>
        <p:nvPicPr>
          <p:cNvPr id="4" name="Picture 3" descr="13_datafr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5378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códigos (ComunaOrigen, Proposito) se resuelven contra tablas_parametros/ con merge.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DataFrame: origen y propiedades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Estructura tabular bidimensional: columnas con nombre y tipo propio, filas indexadas.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concepto viene del lenguaje S: los objetos data.frame (Chambers y Hastie, 1992). Wes McKinney lo llevó a Python con pandas (McKinney, 2010).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Cada columna es un arreglo tipado contiguo: las operaciones son vectorizadas, no ciclos de Python.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El índice alinea los datos automáticamente en operaciones entre tablas y series.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Implementa el álgebra relacional en memoria: selección, proyección, join (merge) y agregación (groupby).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interfaz se volvió un estándar: Spark, Polars y Dask implementan DataFrames con esta misma idea.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Abrir el dataset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import pandas as pd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 = pd.read_csv('datos/eod_stgo/viajes.csv',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  sep=';', decimal=',')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Todo el código de la clase está en el notebook 02_pandas_eda.ipynb del repositorio.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variantes del merge: qué filas se conservan</a:t>
            </a:r>
          </a:p>
        </p:txBody>
      </p:sp>
      <p:pic>
        <p:nvPicPr>
          <p:cNvPr id="4" name="Picture 3" descr="07_diagrama_mer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972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valor por defecto es inner: descarta sin aviso las filas sin pareja.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efecto del parámetro how sobre la población analizada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Personas con viajes, merge inner: 113.591 filas (una por viaje).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mismo merge en left: 127.379 filas.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La diferencia son 13.788 personas que no viajaron ese día.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Con inner desaparecen; con left quedan, con NaN en el viaje.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 promedio calculado sobre el resultado del inner excluye a quienes no viajaron.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Exploración de la EOD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EDA sobre la EOD: estadística descriptiva ponderada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factores de expansión: de la muestra a la ciudad</a:t>
            </a:r>
          </a:p>
        </p:txBody>
      </p:sp>
      <p:pic>
        <p:nvPicPr>
          <p:cNvPr id="4" name="Picture 3" descr="06_diagrama_fact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7123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Contar filas responde por la muestra; sumar factores responde por la ciudad.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Viajes por persona: los ausentes también cuentan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El 23% de las personas no viajó ese día.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Media: 1,9 viajes. Mediana: 2 viajes.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media quedó bajo la mediana: la masa de ceros la desplaza.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La dirección del sesgo depende de la forma de la distribución.</a:t>
            </a:r>
          </a:p>
        </p:txBody>
      </p:sp>
      <p:pic>
        <p:nvPicPr>
          <p:cNvPr id="5" name="Picture 4" descr="02_viajes_por_perso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199656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ingreso de los hogares: media y mediana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Media: $688.274. Mediana: $507.826.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media es un 36% más alta que la mediana.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Los ingresos altos desplazan el promedio; la mayoría gana menos.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El promedio describe una situación en la que la mayoría no está.</a:t>
            </a:r>
          </a:p>
        </p:txBody>
      </p:sp>
      <p:pic>
        <p:nvPicPr>
          <p:cNvPr id="5" name="Picture 4" descr="01_ingreso_media_media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182719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duración de los viajes: valores extremos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Mediana: 30 minutos. Percentil 95: 98 minutos.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Máximo registrado: 1.335 minutos, un viaje de 22 horas.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¿Error de digitación? ¿Turno nocturno mal anotado?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Los valores extremos se investigan y la decisión se declara.</a:t>
            </a:r>
          </a:p>
        </p:txBody>
      </p:sp>
      <p:pic>
        <p:nvPicPr>
          <p:cNvPr id="5" name="Picture 4" descr="04_duracion_viaj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170536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partición modal del Gran Santiago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Dos merges y un groupby ponderado por factor.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Caminata: 34% de los viajes.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Transporte público (Bip!): 24%.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Auto: 23%.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Calculada desde los microdatos, con los factores de un día laboral.</a:t>
            </a:r>
          </a:p>
        </p:txBody>
      </p:sp>
      <p:pic>
        <p:nvPicPr>
          <p:cNvPr id="5" name="Picture 4" descr="03_reparto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1909061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reparto modal difiere entre comunas</a:t>
            </a:r>
          </a:p>
        </p:txBody>
      </p:sp>
      <p:pic>
        <p:nvPicPr>
          <p:cNvPr id="4" name="Picture 3" descr="08_modo_por_comu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4250" y="1143000"/>
            <a:ext cx="5155498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Normalizar por comuna permite comparar proporciones entre comunas de tamaños muy distintos.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Ingreso y uso de transporte público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Cada punto es una comuna: ingreso medio contra proporción de viajes en transporte público.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Periferia (Buin, Melipilla): poco transporte público; la red no llega.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Ingresos altos (Vitacura, Lo Barnechea): conectadas, con poco uso.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Correlación de Pearson: -0,17. La asociación lineal es débil.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Como vimos en el marco conceptual: el coeficiente no reemplaza al gráfico, y la asociación no autoriza verbos causales.</a:t>
            </a:r>
          </a:p>
        </p:txBody>
      </p:sp>
      <p:pic>
        <p:nvPicPr>
          <p:cNvPr id="5" name="Picture 4" descr="09_ingreso_vs_t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526979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propósitos de viaje según el día de la semana</a:t>
            </a:r>
          </a:p>
        </p:txBody>
      </p:sp>
      <p:pic>
        <p:nvPicPr>
          <p:cNvPr id="4" name="Picture 3" descr="10_heatmap_ruti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9319" y="1143000"/>
            <a:ext cx="584536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heatmap muestra 14 propósitos por 7 días en una sola figura: útil para tablas completas.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Cuando los datos crecen</a:t>
            </a:r>
          </a:p>
        </p:txBody>
      </p:sp>
      <p:pic>
        <p:nvPicPr>
          <p:cNvPr id="4" name="Picture 3" descr="14_escala_da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2491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PySpark se usa con SQL o con sus propios DataFrames; Dask reparte operaciones estilo Pandas; Polars y DuckDB rinden en una sola máquina.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modelo es una simplificación con decisiones incorporadas; estimarlo puede buscar inferencia o predicción.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Las asociaciones se reportan como asociaciones: la causalidad exige más que datos observacionales.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tipo de la variable, no su dtype, determina qué resúmenes tienen sentido.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distribuciones asimétricas, la mediana y los percentiles describen mejor lo típico que la media.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Ante toda cifra resumen: ¿de quién habla este número? ¿Muestra, subgrupo o ciudad?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Segundo bloque: comienza la Tarea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retrato de tu comuna: cada pareja adopta una comuna del Gran Santiago.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Hoy: elegir la comuna y construir su retrato numérico.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Próxima clase: el retrato gráfico, con métodos de visualización.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Entrega del retrato completo: jueves 10 de septiembre, por Aula.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enunciado está en evaluaciones/tareas/ y la guía de hoy en actividades/.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Lo que avancen en este bloque ya es parte de la tarea.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James, G., Witten, D., Hastie, T. y Tibshirani, R. (2023). An Introduction to Statistical Learning with Applications in Python. Springer. Capítulo 2. Descarga gratuita en statlearning.com.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Bruce, P., Bruce, A. y Gedeck, P. (2020). Practical Statistics for Data Scientists, 2ª ed. O'Reilly. Capítulo 1.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Chambers, J. M. y Hastie, T. J. (1992). Statistical Models in S. Wadsworth &amp; Brooks/Cole.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McKinney, W. (2010). Data Structures for Statistical Computing in Python. Proceedings of the 9th Python in Science Conference.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SECTRA (2014). Encuesta Origen Destino de Viajes Santiago 2012.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Material inspirado en el curso de visualización de E. Graells-Garrido (github.com/zorzalerrante/aves).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
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Análisis exploratorio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Modelos, tipos de datos y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 y predicción: dos objetivos distintos.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Correlación (Pearson y Spearman) y causalidad.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Aplicación: la Encuesta Origen Destino de Santiago, con Pandas.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concepto de la clase es el EDA: examinar los datos antes de modelarlos. Los puntos 1 a 4 son sus definiciones de base; el punto 6 lo aplica a la EOD.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Marco conceptual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Modelos, inferencia y tipos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 modelo?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representación simplificada del proceso que genera los datos (James et al., 2023, cap. 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Formalmente, se postula Y = f(X) + ε: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Y es la variable de interés; X, las variables observadas.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es la relación sistemática que se quiere estimar.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ε es el error irreducible: lo que X no explica de 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el tiempo de un viaje en función de la distancia, el modo y la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Construir un modelo implica decidir qué variables entran, qué se omite y qué se considera éxito (clase 1: esas decisiones incorporan las opiniones de quien modela).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Inferencia y predicción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estimar f puede buscarse una de dos cosas (James et al., cap. 2):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Inferencia: comprender la relación entre X e Y.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Qué variables se asocian con Y, con qué magnitud y signo.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 de f importa: se prefieren modelos interpretables.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¿cómo se asocia el nivel socioeconómico con el uso de transporte público?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Predicción: estimar Y para casos nuevos.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puede tratarse como caja negra si predice con precisión.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¿cuántos viajes tendrá esta zona un día laboral?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curso: unidades 2 a 5 son descriptivas e inferenciales; unidades 6 a 9, predictivas.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Mide la asociación lineal entre dos variables numéricas: qué tan bien se ajustan los puntos a una recta. Se denota r (Bruce, Bruce y Gedeck,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xᵢ e yᵢ son los valores del par i; x̄ e ȳ, sus medias; n, el número de pares.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1: recta creciente exacta; r = -1: decreciente exacta.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0: sin asociación lineal (puede existir asociación de otra forma).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Su cuadrado anticipa el R² de la regresión (unidad 7).</a:t>
            </a:r>
          </a:p>
        </p:txBody>
      </p:sp>
      <p:pic>
        <p:nvPicPr>
          <p:cNvPr id="5" name="Picture 4" descr="16_pears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657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Spearman: cómo se calculan los rangos</a:t>
            </a:r>
          </a:p>
        </p:txBody>
      </p:sp>
      <p:pic>
        <p:nvPicPr>
          <p:cNvPr id="4" name="Picture 3" descr="20_rangos_ejemp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523" y="1143000"/>
            <a:ext cx="587295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 mismo viaje.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Spearman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mismo Pearson, calculado sobre los rangos: la posición de cada valor al ordenar (1 = el menor). Se denota ρ (rho).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dᵢ es la diferencia entre los rangos del caso i en ambas variables; n, el número de pares. Vale sin empates.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Los valores 5, 12, 8 y 200 tienen rangos 1, 3, 2 y 4: la magnitud desaparece, queda el orden.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Mide asociación monotónica: robusto a extremos, invariante ante transformaciones monótonas, válido para ordinales.</a:t>
            </a:r>
          </a:p>
        </p:txBody>
      </p:sp>
      <p:pic>
        <p:nvPicPr>
          <p:cNvPr id="5" name="Picture 4" descr="17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271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correlación, vista en los datos completos</a:t>
            </a:r>
          </a:p>
        </p:txBody>
      </p:sp>
      <p:pic>
        <p:nvPicPr>
          <p:cNvPr id="4" name="Picture 3" descr="12_scatter_distancia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4" y="1143000"/>
            <a:ext cx="458197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mediana por tramo sube de forma sostenida (Spearman 0,76) pero no recta y con extremos (Pearson 0,43).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la relación no es lineal, el coeficiente puede ocultarla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viajes por persona según la edad: suben hasta los 30 a 40 años y luego bajan.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asociación es clara, pero r = 0,04 y ρ = 0,05.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relación no es monótona: el tramo que sube y el que baja se cancelan.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Ni Pearson ni Spearman están diseñados para esta forma.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coeficiente cercano a cero no demuestra ausencia de asociación: el gráfico sí la muestra.</a:t>
            </a:r>
          </a:p>
        </p:txBody>
      </p:sp>
      <p:pic>
        <p:nvPicPr>
          <p:cNvPr id="5" name="Picture 4" descr="19_edad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795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usar cada coeficiente?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Pearson: relación aproximadamente recta, sin extremos dominantes; antesala del modelo lineal.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Spearman: asimetrías, extremos, curvas crecientes, o variables ordinales.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brecha entre ambos es un diagnóstico: 0,43 contra 0,76 indica curva o extremos.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Tras el logaritmo, Pearson llega a 0,73, casi igual a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Calcule ambos; si difieren mucho, mire el gráfico antes de reportar.</a:t>
            </a:r>
          </a:p>
        </p:txBody>
      </p:sp>
      <p:pic>
        <p:nvPicPr>
          <p:cNvPr id="5" name="Picture 4" descr="18_log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3509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Causalidad: intervenir X cambiaría Y. Es una afirmación más fuerte que la asociación.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asociación observada admite varias explicaciones: X causa Y, Y causa X, o una variable de confusión Z afecta a ambas.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datos observacionales, como los de una encuesta, muestran asociación; no bastan para establecer causalidad.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inferencia causal tiene métodos propios; este curso no los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Regla de trabajo: 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datos</a:t>
            </a:r>
          </a:p>
        </p:txBody>
      </p:sp>
      <p:pic>
        <p:nvPicPr>
          <p:cNvPr id="4" name="Picture 3" descr="11_diagrama_ti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807" y="1143000"/>
            <a:ext cx="501238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tipo de la variable determina qué operaciones tienen sentido (Bruce, Bruce y Gedeck, 2020, cap. 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tipo estadístico no es el tipo computacional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el sexo viene codificado 1 o 2: para Pandas es un entero (int64).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computacional permite operar; el tipo estadístico decide si la operación significa algo.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Sexo en la EOD es 1,53: aritméticamente correcto, sin significado.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Edad sí es interpretable: la variable es numérica.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Identificar el tipo de cada variable es un paso del análisis, no una formalidad.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en que se examinan los datos antes de modelarlos (EDA, por exploratory data analysis; Tukey, 1977).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Responde cuatro tipos de pregunta: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forma: cómo se distribuye cada variable.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típico y lo extremo: qué es frecuente y qué es anómalo.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que falta: qué datos están ausentes y con qué patrón.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Las relaciones: qué variables se asocian con qué otras.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 hipótesis; el análisis confirmatorio (unidad 5) las pone a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pregunta transversal para toda cifra resumen: ¿de quién habla este número? ¿De la muestra, de un subgrupo, de la ciudad?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Encuesta de movilidad del Gran Santiago (SECTRA y U. Alberto Hurtado).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Registra todos los viajes de un día de los hogares encuestados.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18.264 hogares, 60.054 personas, 113.591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 usa en la planificación de transporte de la ciudad.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Llaves: Hogar · Hogar + Persona · Hogar + Persona + Viaje. Los códigos se resuelven contra tablas_parametros/.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 con la EOD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la estructura central de Pandas</a:t>
            </a:r>
          </a:p>
        </p:txBody>
      </p:sp>
      <p:pic>
        <p:nvPicPr>
          <p:cNvPr id="4" name="Picture 3" descr="13_data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53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códigos (ComunaOrigen, Proposito) se resuelven contra tablas_parametros/ con merge.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origen y propiedades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 tabular bidimensional: columnas con nombre y tipo propio, filas indexadas.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concepto viene del lenguaje S: los objetos data.frame (Chambers y Hastie, 1992). Wes McKinney lo llevó a Python con pandas (McKinney, 2010).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Cada columna es un arreglo tipado y contiguo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Por eso las operaciones se ejecutan en código compilado sobre la columna completa, en vez de interpretar un ciclo elemento por elemento: sumar TiempoViaje toma 0,08 ms contra 7 ms del ciclo equivalente.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índice alinea los datos automáticamente en operaciones entre tablas y series.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Implementa el álgebra relacional en memoria: selección, proyección, join (merge) y agregación (groupby).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interfaz se volvió un estándar: Spark, Polars y Dask implementan DataFrames con esta misma idea.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Abrir el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pd.read_csv('datos/eod_stgo/viajes.csv',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sep=';', decimal=',')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Todo el código de la clase está en el notebook 02_pandas_eda.ipynb del repositorio.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se conservan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Personas con viajes, merge inner: 113.591 filas (una por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mismo merge en left: 127.379 filas.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diferencia son 13.788 personas que no viajaron ese día.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 inner desaparecen; con left quedan, con NaN en el viaje.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Exploración de la EOD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EDA sobre la EOD: estadística descriptiva ponderada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factores de expansión: 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expansión, formalmente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persona encuestada i trae un factor de expansión wᵢ (el factor de la persona): cuántas personas de la ciudad representa.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a una persona le corresponde un factor de 100, esa fila del dataset representa a 100 personas reales de Santiago con características similares.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Sumar los factores estima el tamaño de la población; ponderar por ellos, sus medias (Horvitz y Thompson, 1952).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Se usa el factor de la unidad analizada: Factor (hogar), Factor_LaboralNormal (persona), FactorLaboralNormal (viaje).</a:t>
            </a:r>
          </a:p>
        </p:txBody>
      </p:sp>
      <p:pic>
        <p:nvPicPr>
          <p:cNvPr id="5" name="Picture 4" descr="21_factor_formu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9404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Primero definir la población, luego ponderar</a:t>
            </a:r>
          </a:p>
        </p:txBody>
      </p:sp>
      <p:pic>
        <p:nvPicPr>
          <p:cNvPr id="4" name="Picture 3" descr="22_definir_pobl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389" y="1143000"/>
            <a:ext cx="5287220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cifra ingenua mezcla fin de semana y temporada estival; restringir al día laboral normal da 16,2 % y ponderar dentro de ese universo, 15,1 %.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Viajes por persona: los ausentes también cuentan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Quien no viajó no está en la tabla de viajes: hay que reincorporarlo antes de calcular.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Ponderado: el 15% de las personas no viajó; media de 2,2 viajes, mediana de 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59% de la población hace exactamente 2 viajes: la ida y la vuelta.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cifra ingenua decía 23%: mezclaba días de fin de semana y omitía los factores.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335791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ingreso de los hogares: 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Ponderado por el factor del hogar: media $729.898, mediana $520.000.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es un 40% más alta que la mediana.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ingresos altos desplazan el promedio; la mayoría gana menos.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1954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reparto modal difiere entre comunas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propósitos de viaje según el día de la semana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319" y="1143000"/>
            <a:ext cx="5845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los datos crecen</a:t>
            </a:r>
          </a:p>
        </p:txBody>
      </p:sp>
      <p:pic>
        <p:nvPicPr>
          <p:cNvPr id="4" name="Picture 3" descr="14_escala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4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PySpark se usa con SQL o con sus propios DataFrames; Dask reparte operaciones estilo Pandas; Polars y DuckDB rinden en una sola máquina.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es una simplificación con decisiones incorporadas; estimarlo puede buscar inferencia o predicción.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asociaciones se reportan como asociaciones: la causalidad exige más que datos observacionales.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la variable, no su dtype, determina qué resúmenes tienen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distribuciones asimétricas, la mediana y los percentiles describen mejor lo típico que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encuesta, primero se define la población y luego se pondera por los factores: la cifra ingenua del 23% sin viajes era en realidad un 15%.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concepto de la clase: el EDA, examinar los datos antes de modelarlos, preguntando ante cada cifra de quién habla.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comienza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retrato de tu comuna: cada pareja adopta una comuna del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Hoy: elegir la comuna y construir su retrato numérico.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Próxima clase: el retrato gráfico, con métodos de visualización.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Entrega del retrato completo: jueves 10 de septiembre,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está en evaluaciones/tareas/ y la guía de hoy en actividades/.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avancen en este bloque ya es parte de la tarea.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James, G., Witten, D., Hastie, T. y Tibshirani, R. (2023). An Introduction to Statistical Learning with Applications in Python. Springer. Capítulo 2. Descarga gratuita en statlearning.com.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Bruce, P., Bruce, A. y Gedeck, P. (2020). Practical Statistics for Data Scientists, 2ª ed. O'Reilly. Capítulo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Horvitz, D. G. y Thompson, D. J. (1952). A Generalization of Sampling Without Replacement from a Finite Universe. JASA 47(260).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Chambers, J. M. y Hastie, T. J. (1992). Statistical Models in S. Wadsworth &amp; Brooks/Cole.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McKinney, W. (2010). Data Structures for Statistical Computing in Python. Proceedings of the 9th Python in Science Conference.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SECTRA (2014). Encuesta Origen Destino de Viajes Santiago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Material inspirado en el curso de visualización de E. Graells-Garrido (github.com/zorzalerrante/aves).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
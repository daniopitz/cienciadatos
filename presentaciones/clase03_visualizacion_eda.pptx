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gif" ContentType="image/gif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</p:sldIdLst>
  <p:sldSz cx="9144000" cy="5138928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2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5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6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0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1.gif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5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jpg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2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4.png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5.png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6.png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7.png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8.png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9.png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0.png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1.png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3B4B9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04088" y="1252728"/>
            <a:ext cx="7744968" cy="12984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200" b="1">
                <a:solidFill>
                  <a:srgbClr val="FFFFFF"/>
                </a:solidFill>
                <a:latin typeface="Fira Sans"/>
              </a:rPr>
              <a:t>Visualización y análisis exploratorio gráfico</a:t>
            </a:r>
          </a:p>
        </p:txBody>
      </p:sp>
      <p:sp>
        <p:nvSpPr>
          <p:cNvPr id="4" name="Rectangle 3"/>
          <p:cNvSpPr/>
          <p:nvPr/>
        </p:nvSpPr>
        <p:spPr>
          <a:xfrm>
            <a:off x="1975104" y="2651760"/>
            <a:ext cx="5202936" cy="521207"/>
          </a:xfrm>
          <a:prstGeom prst="rect">
            <a:avLst/>
          </a:prstGeom>
          <a:solidFill>
            <a:srgbClr val="E0A43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1D3557"/>
                </a:solidFill>
                <a:latin typeface="Fira Sans"/>
              </a:rPr>
              <a:t>Clase 3 · Marcas y canales, dispersión, boxplots y calidad de datos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3547872"/>
            <a:ext cx="7744968" cy="8961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0">
                <a:solidFill>
                  <a:srgbClr val="FFFFFF"/>
                </a:solidFill>
                <a:latin typeface="Fira Sans"/>
              </a:rPr>
              <a:t>Daniela Opitz</a:t>
            </a:r>
          </a:p>
          <a:p>
            <a:r>
              <a:rPr sz="1300" b="0">
                <a:solidFill>
                  <a:srgbClr val="B8C4D4"/>
                </a:solidFill>
                <a:latin typeface="Fira Sans"/>
              </a:rPr>
              <a:t>INF-396 · Departamento de Informática · UTFSM · viernes 28 de agosto,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Contenidos de la clase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1. Codificación visual: marcas y canales.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2. La percepción: qué canal es más efectivo, y cómo se sabe.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3. El color: canales y paletas.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4. Ejemplos: barras, áreas y tortas.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5. EDA descriptivo: dispersión y forma de una variable.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6. El boxplot y los valores atípicos.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7. Calidad y limpieza de datos.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Codificación visual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Cómo un dato se convierte en un elemento gráfico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codificación visual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codificación visual es el proceso de asignar propiedades gráficas (posición, forma, color, tamaño) a los atributos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Ese proceso se describe con dos piezas: marcas y canales (Munzner, 2014, cap. 5).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marcas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Una marca es el elemento geométrico básico que representa una observación o un vínculo.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Punto: una observación (cada viaje del scatter).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Línea: una conexión o una trayectoria.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una región (una barra, una comuna en un mapa).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Las marcas son los bloques de construcción; por sí solas todavía no codifican valores.</a:t>
            </a:r>
          </a:p>
        </p:txBody>
      </p:sp>
      <p:pic>
        <p:nvPicPr>
          <p:cNvPr id="5" name="Picture 4" descr="s07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662897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Un canal controla la apariencia de una marca: posición, largo, área, forma, inclinación,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Se combinan: una misma marca puede llevar varios canales a la vez (posición y color, por ejemplo).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Interactúan con la marca: el tipo de marca determina qué canales admite (una línea tiene largo; un punto, no).</a:t>
            </a:r>
          </a:p>
        </p:txBody>
      </p:sp>
      <p:pic>
        <p:nvPicPr>
          <p:cNvPr id="5" name="Picture 4" descr="s09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90077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Canales de forma e inclinación</a:t>
            </a:r>
          </a:p>
        </p:txBody>
      </p:sp>
      <p:pic>
        <p:nvPicPr>
          <p:cNvPr id="4" name="Picture 3" descr="s0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75945" y="1143000"/>
            <a:ext cx="319210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Cada canal define una familia de variaciones perceptibles de la marca.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Marcas y canales, combinados</a:t>
            </a:r>
          </a:p>
        </p:txBody>
      </p:sp>
      <p:pic>
        <p:nvPicPr>
          <p:cNvPr id="4" name="Picture 3" descr="canales_combina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6982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Un gráfico se describe como: qué marca usa, y qué canal codifica cada variable. Agregar una variable es agregar un canal sobre la misma marca.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Principios de diseño: efectividad y expresividad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Efectividad: codificar los atributos más importantes de los datos con los canales más efectivos.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Expresividad: coherencia entre el tipo de canal (magnitud o identidad) y la semántica del atributo (cuantitativo, ordinal, categórico).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Aplicar ambos exige saber qué canales son más efectivos y de qué tipo es cada uno: eso lo responde la percepción, a continuación.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¿Qué canal usar? La percepción se puede medir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No todos los canales se perciben igual de bien, y eso se ha medido en experimentos controlados.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Cuatro propiedades para comparar canales: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Precisión: qué tan fiel es la percepción al valor real.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Discriminabilidad: cuántos niveles distintos se alcanzan a distinguir.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Separabilidad: si dos canales juntos se leen por separado o se interfieren.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4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400" b="0">
                <a:solidFill>
                  <a:srgbClr val="333333"/>
                </a:solidFill>
                <a:latin typeface="Fira Sans"/>
              </a:rPr>
              <a:t>Saliencia: qué tan fácil es detectar un cambio a simple vista.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Precisión: la ley de Stevens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sensación percibida crece como una potencia del estímulo físico: S = Iⁿ.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Largo: n ≈ 1, se percibe casi proporcional.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Área: n ≈ 0,7 y brillo: n ≈ 0,5, se subestiman.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Consecuencia directa: comparar largos (barras) es más preciso que comparar áreas o colores.</a:t>
            </a:r>
          </a:p>
        </p:txBody>
      </p:sp>
      <p:pic>
        <p:nvPicPr>
          <p:cNvPr id="5" name="Picture 4" descr="s1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543229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Cuántos valores distintos de un canal se pueden percibir y cuantificar.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En el mapa, el grosor de cada línea codifica el tamaño del flujo telefónico entre dos países, y se usan solo tres grosores.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¿Qué pasaría si fuesen 10 grosores? ¿Diferenciaríamos valores intermedios?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Si el atributo tiene más niveles que los que el canal distingue, conviene agrupar o cambiar de canal.</a:t>
            </a:r>
          </a:p>
        </p:txBody>
      </p:sp>
      <p:pic>
        <p:nvPicPr>
          <p:cNvPr id="5" name="Picture 4" descr="s1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49795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Discriminabilidad: ¿cuánto es el doble?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el largo, una barra del doble se lee como el doble.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la saturación, nadie puede decir cuánto más rojo es el segundo cuadrado: se percibe la diferencia, no la cantidad.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Diagrama: Denis Parra.</a:t>
            </a:r>
          </a:p>
        </p:txBody>
      </p:sp>
      <p:pic>
        <p:nvPicPr>
          <p:cNvPr id="5" name="Picture 4" descr="s14_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912579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14827" y="1143000"/>
            <a:ext cx="4314344" cy="315468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74331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590970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¿cuántos grupos pueden identificar?</a:t>
            </a:r>
          </a:p>
        </p:txBody>
      </p:sp>
      <p:pic>
        <p:nvPicPr>
          <p:cNvPr id="4" name="Picture 3" descr="sep_paso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1196989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Separabilidad: la respuesta</a:t>
            </a:r>
          </a:p>
        </p:txBody>
      </p:sp>
      <p:pic>
        <p:nvPicPr>
          <p:cNvPr id="4" name="Picture 3" descr="s1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11787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Posición con tonalidad se leen por separado y los grupos saltan a la vista; tamaño con tonalidad interfiere, y ancho con alto o rojo con verde se perciben como un solo canal. Al combinar canales hay que verificar que sigan siendo legibles por separado.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Saliencia (pop-out)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Qué tan fácil es detectar un cambio de un canal a simple vista, sin buscar.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No depende solo del canal: también del contexto y de lo que rodea a la visualización.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velocidad de detección sí depende del canal y de cómo interactúa con otros canales (segunda columna de la figura).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color y el movimiento destacan de inmediato; úselos para lo que de verdad importa destacar.</a:t>
            </a:r>
          </a:p>
        </p:txBody>
      </p:sp>
      <p:pic>
        <p:nvPicPr>
          <p:cNvPr id="5" name="Picture 4" descr="s2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281522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canales, ordenados por efectividad</a:t>
            </a:r>
          </a:p>
        </p:txBody>
      </p:sp>
      <p:pic>
        <p:nvPicPr>
          <p:cNvPr id="4" name="Picture 3" descr="s22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0733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Canales de identidad para atributos categóricos; canales de magnitud para ordinales y cuantitativos. Dentro de cada grupo, ordenados de más a menos efectivo (Munzner, 2014).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color son tres canales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modelo HSL separa el color en tono (hue), saturación y luminosidad, y cada uno funciona como un canal distinto.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Tono: canal de identidad, para categorías.</a:t>
            </a:r>
          </a:p>
          <a:p>
            <a:pPr>
              <a:lnSpc>
                <a:spcPct val="112000"/>
              </a:lnSpc>
              <a:spcAft>
                <a:spcPts val="5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     ◦  </a:t>
            </a:r>
            <a:r>
              <a:rPr sz="1300" b="0">
                <a:solidFill>
                  <a:srgbClr val="333333"/>
                </a:solidFill>
                <a:latin typeface="Fira Sans"/>
              </a:rPr>
              <a:t>Luminosidad y saturación: canales de magnitud, para cantidades.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Elegir colores no es una decisión estética: es elegir qué canal codifica qué atributo.</a:t>
            </a:r>
          </a:p>
        </p:txBody>
      </p:sp>
      <p:pic>
        <p:nvPicPr>
          <p:cNvPr id="5" name="Picture 4" descr="s26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794389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secuencial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gradación, de menos a más: un tono con luminosidad creciente.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paleta de un mapa de ingresos por comuna, o de los heatmaps de la clase pasada.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El orden de los colores se percibe sin leer la leyenda: más oscuro es más.</a:t>
            </a:r>
          </a:p>
        </p:txBody>
      </p:sp>
      <p:pic>
        <p:nvPicPr>
          <p:cNvPr id="5" name="Picture 4" descr="s28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59760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divergente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datos con orden y un centro con significado: cero, el promedio, o un valor de referencia.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Dos tonos que se alejan de un neutro central: cada dirección tiene su color, y la distancia al centro, su intensidad.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Ejemplo: diferencia de viajes de una comuna respecto del promedio de la ciudad.</a:t>
            </a:r>
          </a:p>
        </p:txBody>
      </p:sp>
      <p:pic>
        <p:nvPicPr>
          <p:cNvPr id="5" name="Picture 4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252651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Paleta cualitativa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Para categorías sin orden: tonos bien distintos, con luminosidad y saturación parecidas para que ninguna categoría domine.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discriminabilidad manda: entre 6 y 12 categorías es el máximo distinguible; con más, agrupar en "otros".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Usar una paleta secuencial para categorías sin orden viola la expresividad: sugiere un orden que no existe.</a:t>
            </a:r>
          </a:p>
        </p:txBody>
      </p:sp>
      <p:pic>
        <p:nvPicPr>
          <p:cNvPr id="5" name="Picture 4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25291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ColorBrewer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Herramienta para elegir paletas de los tres tipos: colorbrewer2.org.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Permite filtrar por paletas aptas para daltonismo, impresión y fotocopia.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Matplotlib y seaborn ya traen estas paletas y otras equivalentes (viridis, Set2, RdBu): basta nombrarlas.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415302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razonamiento visual es relativo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percepción opera comparando, no midiendo valores absolutos (ley de Weber).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precisión aumenta con una escala común y con los ítems alineados: por eso las barras comparten base.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Evidencia experimental: Cleveland y McGill (1984), Journal of the American Statistical Association.</a:t>
            </a:r>
          </a:p>
        </p:txBody>
      </p:sp>
      <p:pic>
        <p:nvPicPr>
          <p:cNvPr id="5" name="Picture 4" descr="s24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1638955"/>
          </a:xfrm>
          <a:prstGeom prst="rect">
            <a:avLst/>
          </a:prstGeom>
        </p:spPr>
      </p:pic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Ejemplos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Barras, áreas y tortas, a la luz de los canales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Barras: base común, comparación precisa</a:t>
            </a:r>
          </a:p>
        </p:txBody>
      </p:sp>
      <p:pic>
        <p:nvPicPr>
          <p:cNvPr id="4" name="Picture 3" descr="s28_1.gif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94128" y="1143000"/>
            <a:ext cx="555574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eje alinea las barras sobre una base común y el largo codifica el valor: una barra del doble de largo representa el doble.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Áreas contra largos</a:t>
            </a:r>
          </a:p>
        </p:txBody>
      </p:sp>
      <p:pic>
        <p:nvPicPr>
          <p:cNvPr id="4" name="Picture 3" descr="s29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1075" y="1143000"/>
            <a:ext cx="4201849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mismo dato (el valor de mercado de una empresa) codificado como área de un círculo y como largo de una barra: las proporciones se perciben con precisión distinta.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Tres tortas parecidas, tres distribuciones distintas</a:t>
            </a:r>
          </a:p>
        </p:txBody>
      </p:sp>
      <p:pic>
        <p:nvPicPr>
          <p:cNvPr id="4" name="Picture 3" descr="s30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72025" y="1143000"/>
            <a:ext cx="439994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ángulos y las áreas no se comparan bien: estos gráficos de torta se ven similares, pero codifican distribuciones distintas. Las barras de abajo lo muestran de inmediato. Fuente: Wikipedia, Pie chart.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Cuándo sirve una torta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 pocas categorías y un mensaje único (una fracción contra el resto), un gráfico de torta comunica bien.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partición modal de la clase pasada, con nueve categorías, no es ese caso: por eso la mostramos con barras.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Gráfico: xkcd 290.</a:t>
            </a:r>
          </a:p>
        </p:txBody>
      </p:sp>
      <p:pic>
        <p:nvPicPr>
          <p:cNvPr id="5" name="Picture 4" descr="s31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91729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Una visualización también puede ser una marca</a:t>
            </a:r>
          </a:p>
        </p:txBody>
      </p:sp>
      <p:pic>
        <p:nvPicPr>
          <p:cNvPr id="4" name="Picture 3" descr="s33_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4660" y="1143000"/>
            <a:ext cx="315468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este mapa histórico, cada torta es una marca ubicada con el canal de posición: bien usadas, las visualizaciones circulares comunican sobre un mapa.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Recreo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15 minutos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EDA descriptivo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Dispersión, forma y calidad de una variable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Dónde estamos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clase pasada: resúmenes ponderados (media, mediana, cuantiles) y correlación sobre la EOD.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Hoy completamos la descripción de una variable: dispersión, forma y valores atípicos, y el gráfico que resume todo eso: el boxplot.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Y el paso previo a cualquier análisis: la calidad de los datos.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Explorar es trabajo estadístico serio, no un trámite previo (Tukey, 1977).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datos de la clase: iris y la EOD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iris para aprender los conceptos; la EOD para aplicarlos a datos reales.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iris: 150 flores de tres especies, con el largo y el ancho del pétalo y del sépalo en centímetros. Publicado por Fisher (1936).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Chico y ordenado: los resúmenes se pueden verificar a mano.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La EOD ya la conocen: 113.591 viajes, con faltantes, colas y códigos.</a:t>
            </a:r>
          </a:p>
        </p:txBody>
      </p:sp>
      <p:pic>
        <p:nvPicPr>
          <p:cNvPr id="5" name="Picture 4" descr="iris_medidas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2892117"/>
          </a:xfrm>
          <a:prstGeom prst="rect">
            <a:avLst/>
          </a:prstGeom>
        </p:spPr>
      </p:pic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Las tres especies</a:t>
            </a:r>
          </a:p>
        </p:txBody>
      </p:sp>
      <p:pic>
        <p:nvPicPr>
          <p:cNvPr id="4" name="Picture 3" descr="10_iris_especi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30732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Fotografías: Radomil, D. Gordon E. Robertson y Frank Mayfield, Wikimedia Commons, licencias CC BY-SA.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Cargar iris</a:t>
            </a:r>
          </a:p>
        </p:txBody>
      </p:sp>
      <p:sp>
        <p:nvSpPr>
          <p:cNvPr id="4" name="Rectangle 3"/>
          <p:cNvSpPr/>
          <p:nvPr/>
        </p:nvSpPr>
        <p:spPr>
          <a:xfrm>
            <a:off x="704088" y="1280160"/>
            <a:ext cx="7744968" cy="2880360"/>
          </a:xfrm>
          <a:prstGeom prst="rect">
            <a:avLst/>
          </a:prstGeom>
          <a:solidFill>
            <a:srgbClr val="F0F2F5"/>
          </a:solidFill>
          <a:ln>
            <a:solidFill>
              <a:srgbClr val="D8DDE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28600" tIns="137160"/>
          <a:lstStyle/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from sklearn.datasets import load_iris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 = load_iris()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 = pd.DataFrame(iris.data, columns=iris.feature_names)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nombres = {0: "setosa", 1: "versicolor", 2: "virginica"}</a:t>
            </a:r>
          </a:p>
          <a:p>
            <a:pPr/>
            <a:r>
              <a:rPr sz="1500" b="0">
                <a:solidFill>
                  <a:srgbClr val="1D3557"/>
                </a:solidFill>
                <a:latin typeface="Menlo"/>
              </a:rPr>
              <a:t>iris_df["species"] = pd.Series(iris.target).map(nombres)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04088" y="4389120"/>
            <a:ext cx="7744968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6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600" b="0">
                <a:solidFill>
                  <a:srgbClr val="000000"/>
                </a:solidFill>
                <a:latin typeface="Fira Sans"/>
              </a:rPr>
              <a:t>Viene incluido en scikit-learn, así que no requiere descarga. La especie llega como códigos 0, 1 y 2; un diccionario los traduce con map().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iris_df: las primeras filas</a:t>
            </a:r>
          </a:p>
        </p:txBody>
      </p:sp>
      <p:pic>
        <p:nvPicPr>
          <p:cNvPr id="4" name="Picture 3" descr="14_iris_d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7755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150 filas y 5 columnas: cuatro medidas numéricas y la especie como variable categórica.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Media, mediana y moda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2880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34440"/>
                <a:gridCol w="3429000"/>
                <a:gridCol w="1737360"/>
                <a:gridCol w="173736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Medida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Definición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iris: largo de sépalo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EOD: duración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promedio: la suma de los valores dividida por el número de datos.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5,84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36,9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Mediana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central: deja el 50% de los datos a cada lado.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5,80 cm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82296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Moda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El valor más frecuente; el único resumen posible para variables cualitativas.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5,0 cm (10 flores)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30 min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Las cifras de la EOD son muestrales, sin ponderar; las ponderadas (34,7 y 25 minutos) las calculamos la clase pasada. La moda de 30 minutos delata que la gente declara tiempos redondeados.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Iris: el caso simétrico</a:t>
            </a:r>
          </a:p>
        </p:txBody>
      </p:sp>
      <p:pic>
        <p:nvPicPr>
          <p:cNvPr id="4" name="Picture 3" descr="08_iris_simetric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37387" y="1143000"/>
            <a:ext cx="5469224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 una distribución simétrica, media y mediana cuentan la misma historia.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EOD: el caso asimétrico</a:t>
            </a:r>
          </a:p>
        </p:txBody>
      </p:sp>
      <p:pic>
        <p:nvPicPr>
          <p:cNvPr id="4" name="Picture 3" descr="01_media_mediana_ingre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74481" y="1143000"/>
            <a:ext cx="5395037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ingresos de la clase pasada, ahora como contraste: la cola de ingresos altos arrastra la media; por eso el ingreso se reporta con la mediana.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Dispersión y forma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Cuánto varían los datos alrededor del centro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Percentiles y cuartiles</a:t>
            </a:r>
          </a:p>
        </p:txBody>
      </p:sp>
      <p:pic>
        <p:nvPicPr>
          <p:cNvPr id="4" name="Picture 3" descr="19_percentiles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2783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percentil p es el valor bajo el cual queda el p% de los datos. Los cuartiles son los percentiles 25, 50 y 75: cortan los datos ordenados en cuatro partes con la misma cantidad de observaciones cada una.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Los cuartiles de la duración</a:t>
            </a:r>
          </a:p>
        </p:txBody>
      </p:sp>
      <p:pic>
        <p:nvPicPr>
          <p:cNvPr id="4" name="Picture 3" descr="18_percenti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456026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mismos cortes en la EOD: cada tramo tiene la misma cantidad de viajes, pero anchos muy distintos. La asimetría, contada por los percentiles.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Medir la dispersión</a:t>
            </a:r>
          </a:p>
        </p:txBody>
      </p:sp>
      <p:pic>
        <p:nvPicPr>
          <p:cNvPr id="4" name="Picture 3" descr="12_formulas_disper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Los percentiles completan el cuadro: quantile([0, 0.25, 0.5, 0.75, 1]) entrega el mínimo, los cuartiles y el máximo (en iris: 4,3 · 5,1 · 5,8 · 6,4 · 7,9).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iris</a:t>
            </a:r>
          </a:p>
        </p:txBody>
      </p:sp>
      <p:pic>
        <p:nvPicPr>
          <p:cNvPr id="4" name="Picture 3" descr="20_iqr_iri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1587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Entre Q1 y Q3 queda el 50% central de las flores. El IQR es el ancho de ese tramo: 6,4 − 5,1 = 1,3 cm.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IQR en la duración</a:t>
            </a:r>
          </a:p>
        </p:txBody>
      </p:sp>
      <p:pic>
        <p:nvPicPr>
          <p:cNvPr id="4" name="Picture 3" descr="21_iqr_eo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57463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50% central de los viajes cabe en 35 minutos. La mitad central es angosta; lo que se estira es la cola, y al IQR eso no lo afecta.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La media no basta</a:t>
            </a:r>
          </a:p>
        </p:txBody>
      </p:sp>
      <p:pic>
        <p:nvPicPr>
          <p:cNvPr id="4" name="Picture 3" descr="02_dispersion_comu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2348" y="1143000"/>
            <a:ext cx="5499302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Providencia y Talagante tienen la misma duración media de viaje (40,7 minutos), pero la desviación estándar de Talagante es el doble: dos realidades distintas detrás del mismo promedio.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El boxplot</a:t>
            </a:r>
          </a:p>
        </p:txBody>
      </p:sp>
      <p:pic>
        <p:nvPicPr>
          <p:cNvPr id="4" name="Picture 3" descr="03_boxplot_anatom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40020" y="1143000"/>
            <a:ext cx="5663958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Cinco números en un solo gráfico: mediana, cuartiles, bigotes y valores atípicos. La regla de los bigotes (1,5 veces el IQR) es una convención para marcar valores inusuales, no un veredicto.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atípicos (outliers)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1252728"/>
            <a:ext cx="4023360" cy="3200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1">
                <a:solidFill>
                  <a:srgbClr val="1D3557"/>
                </a:solidFill>
                <a:latin typeface="Fira Sans"/>
              </a:rPr>
              <a:t>Un valor atípico es una observación que se aleja notoriamente del resto.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Convención de Tukey: fuera de Q1 − 1,5·IQR y de Q3 + 1,5·IQR.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Atípico no significa error: puede ser un caso real e informativo. Distinguirlo exige criterio del dominio.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5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500" b="0">
                <a:solidFill>
                  <a:srgbClr val="000000"/>
                </a:solidFill>
                <a:latin typeface="Fira Sans"/>
              </a:rPr>
              <a:t>Es la decisión que declaramos la clase pasada con el viaje de 1.335 minutos: investigar, decidir y documentar.</a:t>
            </a:r>
          </a:p>
        </p:txBody>
      </p:sp>
      <p:pic>
        <p:nvPicPr>
          <p:cNvPr id="5" name="Picture 4" descr="15_outliers_tuke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92040" y="1371600"/>
            <a:ext cx="3840480" cy="3136431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Otros criterios para marcar atípicos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La regla de Tukey es una convención entre varias; marcar no es eliminar.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Tres sigmas: distancia a la media, en desviaciones estándar.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Z-score modificado: lo mismo, pero robusto, medido desde la mediana (Iglewicz y Hoaglin, 1993).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Criterio del dominio: qué valores son posibles. El más defendible.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iris</a:t>
            </a:r>
          </a:p>
        </p:txBody>
      </p:sp>
      <p:pic>
        <p:nvPicPr>
          <p:cNvPr id="4" name="Picture 3" descr="09_iri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02889" y="1143000"/>
            <a:ext cx="5938221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El largo del pétalo separa casi perfectamente a las tres especies: centros y dispersiones distintas en una sola figura.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Boxplots para comparar grupos: la EOD</a:t>
            </a:r>
          </a:p>
        </p:txBody>
      </p:sp>
      <p:pic>
        <p:nvPicPr>
          <p:cNvPr id="4" name="Picture 3" descr="04_boxplot_mod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17319" y="1143000"/>
            <a:ext cx="6309360" cy="2899161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La duración del viaje según el modo. En términos de la primera parte: la marca es la caja, y los canales son la posición (mediana y cuartiles) sobre una escala común.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1D35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03504" y="1847088"/>
            <a:ext cx="7946136" cy="1399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3400" b="1">
                <a:solidFill>
                  <a:srgbClr val="FFFFFF"/>
                </a:solidFill>
                <a:latin typeface="Fira Sans"/>
              </a:rPr>
              <a:t>Calidad y limpieza de datos</a:t>
            </a:r>
          </a:p>
          <a:p>
            <a:r>
              <a:rPr sz="1800" b="0">
                <a:solidFill>
                  <a:srgbClr val="E0A437"/>
                </a:solidFill>
                <a:latin typeface="Fira Sans"/>
              </a:rPr>
              <a:t>Los resúmenes valen lo que valen los datos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faltantes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Detección: isna().sum(), o el count de describe() contra len.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EOD: TiempoViaje tiene 278 faltantes entre 113.591 viajes.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NaN no siempre es error: en los factores de expansión significa "no aplica".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Opciones: eliminar, imputar o dejar que cada cálculo los excluya. Lo obligatorio: decidir y documentar.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Duplicados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duplicated() marca filas repetidas; drop_duplicates() las elimina.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Dos niveles: la fila completa y la llave que debería ser única.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En la EOD ambos chequeos dan cero; un cero también es un hallazgo.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riesgo típico ya lo conocen de los merges: una llave repetida en la tabla de parámetros multiplica filas.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Valores sospechosos</a:t>
            </a:r>
          </a:p>
        </p:txBody>
      </p:sp>
      <p:pic>
        <p:nvPicPr>
          <p:cNvPr id="4" name="Picture 3" descr="05_cola_imposibl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48218" y="1143000"/>
            <a:ext cx="5847563" cy="31546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704088" y="4434840"/>
            <a:ext cx="7744968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116 viajes declaran más de 5 horas y el máximo es de 22 horas. ¿Error de registro o viaje real? La respuesta exige criterio del dominio; la decisión (mantener, corregir o excluir) se toma en el código y se documenta.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Checklist de calidad antes de analizar</a:t>
            </a:r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502920" y="1188720"/>
          <a:ext cx="8138160" cy="30632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34640"/>
                <a:gridCol w="5303520"/>
              </a:tblGrid>
              <a:tr h="411480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Revisión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350" b="1">
                          <a:solidFill>
                            <a:srgbClr val="FFFFFF"/>
                          </a:solidFill>
                          <a:latin typeface="Fira Sans"/>
                        </a:rPr>
                        <a:t>Con qué</a:t>
                      </a:r>
                    </a:p>
                  </a:txBody>
                  <a:tcPr>
                    <a:solidFill>
                      <a:srgbClr val="1D3557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Dimensiones y tipos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shape, info()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Faltantes por columna relevante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isna().sum(), count contra len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duplicated(): fila completa y llave única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Rangos válidos de cada variable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min, max, describe(), valores sospechosos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530352"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Merges verificados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lnSpc>
                          <a:spcPct val="108000"/>
                        </a:lnSpc>
                      </a:pPr>
                      <a:r>
                        <a:rPr sz="1250" b="0">
                          <a:solidFill>
                            <a:srgbClr val="000000"/>
                          </a:solidFill>
                          <a:latin typeface="Fira Sans"/>
                        </a:rPr>
                        <a:t>filas antes y después, NaN nuevos, llaves únicas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502920" y="4434840"/>
            <a:ext cx="813816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333333"/>
                </a:solidFill>
                <a:latin typeface="Fira Sans"/>
              </a:rPr>
              <a:t>Se aplica siempre: hasta iris, con sus 150 filas, trae una fila duplicada. Cada decisión de limpieza queda escrita en el código, con su justificación.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Síntesis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353312"/>
            <a:ext cx="7744968" cy="33009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1">
                <a:solidFill>
                  <a:srgbClr val="1D3557"/>
                </a:solidFill>
                <a:latin typeface="Fira Sans"/>
              </a:rPr>
              <a:t>Un gráfico es una elección: qué marca y qué canal codifican cada variable, y la percepción decide cuáles funcionan.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Efectividad y expresividad: canales de magnitud para lo cuantitativo, de identidad para lo categórico; posición y largo antes que área y color.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El color se elige por tipo de dato: paleta secuencial con orden, divergente con centro, cualitativa para categorías.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Describir una variable exige tres miradas: centro, dispersión (IQR, desviación) y forma (boxplot).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La limpieza es parte del análisis: faltantes, duplicados y rangos válidos, con decisiones documentadas.</a:t>
            </a:r>
          </a:p>
          <a:p>
            <a:pPr>
              <a:lnSpc>
                <a:spcPct val="112000"/>
              </a:lnSpc>
              <a:spcAft>
                <a:spcPts val="900"/>
              </a:spcAft>
            </a:pPr>
            <a:r>
              <a:rPr sz="1800" b="1">
                <a:solidFill>
                  <a:srgbClr val="E0A437"/>
                </a:solidFill>
                <a:latin typeface="Fira Sans"/>
              </a:rPr>
              <a:t>▸ </a:t>
            </a:r>
            <a:r>
              <a:rPr sz="1800" b="0">
                <a:solidFill>
                  <a:srgbClr val="000000"/>
                </a:solidFill>
                <a:latin typeface="Fira Sans"/>
              </a:rPr>
              <a:t>Próxima clase (04-sep): pre-procesamiento y reducción de dimensión, y control Q2 (Cairo, Introducción + cap. 2).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9144000" cy="5138928"/>
          </a:xfrm>
          <a:prstGeom prst="rect">
            <a:avLst/>
          </a:prstGeom>
          <a:solidFill>
            <a:srgbClr val="FAFBF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02336" y="301752"/>
            <a:ext cx="8348472" cy="7955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800" b="1">
                <a:solidFill>
                  <a:srgbClr val="0F0F0F"/>
                </a:solidFill>
                <a:latin typeface="Fira Sans"/>
              </a:rPr>
              <a:t>Referencias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04088" y="1234440"/>
            <a:ext cx="7744968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Munzner, T. (2014). Visualization Analysis and Design. CRC Press. Capítulo 5, "Marks and Channels". www.cs.ubc.ca/~tmm/vadbook/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Cleveland, W. S. y McGill, R. (1984). Graphical Perception: Theory, Experimentation, and Application to the Development of Graphical Methods. Journal of the American Statistical Association, 79(387), 531-554.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Tukey, J. W. (1977). Exploratory Data Analysis. Addison-Wesley.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Fisher, R. A. (1936). The Use of Multiple Measurements in Taxonomic Problems. Annals of Eugenics, 7(2), 179-188.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Iglewicz, B. y Hoaglin, D. C. (1993). How to Detect and Handle Outliers. ASQC Quality Press.</a:t>
            </a:r>
          </a:p>
          <a:p>
            <a:pPr>
              <a:lnSpc>
                <a:spcPct val="115000"/>
              </a:lnSpc>
              <a:spcAft>
                <a:spcPts val="700"/>
              </a:spcAft>
            </a:pPr>
            <a:r>
              <a:rPr sz="1300" b="0">
                <a:solidFill>
                  <a:srgbClr val="333333"/>
                </a:solidFill>
                <a:latin typeface="Fira Sans"/>
              </a:rPr>
              <a:t>Material de la primera parte adaptado del curso de Visualización de Información de D. Opitz (UDD, 2024), que incorpora láminas del curso de Denis Parra (PUC) y figuras del libro de Munzner.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
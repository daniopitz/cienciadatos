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gi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Visualización y análisis exploratorio 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Marcas y canales, dispersión, boxplots y calidad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28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Codificación visual: marcas y canales.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percepción: qué canal es más efectivo, y cómo se sabe.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color: canales y paletas.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Ejemplos: barras, áreas y tortas.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EDA descriptivo: dispersión y forma de una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El boxplot y los valores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Codificación visual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un dato se convierte en un elemento gráfico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codificación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codificación visual es el proceso de asignar propiedades gráficas (posición, forma, color, tamaño) a los atributos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Ese proceso se describe con dos piezas: marcas y canales (Munzner, 2014, cap. 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marcas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Una marca es el elemento geométrico básico que representa una observación o un vínculo.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Punto: una observación (cada viaje del scatter).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Línea: una conexión o una trayectoria.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una región (una barra, una comuna en un mapa).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Las marcas son los bloques de construcción; por sí solas todavía no codifican valores.</a:t>
            </a:r>
          </a:p>
        </p:txBody>
      </p:sp>
      <p:pic>
        <p:nvPicPr>
          <p:cNvPr id="5" name="Picture 4" descr="s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662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 canal controla la apariencia de una marca: posición, largo, área, forma, inclinación,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Se combinan: una misma marca puede llevar varios canales a la vez (posición y color, por ejemplo).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Interactúan con la marca: el tipo de marca determina qué canales admite (una línea tiene largo; un punto, no).</a:t>
            </a:r>
          </a:p>
        </p:txBody>
      </p:sp>
      <p:pic>
        <p:nvPicPr>
          <p:cNvPr id="5" name="Picture 4" descr="s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07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Canales de forma e inclinación</a:t>
            </a:r>
          </a:p>
        </p:txBody>
      </p:sp>
      <p:pic>
        <p:nvPicPr>
          <p:cNvPr id="4" name="Picture 3" descr="s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45" y="1143000"/>
            <a:ext cx="3192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canal define una familia de variaciones perceptibles de la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Marcas y canales, combinados</a:t>
            </a:r>
          </a:p>
        </p:txBody>
      </p:sp>
      <p:pic>
        <p:nvPicPr>
          <p:cNvPr id="4" name="Picture 3" descr="s1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0367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gráfico se describe como: qué marca usa, y qué canal codifica cada variable.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canal usar? La percepción se puede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todos los canales se perciben igual de bien, y eso se ha medido en experimentos controlados.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Cuatro propiedades para comparar canales: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Precisión: qué tan fiel es la percepción al valor real.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Discriminabilidad: cuántos niveles distintos se alcanzan a distinguir.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Separabilidad: si dos canales juntos se leen por separado o se interfieren.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Saliencia: qué tan fácil es detectar un cambio a simple vista.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la ley de Stevens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sensación percibida crece como una potencia del estímulo físico: S = Iⁿ.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Largo: n ≈ 1, se percibe casi proporcional.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n ≈ 0,7 y brillo: n ≈ 0,5, se subestiman.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Consecuencia directa: comparar largos (barras) es más preciso que comparar áreas o colores.</a:t>
            </a:r>
          </a:p>
        </p:txBody>
      </p:sp>
      <p:pic>
        <p:nvPicPr>
          <p:cNvPr id="5" name="Picture 4" descr="s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4322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Cuántos valores distintos de un canal se pueden percibir y cuantificar.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el mapa, el grosor de cada línea codifica el tamaño del flujo entre dos lugares: solo se distinguen unos pocos niveles de grosor.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atributo tiene más niveles que los que el canal distingue, conviene agrupar o cambiar de canal.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Imagen: cortesía de Denis Parra.</a:t>
            </a:r>
          </a:p>
        </p:txBody>
      </p:sp>
      <p:pic>
        <p:nvPicPr>
          <p:cNvPr id="5" name="Picture 4" descr="s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9795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se identifican?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Posición con tonalidad se leen por separado y los grupos saltan a la vista; tamaño con tonalidad interfiere, y ancho con alto o rojo con verde se perciben como un solo canal. Al combinar canales hay que verificar que sigan siendo legibles por separado.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Saliencia (pop-out)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Qué tan fácil es detectar un cambio de un canal a simple vista, sin buscar.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depende solo del canal: también del contexto y de lo que rodea a la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color y el movimiento destacan de inmediato; úselos para lo que de verdad importa destacar.</a:t>
            </a:r>
          </a:p>
        </p:txBody>
      </p:sp>
      <p:pic>
        <p:nvPicPr>
          <p:cNvPr id="5" name="Picture 4" descr="s2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8152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canales, ordenados por efectividad</a:t>
            </a:r>
          </a:p>
        </p:txBody>
      </p:sp>
      <p:pic>
        <p:nvPicPr>
          <p:cNvPr id="4" name="Picture 3" descr="s2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73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Canales de identidad para atributos categóricos; canales de magnitud para ordinales y cuantitativos. Dentro de cada grupo, ordenados de más a menos efectivo (Munzner, 2014).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principios para elegir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Efectividad: los atributos más importantes de los datos se codifican con los canales más efectivos.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Expresividad: el tipo de canal debe ser coherente con el tipo del atributo,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canales de magnitud (posición, largo) para variables cuantitativas y ordinales,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canales de identidad (tonalidad, forma) para variables categóricas.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 la misma distinción de tipos de datos de la clase pasada, ahora aplicada al diseño del gráfico.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color son tres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modelo HSL separa el color en tono (hue), saturación y luminosidad, y cada uno funciona como un canal distinto.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Tono: canal de identidad, para categorías.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Luminosidad y saturación: canales de magnitud, para cantidades.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Elegir colores no es una decisión estética: es elegir qué canal codifica qué atributo.</a:t>
            </a:r>
          </a:p>
        </p:txBody>
      </p:sp>
      <p:pic>
        <p:nvPicPr>
          <p:cNvPr id="5" name="Picture 4" descr="s2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79438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secuencial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gradación, de menos a más: un tono con luminosidad creciente.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paleta de un mapa de ingresos por comuna, o de los heatmaps de la clase pasada.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orden de los colores se percibe sin leer la leyenda: más oscuro es más.</a:t>
            </a:r>
          </a:p>
        </p:txBody>
      </p:sp>
      <p:pic>
        <p:nvPicPr>
          <p:cNvPr id="5" name="Picture 4" descr="s2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59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divergente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un centro con significado: cero, el promedio, o un valor de referencia.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tonos que se alejan de un neutro central: cada dirección tiene su color, y la distancia al centro, su intensidad.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Ejemplo: diferencia de viajes de una comuna respecto del promedio de la ciudad.</a:t>
            </a:r>
          </a:p>
        </p:txBody>
      </p:sp>
      <p:pic>
        <p:nvPicPr>
          <p:cNvPr id="5" name="Picture 4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25265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cualitativa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categorías sin orden: tonos bien distintos, con luminosidad y saturación parecidas para que ninguna categoría domine.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discriminabilidad manda: entre 6 y 12 categorías es el máximo distinguible; con más, agrupar en "otros".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Usar una paleta secuencial para categorías sin orden viola la expresividad: sugiere un orden que no existe.</a:t>
            </a:r>
          </a:p>
        </p:txBody>
      </p:sp>
      <p:pic>
        <p:nvPicPr>
          <p:cNvPr id="5" name="Picture 4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2529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ColorBrewer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Herramienta para elegir paletas de los tres tipos: colorbrewer2.org.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Permite filtrar por paletas aptas para daltonismo, impresión y fotocopia.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Matplotlib y seaborn ya traen estas paletas y otras equivalentes (viridis, Set2, RdBu): basta nombrarlas.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1530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razonamiento visual es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percepción opera comparando, no midiendo valores absolutos (ley de Weber).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precisión aumenta con una escala común y con los ítems alineados: por eso las barras comparten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Evidencia experimental: Cleveland y McGill (1984), Journal of the American Statistical Association.</a:t>
            </a:r>
          </a:p>
        </p:txBody>
      </p:sp>
      <p:pic>
        <p:nvPicPr>
          <p:cNvPr id="5" name="Picture 4" descr="s2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63895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Ejemplos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Barras, áreas y tortas, a la luz de los canales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Barras: base común, comparación precisa</a:t>
            </a:r>
          </a:p>
        </p:txBody>
      </p:sp>
      <p:pic>
        <p:nvPicPr>
          <p:cNvPr id="4" name="Picture 3" descr="s28_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28" y="1143000"/>
            <a:ext cx="55557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eje alinea las barras sobre una base común y el largo codifica el valor: una barra del doble de largo representa el doble.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Áreas contra largos</a:t>
            </a:r>
          </a:p>
        </p:txBody>
      </p:sp>
      <p:pic>
        <p:nvPicPr>
          <p:cNvPr id="4" name="Picture 3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5" y="1143000"/>
            <a:ext cx="42018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mismo dato (el valor de mercado de una empresa) codificado como área de un círculo y como largo de una barra: las proporciones se perciben con precisión distinta.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tortas parecidas, tres distribuciones distintas</a:t>
            </a:r>
          </a:p>
        </p:txBody>
      </p:sp>
      <p:pic>
        <p:nvPicPr>
          <p:cNvPr id="4" name="Picture 3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25" y="1143000"/>
            <a:ext cx="4399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ángulos y las áreas no se comparan bien: estos gráficos de torta se ven similares, pero codifican distribuciones distintas. Las barras de abajo lo muestran de inmediato. Fuente: Wikipedia, Pie chart.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sirve una torta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pocas categorías y un mensaje único (una fracción contra el resto), un gráfico de torta comunica bien.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partición modal de la clase pasada, con nueve categorías, no es ese caso: por eso la mostramos con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Gráfico: xkcd 290.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91729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visualización también puede ser una marca</a:t>
            </a:r>
          </a:p>
        </p:txBody>
      </p:sp>
      <p:pic>
        <p:nvPicPr>
          <p:cNvPr id="4" name="Picture 3" descr="s3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1143000"/>
            <a:ext cx="3154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mapa histórico, cada torta es una marca ubicada con el canal de posición: bien usadas, las visualizaciones circulares comunican sobre un mapa.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15 minutos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EDA descriptivo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Dispersión, forma y calidad de una variable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clase pasada: resúmenes ponderados (media, mediana, cuantiles) y correlación sobre la EOD.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completamos la descripción de una variable: dispersión, forma y valores atípicos, y el gráfico que resume todo eso: el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paso previo a cualquier análisis: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Explorar es trabajo estadístico serio, no un trámite previo (Tukey, 1977).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cifras de la EOD son muestrales, sin ponderar; las ponderadas (34,7 y 25 minutos) las calculamos la clase pasada. La moda de 30 minutos delata que la gente declara tiempos redondeados.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ingresos de la clase pasada, ahora como contraste: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decisión que declaramos la clase pasada con el viaje de 1.335 minutos: investigar, decidir y documentar.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modo. En términos de la primera parte: la marca es la caja, y los canales son la posición (mediana y cuartiles) sobre una escala común.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 ya lo conocen de los merges: una llave repetida en la tabla de parámetros multiplica filas.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aplica siempre: hasta iris, con sus 150 filas, trae una fila duplicada. 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gráfico es una elección: qué marca y qué canal codifican cada variable, y la percepción decide cuáles funcionan.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 y expresividad: canales de magnitud para lo cuantitativo, de identidad para lo categórico; posición y largo antes que área y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color se elige por tipo de dato: paleta secuencial con orden, divergente con centro, cualitativa para categorías.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centro, dispersión (IQR, desviación) y forma (boxplot).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 y rangos válidos,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(04-sep): pre-procesamiento y reducción de dimensión, y control Q2 (Cairo, Introducción + cap. 2).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Munzner, T. (2014). Visualization Analysis and Design. CRC Press. Capítulo 5, "Marks and Channels". www.cs.ubc.ca/~tmm/vadbook/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y McGill, R. (1984). Graphical Perception: Theory, Experimentation, and Application to the Development of Graphical Methods. Journal of the American Statistical Association, 79(387), 531-554.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Material de la primera parte adaptado del curso de Visualización de Información de D. Opitz (UDD, 2024), con imágenes cortesía de Denis Parra (PUC).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
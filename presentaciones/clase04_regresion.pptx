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3B4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1252728"/>
            <a:ext cx="77449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Fira Sans"/>
              </a:rPr>
              <a:t>Regresión lineal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975104" y="2651760"/>
            <a:ext cx="5202936" cy="521207"/>
          </a:xfrm>
          <a:prstGeom prst="rect">
            <a:avLst/>
          </a:prstGeom>
          <a:solidFill>
            <a:srgbClr val="E0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D3557"/>
                </a:solidFill>
                <a:latin typeface="Fira Sans"/>
              </a:rPr>
              <a:t>Clase 4 · Matriz de correlación, regresión simple, múltiple y ponderada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547872"/>
            <a:ext cx="77449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Fira Sans"/>
              </a:rPr>
              <a:t>Daniela Opitz</a:t>
            </a:r>
          </a:p>
          <a:p>
            <a:r>
              <a:rPr sz="1300" b="0">
                <a:solidFill>
                  <a:srgbClr val="B8C4D4"/>
                </a:solidFill>
                <a:latin typeface="Fira Sans"/>
              </a:rPr>
              <a:t>INF-396 · Departamento de Informática · UTFSM · viernes 4 de septiembre,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Contenidos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1. La matriz de correlación: todos los pares de una vez.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2. La primera regresión: mínimos cuadrados.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3. Muchos puntos y colas largas.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4. Regresión múltiple con statsmodels: R² y valor p.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5. Variables categóricas en la regresión: dummies.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norte: los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En la clase 02 definimos el modelo: Y = f(X) + ε. Hoy, por primera vez, estimamos f.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correlación que ya conocen dice si dos variables se mueven juntas; la regresión dice cuánto.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Y la regresión múltiple responde la pregunta que la correlación no puede: el efecto de cada variable con las demás fijas.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La matriz de correlación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Todos los pares de una vez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correlación en Pandas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338328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Entre dos columnas (clase 02)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iris_df["petal length (cm)"].corr(iris_df["petal width (cm)"])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0.9629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/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Lo nuevo: todas contra todas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iris_df.drop(columns="species").corr()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89204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corr() usa Pearson por defecto. En iris, largo y ancho del pétalo correlacionan 0,96.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matriz de correlación</a:t>
            </a:r>
          </a:p>
        </p:txBody>
      </p:sp>
      <p:pic>
        <p:nvPicPr>
          <p:cNvPr id="4" name="Picture 3" descr="c3_06_matriz_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763" y="1143000"/>
            <a:ext cx="3654473" cy="31546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Todos los pares de una vez: diagonal en 1 y matriz simétrica, dibujada con la paleta divergente de la clase pasada. El 0,96 entre largo y ancho del pétalo dice que son casi redundantes: evidencia para decidir qué variables entran a un modelo.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Siempre graficar: el cuarteto de Anscombe</a:t>
            </a:r>
          </a:p>
        </p:txBody>
      </p:sp>
      <p:pic>
        <p:nvPicPr>
          <p:cNvPr id="4" name="Picture 3" descr="c3_05_anscom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880" y="1143000"/>
            <a:ext cx="4984239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Los cuatro conjuntos comparten medias, correlación y recta, y solo el primero es lo que el número sugiere. El resumen no reemplaza al gráfico.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impacto de una sola fila</a:t>
            </a:r>
          </a:p>
        </p:txBody>
      </p:sp>
      <p:pic>
        <p:nvPicPr>
          <p:cNvPr id="4" name="Picture 3" descr="c3_07_punto_extr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628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95478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Cuarenta puntos sin relación (r = 0,05) y un solo punto extremo fabrican r = 0,72. La correlación de Pearson es tan sensible a los atípicos como la media.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¿Las comunas de menor ingreso viajan más tiempo?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La relación que queremos explicar en la primera parte: el ingreso del hogar y la duración media de los viajes, comuna por comuna, con las 45 comunas ponderadas por su factor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tabla por comuna, ponderada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lab["w_ingreso"] = lab["Factor"] * lab["IngresoHogar"]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suma = lab.groupby("Comuna").sum()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/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La media ponderada de la clase 02, ahora por comuna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suma["w_ingreso"] / suma["Factor"]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38912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Las conclusiones son sobre la ciudad, así que se pondera: cada media por comuna es suma de w por x, dividida por suma de w, con el factor del día laboral.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Ingreso y duración, por comuna</a:t>
            </a:r>
          </a:p>
        </p:txBody>
      </p:sp>
      <p:pic>
        <p:nvPicPr>
          <p:cNvPr id="4" name="Picture 3" descr="c3_17_ingreso_du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280" y="1143000"/>
            <a:ext cx="5015438" cy="31546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Cada punto es una comuna (medias ponderadas por factor). La asociación es negativa (r = −0,34): las comunas de menor ingreso promedian viajes más largos. Providencia, 25 minutos; Puente Alto, 40.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matriz de las comunas</a:t>
            </a:r>
          </a:p>
        </p:txBody>
      </p:sp>
      <p:pic>
        <p:nvPicPr>
          <p:cNvPr id="4" name="Picture 3" descr="c3_20_matriz_comu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594" y="1143000"/>
            <a:ext cx="3802811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Cuatro variables, seis pares (todo ponderado): el ingreso compra autos (0,94), y la sorpresa es que el mejor acompañante de la duración no es el ingreso (−0,34) sino las personas por hogar (0,65).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La primera regresión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El primer modelo del curso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Mínimos cuadrados</a:t>
            </a:r>
          </a:p>
        </p:txBody>
      </p:sp>
      <p:pic>
        <p:nvPicPr>
          <p:cNvPr id="4" name="Picture 3" descr="c3_15_residu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544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70831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correlación mide la asociación; la regresión la dibuja: la recta que deja la menor suma de errores al cuadrado. La pendiente dice cuánto cambia y por cada unidad de 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Las fórmulas de la recta</a:t>
            </a:r>
          </a:p>
        </p:txBody>
      </p:sp>
      <p:pic>
        <p:nvPicPr>
          <p:cNvPr id="4" name="Picture 3" descr="c3_21_formulas_re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2455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571393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método se llama mínimos cuadrados ordinarios (OLS): np.polyfit implementa exactamente esta fórmula, y statsmodels le agrega los diagnósticos que veremos hoy.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Pendiente e intercepto, dibujados</a:t>
            </a:r>
          </a:p>
        </p:txBody>
      </p:sp>
      <p:pic>
        <p:nvPicPr>
          <p:cNvPr id="4" name="Picture 3" descr="c3_23_pendiente_intercep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735" y="1143000"/>
            <a:ext cx="5712528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intercepto es donde la recta corta el eje: el valor de y cuando x es 0. La pendiente es cuánto sube y por cada unidad de x. En nuestra recta: 38,3 minutos de base y −4,8 por cada millón de ingreso.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recta: ingreso y duración</a:t>
            </a:r>
          </a:p>
        </p:txBody>
      </p:sp>
      <p:pic>
        <p:nvPicPr>
          <p:cNvPr id="4" name="Picture 3" descr="c3_18_ingreso_duracion_re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331" y="1143000"/>
            <a:ext cx="4929336" cy="31546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duración = 38,3 − 4,8 · ingreso (ponderada por factor): por cada millón adicional, la duración media baja casi 5 minutos. Y r² = 0,12: la recta captura el 12% de la variación; la asociación es real pero moderada, y así se reporta.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recta en NumPy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La recta y = a + b·x: polyfit devuelve [b, a], en ese orden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pendiente, intercepto = np.polyfit(por_comuna["ingreso"],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                                   por_comuna["duracion"], 1)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/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ax.plot(x, intercepto + pendiente * 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38912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polyfit ajusta un polinomio por mínimos cuadrados; el 1 pide grado 1, una recta. Es el único que haremos así: el resto de la clase usa statsmodels, que entrega los diagnósticos completos.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Usar la recta: predecir y medir residuos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El residuo e = y - (a + b·x): lo observado menos lo predicho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prediccion = intercepto + pendiente * ingreso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residuo = duracion - prediccion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/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por_comuna.nlargest(5, "residuo")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38912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La Pintana viaja 13 minutos más de lo predicho y Santiago 7 menos: el residuo revela periferia y centralidad. ¿Azar? El valor p de hoy y la inferencia de la próxima clase responden.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impacto de sacar una fila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Medirlo: recalcular cada resumen sin la fila, y comparar.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Sin Lo Barnechea, r casi no se mueve (sigue en −0,34), pero la pendiente cambia en un quinto: de −4,8 a −5,8 minutos por millón.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Un mismo punto puede pesar poco en un resumen y mucho en otro: la decisión sobre los extremos (clase 03) también afecta al modelo.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regresión con pesos: las fórmulas con factor de expansión</a:t>
            </a:r>
          </a:p>
        </p:txBody>
      </p:sp>
      <p:pic>
        <p:nvPicPr>
          <p:cNvPr id="4" name="Picture 3" descr="c3_22_formulas_ponder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2455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571393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misma recta de mínimos cuadrados, con cada término pesado por su factor: cuando la conclusión es sobre la ciudad, la regresión también se pondera. En statsmodels se llama WLS (weighted least squares).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Muchos puntos y colas largas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Dos problemas al graficar los 90 mil viajes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Graficar 90 mil puntos: overplotting</a:t>
            </a:r>
          </a:p>
        </p:txBody>
      </p:sp>
      <p:pic>
        <p:nvPicPr>
          <p:cNvPr id="4" name="Picture 3" descr="c3_08_overplo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1913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23983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Con todos los puntos sólidos, el scatter se satura y miente. Los remedios: transparencia (alpha), muestreo, o hexbin, donde el color cuenta los viajes (la distancia viene en DistanciaViaje.csv; sus −1 son faltantes disfrazados).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Cuándo usar escala logarítmica</a:t>
            </a:r>
          </a:p>
        </p:txBody>
      </p:sp>
      <p:pic>
        <p:nvPicPr>
          <p:cNvPr id="4" name="Picture 3" descr="c3_10_escala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4328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758726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misma distancia tiene cola larga: en lineal se aplasta; en log, la forma aparece. Es la transformación de la clase pasada, ahora al servicio del modelo: vuelve lineales las relaciones multiplicativas.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Regresión múltiple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Varias variables a la vez, con statsmodels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fórmula de la regresión múltiple</a:t>
            </a:r>
          </a:p>
        </p:txBody>
      </p:sp>
      <p:pic>
        <p:nvPicPr>
          <p:cNvPr id="4" name="Picture 3" descr="c4_01_formula_multi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19878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313726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Cada coeficiente aísla el efecto de su variable: cuánto cambia la predicción por una unidad de esa x, manteniendo las demás constantes.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¿Cuántos vehículos tiene un hogar según su ingreso?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El modelo de partida, ponderado por el factor del hogar: vehículos = 0,20 + 0,50 · ingreso (18.264 hogares). ¿Qué variable agregamos, y cómo se decide?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mapa para elegir variables</a:t>
            </a:r>
          </a:p>
        </p:txBody>
      </p:sp>
      <p:pic>
        <p:nvPicPr>
          <p:cNvPr id="4" name="Picture 3" descr="c4_05_mapa_candida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736" y="1143000"/>
            <a:ext cx="4082527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matriz de correlación como mapa: la fila de NumVeh manda. El ingreso (0,47) es el motor; las personas (0,13) son la única candidata con algo; las bicicletas casi nada (0,06) y redundantes entre sí (0,83). Decisión: agregar las personas.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motorización, con dos 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Explicar los vehículos del hogar con el ingreso y las personas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X = sm.add_constant(pd.DataFrame({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    "ingreso": h["IngresoHogar"] / 1e6,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    "personas": h["NumPer"]}))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modelo = sm.WLS(h["NumVeh"], X, weights=h["Factor"]).fit()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38912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Ponderado con WLS: 0,48 vehículos por millón (era 0,50 a solas) y 0,03 por persona extra. El R² sube apenas, de 0,261 a 0,266: agregar variables no siempre aporta.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summary: los coeficientes y el valor p</a:t>
            </a:r>
          </a:p>
        </p:txBody>
      </p:sp>
      <p:pic>
        <p:nvPicPr>
          <p:cNvPr id="4" name="Picture 3" descr="c4_07_pvalu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19802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306152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coef es el modelo ajustado: de ahí sale la ecuación que sigue. P&gt;|t| responde, por variable: si en la ciudad el ingreso (o las personas) no tuviera efecto sobre los vehículos, ¿qué tan raro sería este coeficiente por azar de la muestra? Ambos dan 0,000.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ecuación ajustada y su lectura</a:t>
            </a:r>
          </a:p>
        </p:txBody>
      </p:sp>
      <p:pic>
        <p:nvPicPr>
          <p:cNvPr id="4" name="Picture 3" descr="c4_08_ecuacion_motor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3260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651974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fórmula de la múltiple con nuestros números: cada coeficiente se lee con las demás variables fijas.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Leer el modelo: R²</a:t>
            </a:r>
          </a:p>
        </p:txBody>
      </p:sp>
      <p:pic>
        <p:nvPicPr>
          <p:cNvPr id="4" name="Picture 3" descr="c4_04_formula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3185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644464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Nuestro 0,266: ingreso y personas explican un cuarto de la variabilidad de los vehículos entre hogares. Agregar variables nunca baja el R²; por eso no basta con mirarlo.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Los coeficientes al agregar variables</a:t>
            </a:r>
          </a:p>
        </p:txBody>
      </p:sp>
      <p:pic>
        <p:nvPicPr>
          <p:cNvPr id="4" name="Picture 3" descr="c4_10_cambio_coefici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8269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52801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ingreso apenas se mueve (0,50 a 0,48) al agregar personas y bicicletas: es un efecto robusto. Las variables nuevas entran con coeficientes minúsculos y el R² casi no cambia.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¿De qué depende la duración de un viaje?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La distancia es la candidata natural (la correlación de la clase 02). Primera decisión: partir por ella, con los 102 mil viajes de la EOD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misma regresión, tres veces</a:t>
            </a:r>
          </a:p>
        </p:txBody>
      </p:sp>
      <p:pic>
        <p:nvPicPr>
          <p:cNvPr id="4" name="Picture 3" descr="c4_02_tres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17265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052427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Decisión 1: transformar con log, porque las dos variables tienen cola larga y en log la nube se endereza: R² de 0,32 a 0,53. Y queda claro que la distancia sola no basta.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mapa, también para la duración</a:t>
            </a:r>
          </a:p>
        </p:txBody>
      </p:sp>
      <p:pic>
        <p:nvPicPr>
          <p:cNvPr id="4" name="Picture 3" descr="c4_15_mapa_du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769" y="1143000"/>
            <a:ext cx="408446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34840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Primero el mapa. La distancia (en log) es el motor: 0,73. El ingreso da 0,00 por viaje: el −0,34 de la recta por comuna era entre promedios, y un promedio esconde a los individuos. Al modo, que es texto, el mapa no lo ve.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¿Qué más podría explicar la duración?</a:t>
            </a:r>
          </a:p>
        </p:txBody>
      </p:sp>
      <p:pic>
        <p:nvPicPr>
          <p:cNvPr id="4" name="Picture 3" descr="c4_13_por_m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1365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462382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Las categóricas se miran con groupby: el modo sí importa, Bip! 62 min contra 15 de caminata. Pero Bip! también va más lejos (7,5 km contra 0,4): hay que comparar a igual distancia.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Decisión 2: agregar el modo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El modo es la candidata de mayor contraste y responde una pregunta de equidad: ¿cuánto más tarda un viaje según el modo, a igual distancia?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Comparar duraciones a secas mezcla el modo con la distancia; la regresión múltiple controla la distancia y aísla el modo.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Como el modo es texto, no puede entrar tal cual a la fórmula: primero hay que convertirlo en números.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Una categórica, convertida en columnas 0/1</a:t>
            </a:r>
          </a:p>
        </p:txBody>
      </p:sp>
      <p:pic>
        <p:nvPicPr>
          <p:cNvPr id="4" name="Picture 3" descr="c4_11_dummies_tab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6079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933824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modo es texto y la fórmula solo suma números: pd.get_dummies crea una columna por categoría. Cada viaje tiene un solo 1, en la de su modo; el auto se saca y queda de referencia.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Las dummies, en código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Una columna 0/1 por modo; el auto queda de referencia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dummies = pd.get_dummies(viajes["ModoAgrupado"])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dummies = dummies.drop(columns=["Auto"])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/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# Explicar la duración (log) con la distancia (log) y el modo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38912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Las dummies se agregan a la X junto al log de la distancia. Cada coeficiente se lee comparado con la referencia: ese modo frente al auto, a igual distancia.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ecuación de la duración, leída</a:t>
            </a:r>
          </a:p>
        </p:txBody>
      </p:sp>
      <p:pic>
        <p:nvPicPr>
          <p:cNvPr id="4" name="Picture 3" descr="c4_09_ecuacion_du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6365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962426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modelo ajustado como ecuación: la distancia con su coeficiente y una dummy por modo con el suyo; el auto es la referencia y no lleva término.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resultado: distancia y modo</a:t>
            </a:r>
          </a:p>
        </p:txBody>
      </p:sp>
      <p:pic>
        <p:nvPicPr>
          <p:cNvPr id="4" name="Picture 3" descr="c4_03_coef_m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6417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967661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A igual distancia, un viaje en Bip! tarda 1,87 veces lo que uno en auto; taxi y caminata quedan casi iguales al auto. El R² sube de 0,53 a 0,60.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Cómo se lee la dummy, con el logaritmo</a:t>
            </a:r>
          </a:p>
        </p:txBody>
      </p:sp>
      <p:pic>
        <p:nvPicPr>
          <p:cNvPr id="4" name="Picture 3" descr="c4_16_leer_dum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38608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regla para leer una dummy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El coeficiente de una dummy solo se considera si el viaje es en ese modo de transporte; si no, la dummy vale 0 y el término desaparece.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Como el modelo está en log, el coeficiente se suma al log, y sumar en log es multiplicar: 10 elevado a 0,27 = 1,87. Por eso los dos tiempos se dividen y no se restan.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Lectura: un viaje en Bip! tarda 1,87 veces lo que uno en auto, a igual distancia.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Advertencia: el R² ajustado</a:t>
            </a:r>
          </a:p>
        </p:txBody>
      </p:sp>
      <p:pic>
        <p:nvPicPr>
          <p:cNvPr id="4" name="Picture 3" descr="c4_17_r2_ajus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143000"/>
            <a:ext cx="6309360" cy="2510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36384"/>
            <a:ext cx="7744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R² nunca baja al agregar variables; el ajustado descuenta cada una (en statsmodels, rsquared_adj). Con nuestros n es idéntico; con pocos datos, no. Para comparar modelos, el ajustado.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Síntesis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La regresión pone números a la asociación: cuánto cambia y por unidad de x; la múltiple, con las demás variables fijas.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matriz de correlación es el mapa para elegir variables; Anscombe recuerda que el número no reemplaza al gráfico.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Cuando la conclusión es sobre la ciudad, la regresión se pondera: WLS con el factor de expansión.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R² dice cuánto explica el modelo; el valor p, si un coeficiente se distingue del azar; las categóricas entran como dummies.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valor p quedó en deuda: la inferencia de la próxima clase lo explica de verdad.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Próxima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La Tarea 1 se entrega el jueves 10 de septiembre por Aula.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No hay clases el 11 (actividades de Fiestas Patrias) ni el 18 (vacaciones).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Viernes 25 de septiembre: inferencia estadística (qué significa el valor p que statsmodels ya nos mostró), control Q2 (Cairo, Introducción + cap. 2) y entrega de la propuesta de proyecto.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234440"/>
            <a:ext cx="774496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Anscombe, F. J. (1973). Graphs in Statistical Analysis. The American Statistician, 27(1), 17-21.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Seabold, S. y Perktold, J. (2010). statsmodels: Econometric and statistical modeling with Python. Proceedings of the 9th Python in Science Conference.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VanderPlas, J. (2016). Python Data Science Handbook. O'Reilly. Capítulo 5 (regresión lineal).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Datos: Encuesta Origen Destino Santiago 2012 (Sectra) e iris (Fisher, 1936).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
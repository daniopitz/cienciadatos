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Inferencia estadística y regresión logística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6 · Inferencia con bootstrap y valor p · Regresión logística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INF-396 · Departamento de Informática · UTFSM · viernes 2 de octubre,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Avisos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Certamen 1 es el viernes 9 de octubre, en el horario de clases: unidades 1 a 5, incluida la regresión lineal y la inferencia de hoy.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guía de estudio está publicada en el repositorio: 37 preguntas de alternativas, desarrollo y cálculo, ordenadas por tipo, con el temario por unidad al inicio.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certamen es escrito e individual, sin computador ni apuntes. Se puede usar calculadora; las hojas de desarrollo las entrega la profesora.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Tarea 1 está en corrección; las notas se publican por Aula.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pic>
        <p:nvPicPr>
          <p:cNvPr id="4" name="Picture 3" descr="c6i_conteni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12" y="1097280"/>
            <a:ext cx="7005374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Dos bloques de 70 minutos. El primero responde si la pendiente de la clase 04 es real o azar; el segundo modela una respuesta que es sí o 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Bloque 1 · ¿De dónde salen las otras muestras?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Primero, un repaso de la recta de la clase 04; después, cuánto se movería esa recta con otra muestra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EOD es un sorteo</a:t>
            </a:r>
          </a:p>
        </p:txBody>
      </p:sp>
      <p:pic>
        <p:nvPicPr>
          <p:cNvPr id="4" name="Picture 3" descr="c6i_sort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59" y="1097280"/>
            <a:ext cx="715848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SECTRA sorteó 18.264 hogares entre los 2.051.310 del Gran Santiago. Otro sorteo habría dado otra tabla y otros números: cada cifra que calculamos es el resultado de un sorteo. La pregunta de hoy es cuánto se movería.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Repaso: la recta de la clase 04</a:t>
            </a:r>
          </a:p>
        </p:txBody>
      </p:sp>
      <p:pic>
        <p:nvPicPr>
          <p:cNvPr id="4" name="Picture 3" descr="c3_18_ingreso_duracion_re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771" y="1097280"/>
            <a:ext cx="4786457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Cada punto es una comuna, con su ingreso medio del hogar y la duración media de sus viajes, ponderados por el factor. La recta de mínimos cuadrados: duración = 38,3 − 4,8 · ingreso. Por cada millón de pesos más de ingreso medio, los viajes duran 4,8 minutos menos. Son 45 comunas.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Repaso: el summary de la clase 04</a:t>
            </a:r>
          </a:p>
        </p:txBody>
      </p:sp>
      <p:pic>
        <p:nvPicPr>
          <p:cNvPr id="4" name="Picture 3" descr="summary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299" y="1097280"/>
            <a:ext cx="562140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misma recta en statsmodels. En la clase 04 leímos los coeficientes (38,3 y −4,8) y el intervalo de confianza [−8,9; −0,75]. Hoy veremos de dónde salen el error estándar (std err), la t, el valor p = 0,021 y el 95% del intervalo. La pregunta: ¿la pendiente de −4,8 es real, o es azar de las 45 comunas?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Descriptiva e inferencia</a:t>
            </a:r>
          </a:p>
        </p:txBody>
      </p:sp>
      <p:pic>
        <p:nvPicPr>
          <p:cNvPr id="4" name="Picture 3" descr="c6i_descriptiva_inf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726" y="1097280"/>
            <a:ext cx="6432546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descriptiva habla de la tabla que tenemos; la inferencia, de la población de la que salió, con su incertidumbre. Dos preguntas: cuánto vale, y si es real o azar.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1. El azar tiene forma</a:t>
            </a:r>
          </a:p>
        </p:txBody>
      </p:sp>
      <p:pic>
        <p:nvPicPr>
          <p:cNvPr id="4" name="Picture 3" descr="c6i_map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2" y="1097280"/>
            <a:ext cx="6411015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Probabilidad, el lenguaje de la incertidumbre: variables aleatorias y distribuciones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Una variable aleatoria y su distribución</a:t>
            </a:r>
          </a:p>
        </p:txBody>
      </p:sp>
      <p:pic>
        <p:nvPicPr>
          <p:cNvPr id="4" name="Picture 3" descr="c5_01_distribucion_d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56" y="1097280"/>
            <a:ext cx="6551087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duración del próximo viaje depende del azar: es una variable aleatoria. Su distribución dice qué valores toma y con qué frecuencia: en la población, el histograma. La esperanza es su media.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duración de un viaje no es normal</a:t>
            </a:r>
          </a:p>
        </p:txBody>
      </p:sp>
      <p:pic>
        <p:nvPicPr>
          <p:cNvPr id="4" name="Picture 3" descr="c5_02_normal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5935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0054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Esta slide habla de la variable, un viaje a la vez, no de promedios. La duración de un viaje tiene cola larga (asimetría 5,3) y no sigue una campana; su logaritmo sí se acerca a ella, y esa es la razón de fondo del logaritmo de la clase 04. El azar de esta variable tiene forma, pero no de campana.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media de 100 viajes sí es una campana</a:t>
            </a:r>
          </a:p>
        </p:txBody>
      </p:sp>
      <p:pic>
        <p:nvPicPr>
          <p:cNvPr id="4" name="Picture 3" descr="c5_30_media_variable_alea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531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3834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Ahora hablamos de promedios. A la izquierda, otra vez la variable: la duración de un viaje, asimétrica. A la derecha, la media de 100 viajes, calculada 2.000 veces con 100 viajes distintos: su valor depende de qué viajes cayeron en la muestra, así que también es una variable aleatoria, y su distribución sí es una campana. Esa campana es la distribución normal.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normal: la forma de los promedios</a:t>
            </a:r>
          </a:p>
        </p:txBody>
      </p:sp>
      <p:pic>
        <p:nvPicPr>
          <p:cNvPr id="4" name="Picture 3" descr="c5_03_normal_reg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6065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1353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campana de la slide anterior, con nombre. Tiene dos parámetros: μ, su media, y σ, su desviación estándar, y el 95% de sus valores cae a menos de 1,96 σ de μ. Es la distribución de la inferencia porque los promedios la siguen, aunque la variable que se promedia no lo haga; ese 1,96 vuelve en los intervalos de confianza.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333333"/>
                </a:solidFill>
                <a:latin typeface="Fira Sans"/>
              </a:rPr>
              <a:t>Notar que </a:t>
            </a:r>
            <a:r>
              <a:rPr sz="1300" b="1">
                <a:solidFill>
                  <a:srgbClr val="333333"/>
                </a:solidFill>
                <a:latin typeface="Fira Sans"/>
              </a:rPr>
              <a:t>la regla 68-95-99,7 es una propiedad de la normal, no de cualquier variable: en la duración de un viaje, el 87% de los valores queda a menos de 1 σ de la media, y μ − 1,96 σ es negativo, sin sentido para una duración.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2. Un número se mueve</a:t>
            </a:r>
          </a:p>
        </p:txBody>
      </p:sp>
      <p:pic>
        <p:nvPicPr>
          <p:cNvPr id="4" name="Picture 3" descr="c6i_map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2" y="1097280"/>
            <a:ext cx="6411015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Muestra y población: una muestra es una de muchas posibles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Dos muestras, dos medias</a:t>
            </a:r>
          </a:p>
        </p:txBody>
      </p:sp>
      <p:pic>
        <p:nvPicPr>
          <p:cNvPr id="4" name="Picture 3" descr="c5_05_dos_muest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5973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0438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Hoy tratamos los 113 mil viajes de la EOD como si fueran la población, para poder muestrear muchas veces. Cada muestra de 100 viajes da otra media; ninguna es la poblacional.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distribución muestral de la media</a:t>
            </a:r>
          </a:p>
        </p:txBody>
      </p:sp>
      <p:pic>
        <p:nvPicPr>
          <p:cNvPr id="4" name="Picture 3" descr="c5_06_distribucion_mues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54" y="1097280"/>
            <a:ext cx="689229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2.000 muestras, 2.000 medias: su histograma es la distribución muestral, centrada en la media real. Su desviación es el error estándar: cuánto se mueve la media de una muestra a otra. Se pudo hacer porque aquí tenemos la población.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Desviación estándar y error estándar</a:t>
            </a:r>
          </a:p>
        </p:txBody>
      </p:sp>
      <p:pic>
        <p:nvPicPr>
          <p:cNvPr id="4" name="Picture 3" descr="c6i_desviacion_vs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473" y="1097280"/>
            <a:ext cx="6587052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desviación estándar σ describe los datos: cuánto varía la duración de un viaje a otro. El error estándar EE(x̄) = σ/√n describe el estimador: cuánto varía la media de una muestra a otra. Es la desviación estándar de la distribución muestral; por eso es más chico, y baja con 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error estándar, desde una sola muestra</a:t>
            </a:r>
          </a:p>
        </p:txBody>
      </p:sp>
      <p:pic>
        <p:nvPicPr>
          <p:cNvPr id="4" name="Picture 3" descr="c6i_formula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51" y="1097280"/>
            <a:ext cx="6730897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Las 2.000 muestras fueron posibles porque aquí tenemos la población. En la vida real hay una sola muestra y ninguna población a la vista: la fórmula da casi el mismo número desde esa muestra, con s en lugar de 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teorema central del límite</a:t>
            </a:r>
          </a:p>
        </p:txBody>
      </p:sp>
      <p:pic>
        <p:nvPicPr>
          <p:cNvPr id="4" name="Picture 3" descr="c6i_t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52" y="1097280"/>
            <a:ext cx="7220494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media de una muestra se distribuye normal alrededor de la media real, con desviación σ/√n, aunque la variable no sea normal. Por eso la normal es la distribución de la inferencia: los promedios lo son, y la regla del 1,96 σ se les puede aplicar.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3. Primer uso del error estándar: el intervalo</a:t>
            </a:r>
          </a:p>
        </p:txBody>
      </p:sp>
      <p:pic>
        <p:nvPicPr>
          <p:cNvPr id="4" name="Picture 3" descr="c6i_mapa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2" y="1097280"/>
            <a:ext cx="6411015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Del error estándar a un rango honesto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la distribución muestral al intervalo</a:t>
            </a:r>
          </a:p>
        </p:txBody>
      </p:sp>
      <p:pic>
        <p:nvPicPr>
          <p:cNvPr id="4" name="Picture 3" descr="c5_18_puente_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4906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97645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Paso 1: por el TCL las medias muestrales son normales, así que el 95% cae a menos de 1,96 EE de μ. Paso 2, la misma frase al revés: μ está a menos de 1,96 EE de la media de mi muestra en el 95% de las muestras. Ese rango es el intervalo.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intervalo de confianza del 95%</a:t>
            </a:r>
          </a:p>
        </p:txBody>
      </p:sp>
      <p:pic>
        <p:nvPicPr>
          <p:cNvPr id="4" name="Picture 3" descr="c6i_formula_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63" y="1097280"/>
            <a:ext cx="7667672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Se lee sobre el procedimiento: si repitiéramos el muestreo, el 95% de los intervalos atraparía la media real. Este intervalo en particular la atrapa o no; nunca sabremos cuál de los 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Comprobado con la población</a:t>
            </a:r>
          </a:p>
        </p:txBody>
      </p:sp>
      <p:pic>
        <p:nvPicPr>
          <p:cNvPr id="4" name="Picture 3" descr="c6i_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570" y="1097280"/>
            <a:ext cx="6736858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100 muestras de 100 viajes, 100 intervalos: los rojos no atrapan la media. Cerca del 95% lo hace; con cola larga y n = 100, un poco menos.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4. La pendiente también se mueve</a:t>
            </a:r>
          </a:p>
        </p:txBody>
      </p:sp>
      <p:pic>
        <p:nvPicPr>
          <p:cNvPr id="4" name="Picture 3" descr="c6i_mapa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2" y="1097280"/>
            <a:ext cx="6411015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recta del repaso: duración = a + b · ingreso, con b = −4,8 minutos por millón y 45 comunas (el coef del ingreso en el summary). Otra muestra de comunas daría otra b. ¿Cuánto se mueve?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Qué es el bootstrap</a:t>
            </a:r>
          </a:p>
        </p:txBody>
      </p:sp>
      <p:pic>
        <p:nvPicPr>
          <p:cNvPr id="4" name="Picture 3" descr="c6i_que_es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88" y="1097280"/>
            <a:ext cx="7535822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No hay una población de comunas de donde sacar otra muestra, así que la muestra hace de población: se sacan de ella muestras nuevas de 45, con reemplazo, y se mira cuánto cambia la pendiente entre ellas. Sin reemplazo no serviría: 45 de 45 son siempre las mismas 45.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Otra remuestra, otra recta</a:t>
            </a:r>
          </a:p>
        </p:txBody>
      </p:sp>
      <p:pic>
        <p:nvPicPr>
          <p:cNvPr id="4" name="Picture 3" descr="c5_24_rectas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6170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24073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Cada remuestra da una recta y cada recta una pendiente: 30 rectas, 30 pendientes. Las 30 son solo para ver la idea; para ver la forma completa hacen falta más, y la siguiente slide dice cuántas y por qué.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 3 comunas, 10 remuestras posibles</a:t>
            </a:r>
          </a:p>
        </p:txBody>
      </p:sp>
      <p:pic>
        <p:nvPicPr>
          <p:cNvPr id="4" name="Picture 3" descr="c5_37_tres_com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724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31083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Con tres comunas A, B y C, una remuestra saca tres con reemplazo. El orden no importa, porque el mismo conjunto de puntos da la misma recta: ABA es lo mismo que AAB. Quedan 10 conjuntos posibles: 3 con una sola comuna repetida (sin recta), 6 con una repetida y otra distinta, y 1 con las tres. Con 45 comunas el mismo conteo da 5 × 10²⁵ remuestras posibles: las 2.000 que sacamos son todas distintas.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¿Por qué 2.000 remuestras, y no 30?</a:t>
            </a:r>
          </a:p>
        </p:txBody>
      </p:sp>
      <p:pic>
        <p:nvPicPr>
          <p:cNvPr id="4" name="Picture 3" descr="c5_36_por_que_2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5955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0258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Con 30 remuestras el histograma es tosco y el error estándar todavía se mueve de una corrida a otra; desde unas 2.000 deja de cambiar, y esa estabilidad es lo que hace falta para medirlo. Como hay 5 × 10²⁵ remuestras posibles, las 2.000 no agotan nada: son una fracción ínfima, todas distintas.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Remuestrear los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3444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09728"/>
          <a:lstStyle/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>from sklearn.utils import resample</a:t>
            </a:r>
          </a:p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/>
            </a:r>
          </a:p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>pendientes = []</a:t>
            </a:r>
          </a:p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>for i in range(2000):</a:t>
            </a:r>
          </a:p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>    x_r, y_r = resample(x, y, replace=True, random_state=i)</a:t>
            </a:r>
          </a:p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>    pendientes.append(pendiente_ols(x_r, y_r))</a:t>
            </a:r>
          </a:p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>np.percentile(pendientes, [2.5, 97.5])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29768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300" b="0">
                <a:solidFill>
                  <a:srgbClr val="000000"/>
                </a:solidFill>
                <a:latin typeface="Fira Sans"/>
              </a:rPr>
              <a:t>resample saca las 45 filas con reemplazo y OLS ajusta la recta de cada remuestra. Las 2.000 pendientes forman la distribución muestral de la pendiente, sin fórmulas ni supuestos. scipy.stats.bootstrap hace lo mismo en una línea; está en el notebook.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distribución de la pendiente</a:t>
            </a:r>
          </a:p>
        </p:txBody>
      </p:sp>
      <p:pic>
        <p:nvPicPr>
          <p:cNvPr id="4" name="Picture 3" descr="c5_13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15" y="1097280"/>
            <a:ext cx="7120969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Con bootstrap, el histograma: una campana alrededor de la pendiente observada, cuya desviación es el error estándar de la pendiente. Sin bootstrap, la campana punteada: la fórmula de statsmodels, que viene en la siguiente slide. Casi ninguna remuestra llega al 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intervalo bootstrap</a:t>
            </a:r>
          </a:p>
        </p:txBody>
      </p:sp>
      <p:pic>
        <p:nvPicPr>
          <p:cNvPr id="4" name="Picture 3" descr="c5_40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731" y="1097280"/>
            <a:ext cx="6964536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Ordenar las 2.000 pendientes: la número 50 desde abajo es el percentil 2,5 y la número 50 desde arriba, el 97,5. Entre ambas queda el 95% central de las remuestras, y ese es el intervalo. No supone forma de campana: lo lee directo del histograma.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fórmula de statsmodels: std err</a:t>
            </a:r>
          </a:p>
        </p:txBody>
      </p:sp>
      <p:pic>
        <p:nvPicPr>
          <p:cNvPr id="4" name="Picture 3" descr="c5_11b_summary_coef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1999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612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Sin remuestrear, a partir de los residuos: la columna std err que vimos en la clase 04. El error estándar de la pendiente es 2,02, cerca del 1,8 del bootstrap. Las demás columnas se van a ir pintando a medida que lleguen sus conceptos.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intervalo, en el summary</a:t>
            </a:r>
          </a:p>
        </p:txBody>
      </p:sp>
      <p:pic>
        <p:nvPicPr>
          <p:cNvPr id="4" name="Picture 3" descr="c5_11a_summary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1999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612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Las columnas [0.025 0.975]: b ± 2,02 · EE = [−8,9; −0,75]. El primer uso del error estándar, ahora para la pendiente. Es el intervalo que dibujamos en la clase 04 sin saber todavía de dónde salía.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 y sin bootstrap</a:t>
            </a:r>
          </a:p>
        </p:txBody>
      </p:sp>
      <p:pic>
        <p:nvPicPr>
          <p:cNvPr id="4" name="Picture 3" descr="c5_34_tabla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5935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0054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Dos caminos al mismo número, con la misma muestra de 45 comunas: se parecen, y ningún intervalo incluye el 0. La fórmula es instantánea, pero existe solo para algunos estadísticos y supone cosas sobre los residuos.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¿Cuándo bootstrap y cuándo la fórmula?</a:t>
            </a:r>
          </a:p>
        </p:txBody>
      </p:sp>
      <p:pic>
        <p:nvPicPr>
          <p:cNvPr id="4" name="Picture 3" descr="c6i_cuando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900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0760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fórmula es exacta e instantánea cuando el estadístico es una media o un coeficiente y los errores se portan bien. El bootstrap sirve para cualquier estadístico y no supone forma de campana.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5. Segundo uso del error estándar: el contraste</a:t>
            </a:r>
          </a:p>
        </p:txBody>
      </p:sp>
      <p:pic>
        <p:nvPicPr>
          <p:cNvPr id="4" name="Picture 3" descr="c6i_mapa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2" y="1097280"/>
            <a:ext cx="6411015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Prueba de hipótesis y valor p: ¿la pendiente es real o azar?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Qué tiene que ver p con la regresión</a:t>
            </a:r>
          </a:p>
        </p:txBody>
      </p:sp>
      <p:pic>
        <p:nvPicPr>
          <p:cNvPr id="4" name="Picture 3" descr="c5_45_p_y_regre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9539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6094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Con p = 0,021 concluimos que la relación entre ingreso y duración probablemente es real; con p = 0,40 no podríamos distinguir la recta del ruido. Lo que p no dice: si el efecto es grande, ni si es causal.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Dos vistas: intervalo y prueba</a:t>
            </a:r>
          </a:p>
        </p:txBody>
      </p:sp>
      <p:pic>
        <p:nvPicPr>
          <p:cNvPr id="4" name="Picture 3" descr="c6i_dos_campa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599" y="1097280"/>
            <a:ext cx="545280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Vista 1, el intervalo: la campana centrada en −4,8, lo que obtuvimos; el 95% central va de −8,9 a −0,75 y el 0 queda fuera. Vista 2, la prueba: la misma campana centrada en 0, lo que diría el azar sin relación; nuestra −4,8 cae en la cola, t = −2,4 y p = 0,021. Son la misma afirmación, mirada desde el intervalo o desde la prueba.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256032"/>
            <a:ext cx="3108960" cy="603504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000" b="0">
                <a:solidFill>
                  <a:srgbClr val="333333"/>
                </a:solidFill>
                <a:latin typeface="Fira Sans"/>
              </a:rPr>
              <a:t>la recta de la clase 04</a:t>
            </a:r>
          </a:p>
          <a:p>
            <a:pPr algn="ctr"/>
            <a:r>
              <a:rPr sz="1300" b="0">
                <a:solidFill>
                  <a:srgbClr val="1D3557"/>
                </a:solidFill>
                <a:latin typeface="Fira Sans"/>
              </a:rPr>
              <a:t>duración = 38,3 − 4,8 · ingreso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lógica de la prueba</a:t>
            </a:r>
          </a:p>
        </p:txBody>
      </p:sp>
      <p:pic>
        <p:nvPicPr>
          <p:cNvPr id="4" name="Picture 3" descr="c6i_logica_pa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12" y="1097280"/>
            <a:ext cx="7237174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Cuidado con la lectura: p es la probabilidad de los datos si H0 fuera cierta, no la probabilidad de que H0 sea cierta. p = 0,021 no dice que haya un 2% de probabilidad de que la pendiente real sea 0.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t, en el summary</a:t>
            </a:r>
          </a:p>
        </p:txBody>
      </p:sp>
      <p:pic>
        <p:nvPicPr>
          <p:cNvPr id="4" name="Picture 3" descr="c5_11d_summary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1999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612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t = −4,81 / 2,02 = −2,39: la pendiente está a 2,4 errores estándar del cero. Falta saber qué tan raro es eso, y con qué distribución se mide.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 y p: la fórmula y el código</a:t>
            </a:r>
          </a:p>
        </p:txBody>
      </p:sp>
      <p:pic>
        <p:nvPicPr>
          <p:cNvPr id="4" name="Picture 3" descr="c5_44_t_p_formula_codi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12" y="1097280"/>
            <a:ext cx="6930375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F es la acumulada de la t de Student con n − 2 = 43 grados de libertad: la normal con un margen extra, porque σ se estimó con s. Por eso el intervalo usa 2,02 y no 1,96.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summary completo</a:t>
            </a:r>
          </a:p>
        </p:txBody>
      </p:sp>
      <p:pic>
        <p:nvPicPr>
          <p:cNvPr id="4" name="Picture 3" descr="c5_11_summary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1999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612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última columna, P&gt;|t| = 0,021: si la pendiente real fuera 0, un t así de lejos ocurre el 2,1% de las veces. Las cinco columnas, pintadas: coeficiente, error estándar, intervalo, t y valor 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respuesta a 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 pendiente que nos dio el modelo no es azar: en las comunas de mayor ingreso los viajes duran menos, unos 4,8 minutos menos por cada millón de pesos de ingreso medio (entre 0,75 y 8,9).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Lo que la sostiene: p = 0,021 y el intervalo [−8,9; −0,75] no incluye el 0. Con 45 comunas apenas cruza el umbral, porque p depende del efecto y del tamaño de la muestra.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Que un efecto sea estadísticamente significativo no dice que sea grande: el tamaño lo da el coeficiente, y su precisión, el intervalo.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Correlación no es causalidad, tampoco con p pequeño.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Por qué esto importa en ciencia de datos</a:t>
            </a:r>
          </a:p>
        </p:txBody>
      </p:sp>
      <p:pic>
        <p:nvPicPr>
          <p:cNvPr id="4" name="Picture 3" descr="c6i_por_que_impo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88" y="1097280"/>
            <a:ext cx="7535822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Un modelo también sale de una muestra: sus coeficientes, sus predicciones y sus métricas se mueven, y medir ese movimiento es lo que permite comparar modelos y detectar el sobreajuste.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 del bloque 1</a:t>
            </a:r>
          </a:p>
        </p:txBody>
      </p:sp>
      <p:pic>
        <p:nvPicPr>
          <p:cNvPr id="4" name="Picture 3" descr="c6i_sintesis_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41" y="1097280"/>
            <a:ext cx="7082717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Inferir es pasar de la muestra a la población cuantificando la incertidumbre. La herramienta es el error estándar, y se usa dos veces: en el intervalo y en la prueba.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Recreo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Al volver: una respuesta que es sí o no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Bloque 2 · La pregunta: ¿sí o 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¿Qué clientes de una tarjeta de crédito dejarán de pagar? ¿Qué pasajeros del Titanic sobrevivieron? La respuesta no es un número: es un sí o un no.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regresión de la clase 04 explica un número con una recta. Ahora la misma recta explica un sí o no, y para eso hay que pasarla por una curva.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modelo no entrega el sí o el no: entrega una probabilidad. Decidir es cortarla en un umbral, y toda decisión tiene dos formas de equivocarse.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Dos ejemplos: 10.000 clientes de tarjeta de crédito (James et al.) y 891 pasajeros del Titanic. Los datos están en datos/clase06/ del repositorio.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del bloque</a:t>
            </a:r>
          </a:p>
        </p:txBody>
      </p:sp>
      <p:pic>
        <p:nvPicPr>
          <p:cNvPr id="4" name="Picture 3" descr="c6i_mapa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2" y="1097280"/>
            <a:ext cx="6411015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Una respuesta que es sí o no</a:t>
            </a:r>
          </a:p>
        </p:txBody>
      </p:sp>
      <p:pic>
        <p:nvPicPr>
          <p:cNvPr id="4" name="Picture 3" descr="c6i_ejemp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61" y="1097280"/>
            <a:ext cx="7687677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En todos los casos la respuesta y vale 1 (sí) o 0 (no), y hay una o más variables x con las que explicarla. Es la misma estructura de la regresión: y a partir de 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datos: los clientes de la tarjeta</a:t>
            </a:r>
          </a:p>
        </p:txBody>
      </p:sp>
      <p:pic>
        <p:nvPicPr>
          <p:cNvPr id="4" name="Picture 3" descr="c6_36_datos_cl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6383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536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Antes de graficar nada, la tabla. Cada fila es un cliente. default dice si dejó de pagar y student si es estudiante, las dos en Yes o No; balance es la deuda en la tarjeta después del pago mensual e income el ingreso anual, en dólares.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Ejemplo 1: ¿qué clientes dejan de pagar?</a:t>
            </a:r>
          </a:p>
        </p:txBody>
      </p:sp>
      <p:pic>
        <p:nvPicPr>
          <p:cNvPr id="4" name="Picture 3" descr="c6_02_default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764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7197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Datos del libro de James et al.: 10.000 clientes, su deuda en la tarjeta (lo que deben después del pago mensual), su ingreso anual y si son estudiantes. Solo 333 dejaron de pagar: el sí es raro, y eso importará al final.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Bernoulli y la proporción</a:t>
            </a:r>
          </a:p>
        </p:txBody>
      </p:sp>
      <p:pic>
        <p:nvPicPr>
          <p:cNvPr id="4" name="Picture 3" descr="c6_03_bernoul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7371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441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p es la proporción de unos en la columna: 333 de 10.000, 0,033. Un cliente al azar es una Bernoulli con esa p: la distribución más simple, dos resultados y una probabilidad. La logística modela esa p según la deuda.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del bloque</a:t>
            </a:r>
          </a:p>
        </p:txBody>
      </p:sp>
      <p:pic>
        <p:nvPicPr>
          <p:cNvPr id="4" name="Picture 3" descr="c6i_mapa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2" y="1097280"/>
            <a:ext cx="6411015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probabilidad de no pagar, por tramo de deuda</a:t>
            </a:r>
          </a:p>
        </p:txBody>
      </p:sp>
      <p:pic>
        <p:nvPicPr>
          <p:cNvPr id="4" name="Picture 3" descr="c6_25_fra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808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1507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Se agrupan los clientes por tramo de deuda y en cada tramo se cuenta cuántos dejaron de pagar. La fracción es la probabilidad de no pagar de ese tramo, estimada con los datos: casi 0 con deudas bajas, 0,50 entre 1.800 y 2.100 dólares, 1 desde los 2.400. Los nueve puntos tienen forma de S: esa es la curva que hace falta.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Por qué la recta no sirve</a:t>
            </a:r>
          </a:p>
        </p:txBody>
      </p:sp>
      <p:pic>
        <p:nvPicPr>
          <p:cNvPr id="4" name="Picture 3" descr="c6_04_recta_vs_cur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830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3700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Nada impide ajustar la recta de la clase 04 con el 0/1 como respuesta, pero una probabilidad vive entre 0 y 1: con deuda 0 la recta da −0,08, y a los 2.000 dólares da 0,18 cuando la fracción real es 0,50. Las fracciones suben en forma de S, y la curva de la derecha las sigue: es la regresión logística.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del bloque</a:t>
            </a:r>
          </a:p>
        </p:txBody>
      </p:sp>
      <p:pic>
        <p:nvPicPr>
          <p:cNvPr id="4" name="Picture 3" descr="c6i_mapa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2" y="1097280"/>
            <a:ext cx="6411015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la probabilidad a los odds (chances)</a:t>
            </a:r>
          </a:p>
        </p:txBody>
      </p:sp>
      <p:pic>
        <p:nvPicPr>
          <p:cNvPr id="4" name="Picture 3" descr="c6_26_ch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7371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441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Los odds (chances) son la probabilidad dicha de otra forma: cuántos síes por cada no. P = 0,8 son odds de 4 a 1. Van de 0 a infinito, así que ya no tienen el techo de 1, pero siguen sin poder ser negativas.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Despejar P: de la recta a la sigmoide</a:t>
            </a:r>
          </a:p>
        </p:txBody>
      </p:sp>
      <p:pic>
        <p:nvPicPr>
          <p:cNvPr id="4" name="Picture 3" descr="c6_32_despe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889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96373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El modelo dice que el logaritmo de los odds es la recta z: el logaritmo puede ser cualquier número, positivo o negativo, y ahí sí cabe una recta. Para volver a la probabilidad hay que despejar P, y el resultado es la sigmoide: por eso el exponente es la recta.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19672" y="283464"/>
            <a:ext cx="1929384" cy="658368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000" b="0">
                <a:solidFill>
                  <a:srgbClr val="333333"/>
                </a:solidFill>
                <a:latin typeface="Fira Sans"/>
              </a:rPr>
              <a:t>Recordatorio</a:t>
            </a:r>
          </a:p>
          <a:p>
            <a:pPr algn="ctr"/>
            <a:r>
              <a:rPr sz="1300" b="0">
                <a:solidFill>
                  <a:srgbClr val="1D3557"/>
                </a:solidFill>
                <a:latin typeface="Fira Sans"/>
              </a:rPr>
              <a:t>odds = P / (1 − P)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misma relación en tres escalas</a:t>
            </a:r>
          </a:p>
        </p:txBody>
      </p:sp>
      <p:pic>
        <p:nvPicPr>
          <p:cNvPr id="4" name="Picture 3" descr="c6_28_tres_esca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4899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9692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Con los tramos de la slide anterior. En odds, los puntos suben como una exponencial; en log de los odds (chances), siguen una recta, y eso es lo que el modelo supone; y al despejar P como en la slide anterior, la S. La recta y la S son la misma relación vista en dos escalas.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regresión logística</a:t>
            </a:r>
          </a:p>
        </p:txBody>
      </p:sp>
      <p:pic>
        <p:nvPicPr>
          <p:cNvPr id="4" name="Picture 3" descr="c6_06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8663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7331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El modelo dice que el log de los odds (chances) es una recta en x. Despejar P de esa ecuación da la sigmoide: por eso el exponente es a + b·x, es la misma recta. Y como sumar b en un logaritmo es multiplicar afuera, e^b dice cuánto se multiplican los odds por cada unidad de x, igual que el modelo en logaritmo de la clase 04.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dónde salen los números: el summary</a:t>
            </a:r>
          </a:p>
        </p:txBody>
      </p:sp>
      <p:pic>
        <p:nvPicPr>
          <p:cNvPr id="4" name="Picture 3" descr="c6_09_summary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1999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612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smf.logit entrega el mismo summary que la regresión lineal: coef son a = −10,65 y b = 0,55, con su error estándar, su intervalo y su valor p. La única diferencia es z en lugar de t: con 10.000 clientes la referencia es la normal, y P&gt;|z| se lee igual que P&gt;|t|. Esos dos coeficientes son los que van en la fórmula de la slide siguiente.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modelo ajustado a los clientes</a:t>
            </a:r>
          </a:p>
        </p:txBody>
      </p:sp>
      <p:pic>
        <p:nvPicPr>
          <p:cNvPr id="4" name="Picture 3" descr="c6i_modelo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029" y="1097280"/>
            <a:ext cx="6597941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deuda₁₀₀ es la deuda en la tarjeta en cientos de dólares: 2.000 dólares son 20. Se divide por 100 para que b se lea por cada 100 dólares, como el ingreso en millones de la clase 04. a fija el nivel con deuda 0, b dice cuánto sube el log de los odds (chances) por cada 100 dólares, y e^b lo dice como multiplicación.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sigmoide</a:t>
            </a:r>
          </a:p>
        </p:txBody>
      </p:sp>
      <p:pic>
        <p:nvPicPr>
          <p:cNvPr id="4" name="Picture 3" descr="c6_05_sigmo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49" y="1097280"/>
            <a:ext cx="765070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función que apareció al despejar. Recibe la recta z = a + b·x, el log de los odds, y devuelve la probabilidad: en z = 0 (odds 1 a 1) vale 0,5; hacia la derecha se acerca a 1 y hacia la izquierda a 0, sin pasarse nunca.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se lee b: los odds (chances) se multiplican</a:t>
            </a:r>
          </a:p>
        </p:txBody>
      </p:sp>
      <p:pic>
        <p:nvPicPr>
          <p:cNvPr id="4" name="Picture 3" descr="c6_07_lectura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30107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Con la deuda en cientos de dólares, b = 0,55 y e^b = 1,73: cada 100 dólares más de deuda multiplican los odds (chances) de no pagar por 1,7. En probabilidades: 0,01 con 1.000 dólares, 0,08 con 1.500, 0,59 con 2.000.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Probabilidad y odds no son lo mismo</a:t>
            </a:r>
          </a:p>
        </p:txBody>
      </p:sp>
      <p:pic>
        <p:nvPicPr>
          <p:cNvPr id="4" name="Picture 3" descr="c6i_p_vs_od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88" y="1097280"/>
            <a:ext cx="7535822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El coeficiente b habla de los odds, no de la probabilidad: cada 100 dólares multiplican los odds por 1,73, para cualquier deuda. En probabilidad no hay un número fijo: de 1.000 a 1.500 dólares P pasa de 0,01 a 0,08, y de 1.500 a 2.000 salta a 0,59.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logística en statsmodels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34440"/>
            <a:ext cx="7744968" cy="214884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09728"/>
          <a:lstStyle/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>import statsmodels.formula.api as smf</a:t>
            </a:r>
          </a:p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>modelo = smf.logit("no_paga ~ deuda_100", data=clientes).fit()</a:t>
            </a:r>
          </a:p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/>
            </a:r>
          </a:p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>np.exp(modelo.params["deuda_100"])     # e^b = 1,73</a:t>
            </a:r>
          </a:p>
          <a:p>
            <a:pPr algn="l"/>
            <a:r>
              <a:rPr sz="1300" b="0">
                <a:solidFill>
                  <a:srgbClr val="1D3557"/>
                </a:solidFill>
                <a:latin typeface="Menlo"/>
              </a:rPr>
              <a:t>modelo.predict(nuevos_clientes)       # probabilidades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6616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300" b="0">
                <a:solidFill>
                  <a:srgbClr val="000000"/>
                </a:solidFill>
                <a:latin typeface="Fira Sans"/>
              </a:rPr>
              <a:t>smf usa fórmulas del tipo y ~ x y agrega el intercepto solo: es el equivalente del sm.OLS con add_constant de la clase 04, con logit en lugar de ols. predict entrega probabilidades, no síes y noes. El código completo está en el notebook.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Cinco clientes ficticios</a:t>
            </a:r>
          </a:p>
        </p:txBody>
      </p:sp>
      <p:pic>
        <p:nvPicPr>
          <p:cNvPr id="4" name="Picture 3" descr="c6i_clientes_ficti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30341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El mismo cálculo de predict, a mano: la deuda en cientos de dólares entra a la recta z, e^z da los odds y la sigmoide da P. La probabilidad no sube parejo: casi nada hasta los 1.000 dólares, 0,08 a los 1.500 y 0,59 a los 2.000. Los odds sí se multiplican por lo mismo en cada tramo.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del bloque</a:t>
            </a:r>
          </a:p>
        </p:txBody>
      </p:sp>
      <p:pic>
        <p:nvPicPr>
          <p:cNvPr id="4" name="Picture 3" descr="c6i_mapa2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2" y="1097280"/>
            <a:ext cx="6411015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Varias variables: el caso del estudiante</a:t>
            </a:r>
          </a:p>
        </p:txBody>
      </p:sp>
      <p:pic>
        <p:nvPicPr>
          <p:cNvPr id="4" name="Picture 3" descr="c6_10_estudi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764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7197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Solos, los estudiantes dejan de pagar más (4,3% contra 2,9%). Pero deben más, y a igual deuda dejan de pagar menos. Es la confusión de variables de la clase 04: el coeficiente de una x cambia según qué otras x estén en el modelo.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mecanismo, con 200 clientes inventados</a:t>
            </a:r>
          </a:p>
        </p:txBody>
      </p:sp>
      <p:pic>
        <p:nvPicPr>
          <p:cNvPr id="4" name="Picture 3" descr="c6i_ejemplo_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4427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4976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En deuda baja los estudiantes pagan mejor (0% contra 5%) y en deuda alta también (40% contra 50%). Pero 80 de los 100 estudiantes tienen deuda alta, donde casi todos pagan mal, y solo 20 de los 100 no estudiantes: por eso en el total parecen peores (32% contra 14%). El modelo con solo estudiante lee el total; el modelo con la deuda compara dentro de cada tramo. Ninguno se equivoca: responden preguntas distintas.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summary con estudiante y deuda</a:t>
            </a:r>
          </a:p>
        </p:txBody>
      </p:sp>
      <p:pic>
        <p:nvPicPr>
          <p:cNvPr id="4" name="Picture 3" descr="c6_35_summary_estudiante_deu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021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287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Solo con estudiante, el coeficiente era 0,40 (e^0,40 = 1,50: los odds de un estudiante eran 1,5 veces las de un no estudiante). Se agrega la deuda y el coeficiente se da vuelta: pasa a −0,71, y e^(−0,71) = 0,49. A igual deuda, los odds (chances) de no pagar de un estudiante son la mitad.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summary con varias variables</a:t>
            </a:r>
          </a:p>
        </p:txBody>
      </p:sp>
      <p:pic>
        <p:nvPicPr>
          <p:cNvPr id="4" name="Picture 3" descr="c6_11_summary_mult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3337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5407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Estudiante es una dummy, como el modo de la clase 04: e^(−0,65) = 0,52, a igual deuda e ingreso, los odds de un estudiante son la mitad. El ingreso no aporta (p = 0,71), pero no por la deuda: el ingreso y ser estudiante van juntos, 18 mil dólares contra 40 mil, así que con estudiante adentro el ingreso no dice nada nuevo.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modelo final, escrito: los clientes</a:t>
            </a:r>
          </a:p>
        </p:txBody>
      </p:sp>
      <p:pic>
        <p:nvPicPr>
          <p:cNvPr id="4" name="Picture 3" descr="c6_29_modelo_deu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8614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68501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El modelo que queda: deuda y estudiante, porque el ingreso no aportaba. Para un cliente concreto se reemplazan sus valores, sale z, y la sigmoide lo convierte en probabilidad. Es lo que hace predict.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Cuatro clientes ficticios, con dos variables</a:t>
            </a:r>
          </a:p>
        </p:txBody>
      </p:sp>
      <p:pic>
        <p:nvPicPr>
          <p:cNvPr id="4" name="Picture 3" descr="c6i_clientes_dos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8835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90577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El mismo cálculo que antes, ahora con dos variables: la deuda entra multiplicada por su coeficiente y la dummy estudiante suma el suyo solo cuando vale 1. A igual deuda, el estudiante tiene menos probabilidad de no pagar, porque su coeficiente es negativo.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datos: los pasajeros del Titanic</a:t>
            </a:r>
          </a:p>
        </p:txBody>
      </p:sp>
      <p:pic>
        <p:nvPicPr>
          <p:cNvPr id="4" name="Picture 3" descr="c6_37_datos_tita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3752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58230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El segundo dataset, con la misma mirada previa. survived vale 1 si el pasajero sobrevivió, pclass es la clase del pasaje (1, 2 o 3) y sex el sexo. La edad falta en 177 pasajeros, y el modelo usa los 714 que sí la tienen.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Ejemplo 2: ¿quién sobrevivió en el Titanic?</a:t>
            </a:r>
          </a:p>
        </p:txBody>
      </p:sp>
      <p:pic>
        <p:nvPicPr>
          <p:cNvPr id="4" name="Picture 3" descr="c6_12_titanic_tas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699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06665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El 74% de las mujeres sobrevivió contra el 19% de los hombres, y la clase del pasaje ordena a ambos grupos. Dos variables categóricas y la edad: la logística con dummies, otra vez.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summary del Titanic: cómo leer varios e^b</a:t>
            </a:r>
          </a:p>
        </p:txBody>
      </p:sp>
      <p:pic>
        <p:nvPicPr>
          <p:cNvPr id="4" name="Picture 3" descr="c6_13_summary_tita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581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88123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Cada coeficiente compara con una referencia: e^2,52 = 12,5, a igual clase y edad, los odds de una mujer son 12 veces las de un hombre; e^(−2,58) = 0,08, la tercera clase tiene el 8% de los odds de la primera; cada año de edad las multiplica por 0,96.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modelo final, escrito: el Titanic</a:t>
            </a:r>
          </a:p>
        </p:txBody>
      </p:sp>
      <p:pic>
        <p:nvPicPr>
          <p:cNvPr id="4" name="Picture 3" descr="c6_30_modelo_tita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8614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68501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Cada categórica aporta una dummy por categoría, menos la de referencia: mujer (contra hombre), clase2 y clase3 (contra primera). Una mujer de primera clase de 30 años lleva mujer = 1 y las dos dummies de clase en 0: z = 2,7 y P = 0,93. Un hombre de tercera de 30 años lleva clase3 = 1: z = −2,4 y P = 0,08.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Predecir con varias variables: cuatro perfiles</a:t>
            </a:r>
          </a:p>
        </p:txBody>
      </p:sp>
      <p:pic>
        <p:nvPicPr>
          <p:cNvPr id="4" name="Picture 3" descr="c6_14_per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2" y="1097280"/>
            <a:ext cx="7840074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recta suma el aporte de cada variable y la sigmoide lo convierte en probabilidad: 0,94 para una mujer de primera clase, 0,08 para un hombre de tercera, ambos de 30 años. Los perfiles del medio quedan cerca de 0,5: ahí el modelo duda.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del bloque</a:t>
            </a:r>
          </a:p>
        </p:txBody>
      </p:sp>
      <p:pic>
        <p:nvPicPr>
          <p:cNvPr id="4" name="Picture 3" descr="c6i_mapa2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2" y="1097280"/>
            <a:ext cx="6411015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Clasificar: de la probabilidad a la decisión</a:t>
            </a:r>
          </a:p>
        </p:txBody>
      </p:sp>
      <p:pic>
        <p:nvPicPr>
          <p:cNvPr id="4" name="Picture 3" descr="c6_15_umb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49" y="1097280"/>
            <a:ext cx="765070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Volvemos a los clientes del banco, con el modelo de la deuda. Un clasificador convierte P en sí o no con un umbral. Con 0,5, el modelo dice "no paga" desde los 1.937 dólares de deuda. A la derecha del corte hay clientes que sí pagan; a la izquierda, clientes que no: los dos errores.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matriz de confusión de los clientes</a:t>
            </a:r>
          </a:p>
        </p:txBody>
      </p:sp>
      <p:pic>
        <p:nvPicPr>
          <p:cNvPr id="4" name="Picture 3" descr="c6_16_matr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353" y="1097280"/>
            <a:ext cx="5911293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Los 10.000 clientes del banco, con el modelo de la deuda y el umbral 0,5. Lo real en las filas, lo predicho en las columnas. La diagonal son los aciertos; fuera de ella, los dos errores con nombre propio: falso negativo (era sí, dijo no) y falso positivo (era no, dijo sí). De 333 clientes que no pagan, el modelo detecta 100.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Falso positivo y falso negativo</a:t>
            </a:r>
          </a:p>
        </p:txBody>
      </p:sp>
      <p:pic>
        <p:nvPicPr>
          <p:cNvPr id="4" name="Picture 3" descr="c6i_fp_f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38" y="1097280"/>
            <a:ext cx="7260923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El modelo no sabe cuál error cuesta más: eso lo pone el problema. Para el banco, un falso negativo es dinero perdido; para un examen médico, una enfermedad sin detectar, como en la clase 01. Cómo elegir el umbral según ese costo queda para la clase de evaluación de modelos.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exactitud: qué fracción acertó</a:t>
            </a:r>
          </a:p>
        </p:txBody>
      </p:sp>
      <p:pic>
        <p:nvPicPr>
          <p:cNvPr id="4" name="Picture 3" descr="c6_31_exactitud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02" y="1097280"/>
            <a:ext cx="7203594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medida más obvia de un clasificador: los aciertos, la diagonal de la matriz, divididos por el total. 0,973 parece muy bueno. Pero cualquier exactitud hay que compararla con la de no tener modelo: predecir siempre la clase más frecuente, aquí "paga".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exactitud engaña cuando el sí es raro</a:t>
            </a:r>
          </a:p>
        </p:txBody>
      </p:sp>
      <p:pic>
        <p:nvPicPr>
          <p:cNvPr id="4" name="Picture 3" descr="c6_18_exact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5733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8039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El modelo acierta el 97,3% y decir que nadie deja de pagar acierta el 96,7%, que es 1 − 0,033: uno menos la proporción que no paga. De los 333 clientes que no pagan, el modelo detecta 100. Con un sí raro, la exactitud mide sobre todo lo fácil: los noes.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Titanic como clasificador</a:t>
            </a:r>
          </a:p>
        </p:txBody>
      </p:sp>
      <p:pic>
        <p:nvPicPr>
          <p:cNvPr id="4" name="Picture 3" descr="c6_22_titanic_clasifi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67" y="1097280"/>
            <a:ext cx="7745265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La base es decir que todos murieron: de los 714 pasajeros con edad, 424 murieron, así que acierta 424 / 714 = 0,59 y falla en los 290 que sobrevivieron. El modelo acierta el 79%: con un sí frecuente la exactitud sí informa, 20 puntos sobre la base. Los errores: 83 falsos negativos, pasajeros que sobrevivieron y el modelo daba por muertos, y 68 falsos positivos.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Evaluar fuera de la muestra</a:t>
            </a:r>
          </a:p>
        </p:txBody>
      </p:sp>
      <p:pic>
        <p:nvPicPr>
          <p:cNvPr id="4" name="Picture 3" descr="c6_23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6128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1985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Medir la exactitud en los mismos datos con que se ajustó el modelo es hacer trampa: el modelo ya los vio. Se separa una parte de prueba antes de ajustar. Con modelos simples como estos las dos cifras se parecen; con modelos más flexibles, la de prueba es la única que vale.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respuesta a la pregunta del bloque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modelo no dice quién deja de pagar ni quién sobrevivió: dice con qué probabilidad. Un cliente con 2.000 dólares de deuda tiene 0,59; una mujer de primera clase, 0,94.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sí o el no lo ponemos nosotros con el umbral, y cada umbral deja una cantidad de falsos positivos y de falsos negativos. Cómo elegirlo según el costo de cada error queda para la clase de evaluación de modelos.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exactitud sola no basta: hay que mirar los dos errores por separado, y medirlos en datos que el modelo no vio.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 del bloque 2</a:t>
            </a:r>
          </a:p>
        </p:txBody>
      </p:sp>
      <p:pic>
        <p:nvPicPr>
          <p:cNvPr id="4" name="Picture 3" descr="c6i_sintesis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863840" cy="28051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12185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Una Bernoulli, una recta pasada por la sigmoide, la lectura con e^b y el summary, y la decisión con un umbral que deja dos errores.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Próximas clases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Viernes 9 de octubre: Certamen 1, unidades 1 a 5. Entra el bloque 1 de hoy (inferencia); la regresión logística no entra.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Viernes 23 de octubre: introducción al aprendizaje automático, sesgo y varianza, regularización. Se entrega la Tarea 2.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Lo que quedó pendiente de hoy, sensibilidad y especificidad, la elección del umbral y la curva ROC, va en la clase de evaluación de modelos.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Efron, B. y Tibshirani, R. J. (1993). An Introduction to the Bootstrap. Chapman &amp; Hall.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Wasserstein, R. L. y Lazar, N. A. (2016). The ASA Statement on p-Values: Context, Process, and Purpose. The American Statistician, 70(2), 129-133.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James, G., Witten, D., Hastie, T. y Tibshirani, R. (2021). An Introduction to Statistical Learning with Applications in R (2a ed.), capítulo 4 (regresión logística) y sección 5.1 (conjunto de validación). Springer. Disponible en statlearning.com.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Diez, D., Çetinkaya-Rundel, M. y Barr, C. (2019). OpenIntro Statistics (4a ed.), capítulo 9.5 (regresión logística). Disponible en openintro.org.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Datos: Encuesta Origen Destino Santiago 2012 (Sectra); Default, del libro de James et al. (statlearning.com); Titanic, del repositorio seaborn-data (github.com/mwaskom/seaborn-data).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
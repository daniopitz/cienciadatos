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Lst>
  <p:sldSz cx="9144000" cy="5138928"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3B4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04088" y="1252728"/>
            <a:ext cx="7744968" cy="1298448"/>
          </a:xfrm>
          <a:prstGeom prst="rect">
            <a:avLst/>
          </a:prstGeom>
          <a:noFill/>
        </p:spPr>
        <p:txBody>
          <a:bodyPr wrap="square">
            <a:spAutoFit/>
          </a:bodyPr>
          <a:lstStyle/>
          <a:p>
            <a:r>
              <a:rPr sz="4200" b="1">
                <a:solidFill>
                  <a:srgbClr val="FFFFFF"/>
                </a:solidFill>
                <a:latin typeface="Fira Sans"/>
              </a:rPr>
              <a:t>Evaluar y regularizar modelos</a:t>
            </a:r>
          </a:p>
        </p:txBody>
      </p:sp>
      <p:sp>
        <p:nvSpPr>
          <p:cNvPr id="4" name="Rectangle 3"/>
          <p:cNvSpPr/>
          <p:nvPr/>
        </p:nvSpPr>
        <p:spPr>
          <a:xfrm>
            <a:off x="1975104" y="2651760"/>
            <a:ext cx="5202936" cy="521207"/>
          </a:xfrm>
          <a:prstGeom prst="rect">
            <a:avLst/>
          </a:prstGeom>
          <a:solidFill>
            <a:srgbClr val="E0A4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900" b="1">
                <a:solidFill>
                  <a:srgbClr val="1D3557"/>
                </a:solidFill>
                <a:latin typeface="Fira Sans"/>
              </a:rPr>
              <a:t>Clase 7 · Umbral, curva ROC y AUC · Ridge y Lasso</a:t>
            </a:r>
          </a:p>
        </p:txBody>
      </p:sp>
      <p:sp>
        <p:nvSpPr>
          <p:cNvPr id="5" name="TextBox 4"/>
          <p:cNvSpPr txBox="1"/>
          <p:nvPr/>
        </p:nvSpPr>
        <p:spPr>
          <a:xfrm>
            <a:off x="704088" y="3547872"/>
            <a:ext cx="7744968" cy="896112"/>
          </a:xfrm>
          <a:prstGeom prst="rect">
            <a:avLst/>
          </a:prstGeom>
          <a:noFill/>
        </p:spPr>
        <p:txBody>
          <a:bodyPr wrap="square">
            <a:spAutoFit/>
          </a:bodyPr>
          <a:lstStyle/>
          <a:p>
            <a:r>
              <a:rPr sz="1500" b="0">
                <a:solidFill>
                  <a:srgbClr val="FFFFFF"/>
                </a:solidFill>
                <a:latin typeface="Fira Sans"/>
              </a:rPr>
              <a:t>Daniela Opitz</a:t>
            </a:r>
          </a:p>
          <a:p>
            <a:r>
              <a:rPr sz="1300" b="0">
                <a:solidFill>
                  <a:srgbClr val="B8C4D4"/>
                </a:solidFill>
                <a:latin typeface="Fira Sans"/>
              </a:rPr>
              <a:t>INF-396 · Departamento de Informática · UTFSM · viernes 23 de octubre,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Avisos</a:t>
            </a:r>
          </a:p>
        </p:txBody>
      </p:sp>
      <p:sp>
        <p:nvSpPr>
          <p:cNvPr id="4" name="TextBox 3"/>
          <p:cNvSpPr txBox="1"/>
          <p:nvPr/>
        </p:nvSpPr>
        <p:spPr>
          <a:xfrm>
            <a:off x="704088" y="1353312"/>
            <a:ext cx="7744968" cy="3300984"/>
          </a:xfrm>
          <a:prstGeom prst="rect">
            <a:avLst/>
          </a:prstGeom>
          <a:noFill/>
        </p:spPr>
        <p:txBody>
          <a:bodyPr wrap="square">
            <a:spAutoFit/>
          </a:bodyPr>
          <a:lstStyle/>
          <a:p>
            <a:pPr>
              <a:lnSpc>
                <a:spcPct val="112000"/>
              </a:lnSpc>
              <a:spcAft>
                <a:spcPts val="900"/>
              </a:spcAft>
            </a:pPr>
            <a:r>
              <a:rPr sz="1800" b="1">
                <a:solidFill>
                  <a:srgbClr val="E0A437"/>
                </a:solidFill>
                <a:latin typeface="Fira Sans"/>
              </a:rPr>
              <a:t>▸ </a:t>
            </a:r>
            <a:r>
              <a:rPr sz="1800" b="1">
                <a:solidFill>
                  <a:srgbClr val="1D3557"/>
                </a:solidFill>
                <a:latin typeface="Fira Sans"/>
              </a:rPr>
              <a:t>El Control Q3 es el viernes 30 de octubre, al inicio de la clase: los informes de OpenAI y del AISI sobre los agentes que se salieron de sus evaluaciones. Las dos lecturas son de acceso libre y están enlazadas en el repositorio.</a:t>
            </a:r>
          </a:p>
          <a:p>
            <a:pPr>
              <a:lnSpc>
                <a:spcPct val="112000"/>
              </a:lnSpc>
              <a:spcAft>
                <a:spcPts val="900"/>
              </a:spcAft>
            </a:pPr>
            <a:r>
              <a:rPr sz="1800" b="1">
                <a:solidFill>
                  <a:srgbClr val="E0A437"/>
                </a:solidFill>
                <a:latin typeface="Fira Sans"/>
              </a:rPr>
              <a:t>▸ </a:t>
            </a:r>
            <a:r>
              <a:rPr sz="1800" b="0">
                <a:solidFill>
                  <a:srgbClr val="000000"/>
                </a:solidFill>
                <a:latin typeface="Fira Sans"/>
              </a:rPr>
              <a:t>La Tarea 2 se entrega el viernes 13 de noviembre por Aula (fecha por confirmar); el enunciado se publica en el repositorio y se avisa por Aula.</a:t>
            </a:r>
          </a:p>
          <a:p>
            <a:pPr>
              <a:lnSpc>
                <a:spcPct val="112000"/>
              </a:lnSpc>
              <a:spcAft>
                <a:spcPts val="900"/>
              </a:spcAft>
            </a:pPr>
            <a:r>
              <a:rPr sz="1800" b="1">
                <a:solidFill>
                  <a:srgbClr val="E0A437"/>
                </a:solidFill>
                <a:latin typeface="Fira Sans"/>
              </a:rPr>
              <a:t>▸ </a:t>
            </a:r>
            <a:r>
              <a:rPr sz="1800" b="0">
                <a:solidFill>
                  <a:srgbClr val="000000"/>
                </a:solidFill>
                <a:latin typeface="Fira Sans"/>
              </a:rPr>
              <a:t>El avance de proyecto es opcional y se presenta el viernes 6 de noviembre: quienes lo presenten parten con 10 puntos de base.</a:t>
            </a:r>
          </a:p>
          <a:p>
            <a:pPr>
              <a:lnSpc>
                <a:spcPct val="112000"/>
              </a:lnSpc>
              <a:spcAft>
                <a:spcPts val="900"/>
              </a:spcAft>
            </a:pPr>
            <a:r>
              <a:rPr sz="1800" b="1">
                <a:solidFill>
                  <a:srgbClr val="E0A437"/>
                </a:solidFill>
                <a:latin typeface="Fira Sans"/>
              </a:rPr>
              <a:t>▸ </a:t>
            </a:r>
            <a:r>
              <a:rPr sz="1800" b="0">
                <a:solidFill>
                  <a:srgbClr val="000000"/>
                </a:solidFill>
                <a:latin typeface="Fira Sans"/>
              </a:rPr>
              <a:t>Las notas del Certamen 1 se publican por Aula.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Contenidos de la clase</a:t>
            </a:r>
          </a:p>
        </p:txBody>
      </p:sp>
      <p:sp>
        <p:nvSpPr>
          <p:cNvPr id="4" name="TextBox 3"/>
          <p:cNvSpPr txBox="1"/>
          <p:nvPr/>
        </p:nvSpPr>
        <p:spPr>
          <a:xfrm>
            <a:off x="704088" y="1353312"/>
            <a:ext cx="7744968" cy="3300984"/>
          </a:xfrm>
          <a:prstGeom prst="rect">
            <a:avLst/>
          </a:prstGeom>
          <a:noFill/>
        </p:spPr>
        <p:txBody>
          <a:bodyPr wrap="square">
            <a:spAutoFit/>
          </a:bodyPr>
          <a:lstStyle/>
          <a:p>
            <a:pPr>
              <a:lnSpc>
                <a:spcPct val="112000"/>
              </a:lnSpc>
              <a:spcAft>
                <a:spcPts val="900"/>
              </a:spcAft>
            </a:pPr>
            <a:r>
              <a:rPr sz="1800" b="1">
                <a:solidFill>
                  <a:srgbClr val="E0A437"/>
                </a:solidFill>
                <a:latin typeface="Fira Sans"/>
              </a:rPr>
              <a:t>▸ </a:t>
            </a:r>
            <a:r>
              <a:rPr sz="1800" b="0">
                <a:solidFill>
                  <a:srgbClr val="000000"/>
                </a:solidFill>
                <a:latin typeface="Fira Sans"/>
              </a:rPr>
              <a:t>1. Medir los dos errores de un clasificador: sensibilidad, especificidad y precisión.</a:t>
            </a:r>
          </a:p>
          <a:p>
            <a:pPr>
              <a:lnSpc>
                <a:spcPct val="112000"/>
              </a:lnSpc>
              <a:spcAft>
                <a:spcPts val="900"/>
              </a:spcAft>
            </a:pPr>
            <a:r>
              <a:rPr sz="1800" b="1">
                <a:solidFill>
                  <a:srgbClr val="E0A437"/>
                </a:solidFill>
                <a:latin typeface="Fira Sans"/>
              </a:rPr>
              <a:t>▸ </a:t>
            </a:r>
            <a:r>
              <a:rPr sz="1800" b="0">
                <a:solidFill>
                  <a:srgbClr val="000000"/>
                </a:solidFill>
                <a:latin typeface="Fira Sans"/>
              </a:rPr>
              <a:t>2. Elegir el umbral según el costo de cada error.</a:t>
            </a:r>
          </a:p>
          <a:p>
            <a:pPr>
              <a:lnSpc>
                <a:spcPct val="112000"/>
              </a:lnSpc>
              <a:spcAft>
                <a:spcPts val="900"/>
              </a:spcAft>
            </a:pPr>
            <a:r>
              <a:rPr sz="1800" b="1">
                <a:solidFill>
                  <a:srgbClr val="E0A437"/>
                </a:solidFill>
                <a:latin typeface="Fira Sans"/>
              </a:rPr>
              <a:t>▸ </a:t>
            </a:r>
            <a:r>
              <a:rPr sz="1800" b="0">
                <a:solidFill>
                  <a:srgbClr val="000000"/>
                </a:solidFill>
                <a:latin typeface="Fira Sans"/>
              </a:rPr>
              <a:t>3. Comparar clasificadores: la curva ROC y el AUC.</a:t>
            </a:r>
          </a:p>
          <a:p>
            <a:pPr>
              <a:lnSpc>
                <a:spcPct val="112000"/>
              </a:lnSpc>
              <a:spcAft>
                <a:spcPts val="900"/>
              </a:spcAft>
            </a:pPr>
            <a:r>
              <a:rPr sz="1800" b="1">
                <a:solidFill>
                  <a:srgbClr val="E0A437"/>
                </a:solidFill>
                <a:latin typeface="Fira Sans"/>
              </a:rPr>
              <a:t>▸ </a:t>
            </a:r>
            <a:r>
              <a:rPr sz="1800" b="0">
                <a:solidFill>
                  <a:srgbClr val="000000"/>
                </a:solidFill>
                <a:latin typeface="Fira Sans"/>
              </a:rPr>
              <a:t>4. Muchas variables: qué dicen las correlaciones, el error en datos de prueba y el sobreajuste.</a:t>
            </a:r>
          </a:p>
          <a:p>
            <a:pPr>
              <a:lnSpc>
                <a:spcPct val="112000"/>
              </a:lnSpc>
              <a:spcAft>
                <a:spcPts val="900"/>
              </a:spcAft>
            </a:pPr>
            <a:r>
              <a:rPr sz="1800" b="1">
                <a:solidFill>
                  <a:srgbClr val="E0A437"/>
                </a:solidFill>
                <a:latin typeface="Fira Sans"/>
              </a:rPr>
              <a:t>▸ </a:t>
            </a:r>
            <a:r>
              <a:rPr sz="1800" b="0">
                <a:solidFill>
                  <a:srgbClr val="000000"/>
                </a:solidFill>
                <a:latin typeface="Fira Sans"/>
              </a:rPr>
              <a:t>5. Regularizar: para qué sirve, Ridge y Lasso, y cómo elegir cuánto castigar.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¿Cuánto cuesta equivocarse?</a:t>
            </a:r>
          </a:p>
        </p:txBody>
      </p:sp>
      <p:sp>
        <p:nvSpPr>
          <p:cNvPr id="4" name="TextBox 3"/>
          <p:cNvSpPr txBox="1"/>
          <p:nvPr/>
        </p:nvSpPr>
        <p:spPr>
          <a:xfrm>
            <a:off x="704088" y="1353312"/>
            <a:ext cx="7744968" cy="3300984"/>
          </a:xfrm>
          <a:prstGeom prst="rect">
            <a:avLst/>
          </a:prstGeom>
          <a:noFill/>
        </p:spPr>
        <p:txBody>
          <a:bodyPr wrap="square">
            <a:spAutoFit/>
          </a:bodyPr>
          <a:lstStyle/>
          <a:p>
            <a:pPr>
              <a:lnSpc>
                <a:spcPct val="112000"/>
              </a:lnSpc>
              <a:spcAft>
                <a:spcPts val="900"/>
              </a:spcAft>
            </a:pPr>
            <a:r>
              <a:rPr sz="1800" b="1">
                <a:solidFill>
                  <a:srgbClr val="E0A437"/>
                </a:solidFill>
                <a:latin typeface="Fira Sans"/>
              </a:rPr>
              <a:t>▸ </a:t>
            </a:r>
            <a:r>
              <a:rPr sz="1800" b="1">
                <a:solidFill>
                  <a:srgbClr val="1D3557"/>
                </a:solidFill>
                <a:latin typeface="Fira Sans"/>
              </a:rPr>
              <a:t>La clase 06 dejó dos preguntas abiertas: si con un sí raro la exactitud engaña, ¿qué se mide? Y el umbral 0,5, ¿por qué 0,5?</a:t>
            </a:r>
          </a:p>
          <a:p>
            <a:pPr>
              <a:lnSpc>
                <a:spcPct val="112000"/>
              </a:lnSpc>
              <a:spcAft>
                <a:spcPts val="900"/>
              </a:spcAft>
            </a:pPr>
            <a:r>
              <a:rPr sz="1800" b="1">
                <a:solidFill>
                  <a:srgbClr val="E0A437"/>
                </a:solidFill>
                <a:latin typeface="Fira Sans"/>
              </a:rPr>
              <a:t>▸ </a:t>
            </a:r>
            <a:r>
              <a:rPr sz="1800" b="0">
                <a:solidFill>
                  <a:srgbClr val="000000"/>
                </a:solidFill>
                <a:latin typeface="Fira Sans"/>
              </a:rPr>
              <a:t>El primer bloque las responde: medidas que miran cada error por separado, y un umbral que sale del costo de cada error.</a:t>
            </a:r>
          </a:p>
          <a:p>
            <a:pPr>
              <a:lnSpc>
                <a:spcPct val="112000"/>
              </a:lnSpc>
              <a:spcAft>
                <a:spcPts val="900"/>
              </a:spcAft>
            </a:pPr>
            <a:r>
              <a:rPr sz="1800" b="1">
                <a:solidFill>
                  <a:srgbClr val="E0A437"/>
                </a:solidFill>
                <a:latin typeface="Fira Sans"/>
              </a:rPr>
              <a:t>▸ </a:t>
            </a:r>
            <a:r>
              <a:rPr sz="1800" b="0">
                <a:solidFill>
                  <a:srgbClr val="000000"/>
                </a:solidFill>
                <a:latin typeface="Fira Sans"/>
              </a:rPr>
              <a:t>El segundo bloque vuelve a la regresión: con muchas variables, el modelo se ajusta al azar de su muestra y se equivoca más en datos nuevos. Regularizar lo corrige.</a:t>
            </a:r>
          </a:p>
          <a:p>
            <a:pPr>
              <a:lnSpc>
                <a:spcPct val="112000"/>
              </a:lnSpc>
              <a:spcAft>
                <a:spcPts val="900"/>
              </a:spcAft>
            </a:pPr>
            <a:r>
              <a:rPr sz="1800" b="1">
                <a:solidFill>
                  <a:srgbClr val="E0A437"/>
                </a:solidFill>
                <a:latin typeface="Fira Sans"/>
              </a:rPr>
              <a:t>▸ </a:t>
            </a:r>
            <a:r>
              <a:rPr sz="1800" b="0">
                <a:solidFill>
                  <a:srgbClr val="000000"/>
                </a:solidFill>
                <a:latin typeface="Fira Sans"/>
              </a:rPr>
              <a:t>El hilo de los dos: un modelo se juzga por sus errores donde importan, con el costo correcto y en datos que no vio.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1847088"/>
            <a:ext cx="7946136" cy="1399032"/>
          </a:xfrm>
          <a:prstGeom prst="rect">
            <a:avLst/>
          </a:prstGeom>
          <a:noFill/>
        </p:spPr>
        <p:txBody>
          <a:bodyPr wrap="square">
            <a:spAutoFit/>
          </a:bodyPr>
          <a:lstStyle/>
          <a:p>
            <a:r>
              <a:rPr sz="3400" b="1">
                <a:solidFill>
                  <a:srgbClr val="FFFFFF"/>
                </a:solidFill>
                <a:latin typeface="Fira Sans"/>
              </a:rPr>
              <a:t>Bloque 1 · Los dos errores de un clasificador</a:t>
            </a:r>
          </a:p>
          <a:p>
            <a:r>
              <a:rPr sz="1800" b="0">
                <a:solidFill>
                  <a:srgbClr val="E0A437"/>
                </a:solidFill>
                <a:latin typeface="Fira Sans"/>
              </a:rPr>
              <a:t>Continuación de la regresión logística de la clase 06: medir cada error, elegir el umbral y comparar modelos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El mapa de la clase</a:t>
            </a:r>
          </a:p>
        </p:txBody>
      </p:sp>
      <p:pic>
        <p:nvPicPr>
          <p:cNvPr id="4" name="Picture 3" descr="c7_23_mapa_1.png"/>
          <p:cNvPicPr>
            <a:picLocks noChangeAspect="1"/>
          </p:cNvPicPr>
          <p:nvPr/>
        </p:nvPicPr>
        <p:blipFill>
          <a:blip r:embed="rId2"/>
          <a:stretch>
            <a:fillRect/>
          </a:stretch>
        </p:blipFill>
        <p:spPr>
          <a:xfrm>
            <a:off x="683323" y="1097280"/>
            <a:ext cx="7777352" cy="30632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Recordatorio: los datos de la clase 06</a:t>
            </a:r>
          </a:p>
        </p:txBody>
      </p:sp>
      <p:pic>
        <p:nvPicPr>
          <p:cNvPr id="4" name="Picture 3" descr="c7_00_datos_default.png"/>
          <p:cNvPicPr>
            <a:picLocks noChangeAspect="1"/>
          </p:cNvPicPr>
          <p:nvPr/>
        </p:nvPicPr>
        <p:blipFill>
          <a:blip r:embed="rId2"/>
          <a:stretch>
            <a:fillRect/>
          </a:stretch>
        </p:blipFill>
        <p:spPr>
          <a:xfrm>
            <a:off x="1015200" y="1097280"/>
            <a:ext cx="7113599" cy="3063240"/>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Datos del libro de James et al.: 10.000 clientes, su deuda en la tarjeta (lo que deben después del pago mensual), su ingreso anual y si son estudiantes. En la clase 06 ajustamos la regresión logística de no pagar según la deuda; solo 333 dejaron de pagar, y por eso la exactitud engaña.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Recordatorio: la matriz de confusión</a:t>
            </a:r>
          </a:p>
        </p:txBody>
      </p:sp>
      <p:pic>
        <p:nvPicPr>
          <p:cNvPr id="4" name="Picture 3" descr="c7_01_matriz.png"/>
          <p:cNvPicPr>
            <a:picLocks noChangeAspect="1"/>
          </p:cNvPicPr>
          <p:nvPr/>
        </p:nvPicPr>
        <p:blipFill>
          <a:blip r:embed="rId2"/>
          <a:stretch>
            <a:fillRect/>
          </a:stretch>
        </p:blipFill>
        <p:spPr>
          <a:xfrm>
            <a:off x="1583236" y="1097280"/>
            <a:ext cx="5977527" cy="3063240"/>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Lo real en las filas, lo predicho en las columnas. Con umbral 0,5 acierta el 97,3%; decir que todos pagan, el 96,7%: la exactitud mezcla los dos errores. Aquí no se parte en entrenamiento y prueba: con una variable y 10.000 clientes da lo mismo (clase 06); con muchas variables no, y eso viene en el segundo bloque.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Sensibilidad: ¿cuántos morosos detecta?</a:t>
            </a:r>
          </a:p>
        </p:txBody>
      </p:sp>
      <p:pic>
        <p:nvPicPr>
          <p:cNvPr id="4" name="Picture 3" descr="c7_02_sensibilidad.png"/>
          <p:cNvPicPr>
            <a:picLocks noChangeAspect="1"/>
          </p:cNvPicPr>
          <p:nvPr/>
        </p:nvPicPr>
        <p:blipFill>
          <a:blip r:embed="rId2"/>
          <a:stretch>
            <a:fillRect/>
          </a:stretch>
        </p:blipFill>
        <p:spPr>
          <a:xfrm>
            <a:off x="869022" y="1097280"/>
            <a:ext cx="7405955" cy="3063240"/>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Mira solo a los clientes que no pagan. Es la medida que importa cuando dejar pasar un sí es caro: un moroso sin detectar, una enfermedad sin diagnosticar.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Especificidad: ¿a cuántos deja en paz?</a:t>
            </a:r>
          </a:p>
        </p:txBody>
      </p:sp>
      <p:pic>
        <p:nvPicPr>
          <p:cNvPr id="4" name="Picture 3" descr="c7_03_especificidad.png"/>
          <p:cNvPicPr>
            <a:picLocks noChangeAspect="1"/>
          </p:cNvPicPr>
          <p:nvPr/>
        </p:nvPicPr>
        <p:blipFill>
          <a:blip r:embed="rId2"/>
          <a:stretch>
            <a:fillRect/>
          </a:stretch>
        </p:blipFill>
        <p:spPr>
          <a:xfrm>
            <a:off x="891944" y="1097280"/>
            <a:ext cx="7360111" cy="3063240"/>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Mira solo a los clientes que pagan. Importa cuando molestar a un no es caro: negarle la tarjeta a un buen cliente, alarmar a un paciente sano.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Precisión: de los que marca, ¿cuántos lo son?</a:t>
            </a:r>
          </a:p>
        </p:txBody>
      </p:sp>
      <p:pic>
        <p:nvPicPr>
          <p:cNvPr id="4" name="Picture 3" descr="c7_04_precision.png"/>
          <p:cNvPicPr>
            <a:picLocks noChangeAspect="1"/>
          </p:cNvPicPr>
          <p:nvPr/>
        </p:nvPicPr>
        <p:blipFill>
          <a:blip r:embed="rId2"/>
          <a:stretch>
            <a:fillRect/>
          </a:stretch>
        </p:blipFill>
        <p:spPr>
          <a:xfrm>
            <a:off x="1006555" y="1097280"/>
            <a:ext cx="7130889" cy="3063240"/>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Mira solo a los clientes que el modelo declara morosos. Importa cuando actuar sobre cada sí cuesta: en el libro, una aseguradora que llama solo a los clientes que el modelo marca logra que compre el 33% de los llamados, contra el 6% llamando al azar (James et al., pp. 165 a 167).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Cuatro medidas, una sola matriz</a:t>
            </a:r>
          </a:p>
        </p:txBody>
      </p:sp>
      <p:pic>
        <p:nvPicPr>
          <p:cNvPr id="4" name="Picture 3" descr="c7_05_cuatro_medidas.png"/>
          <p:cNvPicPr>
            <a:picLocks noChangeAspect="1"/>
          </p:cNvPicPr>
          <p:nvPr/>
        </p:nvPicPr>
        <p:blipFill>
          <a:blip r:embed="rId2"/>
          <a:stretch>
            <a:fillRect/>
          </a:stretch>
        </p:blipFill>
        <p:spPr>
          <a:xfrm>
            <a:off x="640080" y="1097280"/>
            <a:ext cx="7863840" cy="3019715"/>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Todas salen de contar las celdas de la matriz. La exactitud mira todo junto; las otras tres miran un error por vez, y por eso no engañan cuando el sí es raro.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El mapa de la clase</a:t>
            </a:r>
          </a:p>
        </p:txBody>
      </p:sp>
      <p:pic>
        <p:nvPicPr>
          <p:cNvPr id="4" name="Picture 3" descr="c7_23_mapa_2.png"/>
          <p:cNvPicPr>
            <a:picLocks noChangeAspect="1"/>
          </p:cNvPicPr>
          <p:nvPr/>
        </p:nvPicPr>
        <p:blipFill>
          <a:blip r:embed="rId2"/>
          <a:stretch>
            <a:fillRect/>
          </a:stretch>
        </p:blipFill>
        <p:spPr>
          <a:xfrm>
            <a:off x="683323" y="1097280"/>
            <a:ext cx="7777352" cy="306324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Mover el umbral cambia los errores</a:t>
            </a:r>
          </a:p>
        </p:txBody>
      </p:sp>
      <p:pic>
        <p:nvPicPr>
          <p:cNvPr id="4" name="Picture 3" descr="c7_06_dos_umbrales.png"/>
          <p:cNvPicPr>
            <a:picLocks noChangeAspect="1"/>
          </p:cNvPicPr>
          <p:nvPr/>
        </p:nvPicPr>
        <p:blipFill>
          <a:blip r:embed="rId2"/>
          <a:stretch>
            <a:fillRect/>
          </a:stretch>
        </p:blipFill>
        <p:spPr>
          <a:xfrm>
            <a:off x="997896" y="1097280"/>
            <a:ext cx="7148207" cy="3063240"/>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El modelo es el mismo: solo cambia desde qué probabilidad se dice "no paga". Con 0,2 se detectan 199 morosos en vez de 100, y se molesta a 263 buenos clientes en vez de 42.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Sensibilidad y especificidad según el umbral</a:t>
            </a:r>
          </a:p>
        </p:txBody>
      </p:sp>
      <p:pic>
        <p:nvPicPr>
          <p:cNvPr id="4" name="Picture 3" descr="c7_07_umbrales.png"/>
          <p:cNvPicPr>
            <a:picLocks noChangeAspect="1"/>
          </p:cNvPicPr>
          <p:nvPr/>
        </p:nvPicPr>
        <p:blipFill>
          <a:blip r:embed="rId2"/>
          <a:stretch>
            <a:fillRect/>
          </a:stretch>
        </p:blipFill>
        <p:spPr>
          <a:xfrm>
            <a:off x="640080" y="1097280"/>
            <a:ext cx="7863840" cy="3051984"/>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Cada umbral es un balance entre los dos errores. ¿Cuál elegir? Depende de cuánto cuesta cada error, y eso no lo dice el modelo: lo dice el problema.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El costo de cada error</a:t>
            </a:r>
          </a:p>
        </p:txBody>
      </p:sp>
      <p:pic>
        <p:nvPicPr>
          <p:cNvPr id="4" name="Picture 3" descr="c7_08_costo.png"/>
          <p:cNvPicPr>
            <a:picLocks noChangeAspect="1"/>
          </p:cNvPicPr>
          <p:nvPr/>
        </p:nvPicPr>
        <p:blipFill>
          <a:blip r:embed="rId2"/>
          <a:stretch>
            <a:fillRect/>
          </a:stretch>
        </p:blipFill>
        <p:spPr>
          <a:xfrm>
            <a:off x="640080" y="1097280"/>
            <a:ext cx="7863840" cy="3020520"/>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Con estos costos, el umbral 0,5 no es el mejor: el costo total baja de 2.372 a 1.393 con umbral 0,08. Los costos son un supuesto: los define el problema, no el modelo.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Cliente por cliente: ¿aprobar o rechazar?</a:t>
            </a:r>
          </a:p>
        </p:txBody>
      </p:sp>
      <p:pic>
        <p:nvPicPr>
          <p:cNvPr id="4" name="Picture 3" descr="c7_09a_tres_clientes.png"/>
          <p:cNvPicPr>
            <a:picLocks noChangeAspect="1"/>
          </p:cNvPicPr>
          <p:nvPr/>
        </p:nvPicPr>
        <p:blipFill>
          <a:blip r:embed="rId2"/>
          <a:stretch>
            <a:fillRect/>
          </a:stretch>
        </p:blipFill>
        <p:spPr>
          <a:xfrm>
            <a:off x="640080" y="1097280"/>
            <a:ext cx="7863840" cy="2904134"/>
          </a:xfrm>
          <a:prstGeom prst="rect">
            <a:avLst/>
          </a:prstGeom>
        </p:spPr>
      </p:pic>
      <p:sp>
        <p:nvSpPr>
          <p:cNvPr id="5" name="TextBox 4"/>
          <p:cNvSpPr txBox="1"/>
          <p:nvPr/>
        </p:nvSpPr>
        <p:spPr>
          <a:xfrm>
            <a:off x="548640" y="4111142"/>
            <a:ext cx="8046720" cy="457200"/>
          </a:xfrm>
          <a:prstGeom prst="rect">
            <a:avLst/>
          </a:prstGeom>
          <a:noFill/>
        </p:spPr>
        <p:txBody>
          <a:bodyPr wrap="square">
            <a:spAutoFit/>
          </a:bodyPr>
          <a:lstStyle/>
          <a:p>
            <a:r>
              <a:rPr sz="1250" b="0">
                <a:solidFill>
                  <a:srgbClr val="333333"/>
                </a:solidFill>
                <a:latin typeface="Fira Sans"/>
              </a:rPr>
              <a:t>Se elige la decisión más barata para cada cliente: al A conviene aprobarlo, al C rechazarlo, y con el B da lo mismo. Ese P del cliente B es el umbral.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El umbral de menor costo</a:t>
            </a:r>
          </a:p>
        </p:txBody>
      </p:sp>
      <p:pic>
        <p:nvPicPr>
          <p:cNvPr id="4" name="Picture 3" descr="c7_09b_umbral.png"/>
          <p:cNvPicPr>
            <a:picLocks noChangeAspect="1"/>
          </p:cNvPicPr>
          <p:nvPr/>
        </p:nvPicPr>
        <p:blipFill>
          <a:blip r:embed="rId2"/>
          <a:stretch>
            <a:fillRect/>
          </a:stretch>
        </p:blipFill>
        <p:spPr>
          <a:xfrm>
            <a:off x="888896" y="1097280"/>
            <a:ext cx="7366206" cy="3063240"/>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Las mismas cuentas para todos los P posibles. El umbral es el P del cliente B, donde aprobar y rechazar cuestan lo mismo: 1 / (1 + 10) = 0,09. Con costos iguales, las líneas se cruzarían en 1 / (1 + 1) = 0,5: por eso 0,5 es el umbral por defecto.</a:t>
            </a:r>
          </a:p>
        </p:txBody>
      </p:sp>
      <p:sp>
        <p:nvSpPr>
          <p:cNvPr id="6" name="Rectangle 5"/>
          <p:cNvSpPr/>
          <p:nvPr/>
        </p:nvSpPr>
        <p:spPr>
          <a:xfrm>
            <a:off x="6062472" y="283464"/>
            <a:ext cx="2386584" cy="658368"/>
          </a:xfrm>
          <a:prstGeom prst="rect">
            <a:avLst/>
          </a:prstGeom>
          <a:solidFill>
            <a:srgbClr val="F0F2F5"/>
          </a:solidFill>
          <a:ln>
            <a:solidFill>
              <a:srgbClr val="D8DDE3"/>
            </a:solidFill>
          </a:ln>
          <a:effectLst/>
        </p:spPr>
        <p:style>
          <a:lnRef idx="1">
            <a:schemeClr val="accent1"/>
          </a:lnRef>
          <a:fillRef idx="3">
            <a:schemeClr val="accent1"/>
          </a:fillRef>
          <a:effectRef idx="2">
            <a:schemeClr val="accent1"/>
          </a:effectRef>
          <a:fontRef idx="minor">
            <a:schemeClr val="lt1"/>
          </a:fontRef>
        </p:style>
        <p:txBody>
          <a:bodyPr rtlCol="0" anchor="ctr" wrap="square" tIns="64008"/>
          <a:lstStyle/>
          <a:p>
            <a:pPr algn="ctr"/>
            <a:r>
              <a:rPr sz="1000" b="0">
                <a:solidFill>
                  <a:srgbClr val="333333"/>
                </a:solidFill>
                <a:latin typeface="Fira Sans"/>
              </a:rPr>
              <a:t>El umbral según los costos</a:t>
            </a:r>
          </a:p>
          <a:p>
            <a:pPr algn="ctr"/>
            <a:r>
              <a:rPr sz="1400" b="0">
                <a:solidFill>
                  <a:srgbClr val="1D3557"/>
                </a:solidFill>
                <a:latin typeface="Fira Sans"/>
              </a:rPr>
              <a:t>FP / (FP + FN)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De dónde sale la regla del umbral</a:t>
            </a:r>
          </a:p>
        </p:txBody>
      </p:sp>
      <p:pic>
        <p:nvPicPr>
          <p:cNvPr id="4" name="Picture 3" descr="c7_44_despeje.png"/>
          <p:cNvPicPr>
            <a:picLocks noChangeAspect="1"/>
          </p:cNvPicPr>
          <p:nvPr/>
        </p:nvPicPr>
        <p:blipFill>
          <a:blip r:embed="rId2"/>
          <a:stretch>
            <a:fillRect/>
          </a:stretch>
        </p:blipFill>
        <p:spPr>
          <a:xfrm>
            <a:off x="983797" y="1097280"/>
            <a:ext cx="7176404" cy="3063240"/>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Cinco pasos de álgebra: igualar el costo de aprobar con el de rechazar y despejar P. Con 10 y 1 da 1 / 11 = 0,09; con costos iguales, 0,5.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Cómo elegir el umbral, en resumen</a:t>
            </a:r>
          </a:p>
        </p:txBody>
      </p:sp>
      <p:pic>
        <p:nvPicPr>
          <p:cNvPr id="4" name="Picture 3" descr="c7_09c_como_elegir_umbral.png"/>
          <p:cNvPicPr>
            <a:picLocks noChangeAspect="1"/>
          </p:cNvPicPr>
          <p:nvPr/>
        </p:nvPicPr>
        <p:blipFill>
          <a:blip r:embed="rId2"/>
          <a:stretch>
            <a:fillRect/>
          </a:stretch>
        </p:blipFill>
        <p:spPr>
          <a:xfrm>
            <a:off x="804088" y="1097280"/>
            <a:ext cx="7535822" cy="3063240"/>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Con costos, la regla; con una meta, la curva de sensibilidad y especificidad; sin información, 0,5, sabiendo que es el caso de costos iguales y que con un sí raro detecta poco.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Con una meta: leer el umbral en la curva</a:t>
            </a:r>
          </a:p>
        </p:txBody>
      </p:sp>
      <p:pic>
        <p:nvPicPr>
          <p:cNvPr id="4" name="Picture 3" descr="c7_09d_meta.png"/>
          <p:cNvPicPr>
            <a:picLocks noChangeAspect="1"/>
          </p:cNvPicPr>
          <p:nvPr/>
        </p:nvPicPr>
        <p:blipFill>
          <a:blip r:embed="rId2"/>
          <a:stretch>
            <a:fillRect/>
          </a:stretch>
        </p:blipFill>
        <p:spPr>
          <a:xfrm>
            <a:off x="640080" y="1097280"/>
            <a:ext cx="7863840" cy="3020520"/>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Meta: detectar al 80% de los morosos. La curva da el umbral, 0,073, y el precio: molestar al 7,5% de los buenos. En la ROC es el mismo punto: detrás de cada punto hay un umbral.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El mapa de la clase</a:t>
            </a:r>
          </a:p>
        </p:txBody>
      </p:sp>
      <p:pic>
        <p:nvPicPr>
          <p:cNvPr id="4" name="Picture 3" descr="c7_23_mapa_3.png"/>
          <p:cNvPicPr>
            <a:picLocks noChangeAspect="1"/>
          </p:cNvPicPr>
          <p:nvPr/>
        </p:nvPicPr>
        <p:blipFill>
          <a:blip r:embed="rId2"/>
          <a:stretch>
            <a:fillRect/>
          </a:stretch>
        </p:blipFill>
        <p:spPr>
          <a:xfrm>
            <a:off x="683323" y="1097280"/>
            <a:ext cx="7777352" cy="306324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Cómo elegir entre dos modelos</a:t>
            </a:r>
          </a:p>
        </p:txBody>
      </p:sp>
      <p:pic>
        <p:nvPicPr>
          <p:cNvPr id="4" name="Picture 3" descr="c7_10a_dos_modelos.png"/>
          <p:cNvPicPr>
            <a:picLocks noChangeAspect="1"/>
          </p:cNvPicPr>
          <p:nvPr/>
        </p:nvPicPr>
        <p:blipFill>
          <a:blip r:embed="rId2"/>
          <a:stretch>
            <a:fillRect/>
          </a:stretch>
        </p:blipFill>
        <p:spPr>
          <a:xfrm>
            <a:off x="1111040" y="1097280"/>
            <a:ext cx="6921918" cy="3063240"/>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Los tres modelos de la clase 06. Antes de elegir el umbral hay que elegir el modelo, y a veces los costos todavía no se conocen: hay que compararlos con todos los umbrales.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La curva ROC: todos los umbrales a la vez</a:t>
            </a:r>
          </a:p>
        </p:txBody>
      </p:sp>
      <p:pic>
        <p:nvPicPr>
          <p:cNvPr id="4" name="Picture 3" descr="c7_10_roc.png"/>
          <p:cNvPicPr>
            <a:picLocks noChangeAspect="1"/>
          </p:cNvPicPr>
          <p:nvPr/>
        </p:nvPicPr>
        <p:blipFill>
          <a:blip r:embed="rId2"/>
          <a:stretch>
            <a:fillRect/>
          </a:stretch>
        </p:blipFill>
        <p:spPr>
          <a:xfrm>
            <a:off x="1008796" y="1097280"/>
            <a:ext cx="7126407" cy="3063240"/>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La curva muestra lo que el modelo puede ofrecer con cualquier umbral: cuántos morosos detecta a cambio de cuántos buenos clientes molesta. Sirve para juzgar el modelo antes de elegir el umbral.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Tres modelos, tres curvas</a:t>
            </a:r>
          </a:p>
        </p:txBody>
      </p:sp>
      <p:pic>
        <p:nvPicPr>
          <p:cNvPr id="4" name="Picture 3" descr="c7_10b_dos_curvas.png"/>
          <p:cNvPicPr>
            <a:picLocks noChangeAspect="1"/>
          </p:cNvPicPr>
          <p:nvPr/>
        </p:nvPicPr>
        <p:blipFill>
          <a:blip r:embed="rId2"/>
          <a:stretch>
            <a:fillRect/>
          </a:stretch>
        </p:blipFill>
        <p:spPr>
          <a:xfrm>
            <a:off x="1250677" y="1097280"/>
            <a:ext cx="6642644" cy="3063240"/>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El modelo 2 solo distingue estudiantes de no estudiantes, por eso su curva tiene un solo quiebre: rechazar a todos los estudiantes. Las curvas de la deuda van siempre por encima, con cualquier umbral y sin importar los costos; agregar estudiante a la deuda casi no mueve la curva.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El AUC: la comparación en un número</a:t>
            </a:r>
          </a:p>
        </p:txBody>
      </p:sp>
      <p:pic>
        <p:nvPicPr>
          <p:cNvPr id="4" name="Picture 3" descr="c7_11_auc.png"/>
          <p:cNvPicPr>
            <a:picLocks noChangeAspect="1"/>
          </p:cNvPicPr>
          <p:nvPr/>
        </p:nvPicPr>
        <p:blipFill>
          <a:blip r:embed="rId2"/>
          <a:stretch>
            <a:fillRect/>
          </a:stretch>
        </p:blipFill>
        <p:spPr>
          <a:xfrm>
            <a:off x="640080" y="1097280"/>
            <a:ext cx="7863840" cy="2736032"/>
          </a:xfrm>
          <a:prstGeom prst="rect">
            <a:avLst/>
          </a:prstGeom>
        </p:spPr>
      </p:pic>
      <p:sp>
        <p:nvSpPr>
          <p:cNvPr id="5" name="TextBox 4"/>
          <p:cNvSpPr txBox="1"/>
          <p:nvPr/>
        </p:nvSpPr>
        <p:spPr>
          <a:xfrm>
            <a:off x="548640" y="3943039"/>
            <a:ext cx="8046720" cy="457200"/>
          </a:xfrm>
          <a:prstGeom prst="rect">
            <a:avLst/>
          </a:prstGeom>
          <a:noFill/>
        </p:spPr>
        <p:txBody>
          <a:bodyPr wrap="square">
            <a:spAutoFit/>
          </a:bodyPr>
          <a:lstStyle/>
          <a:p>
            <a:r>
              <a:rPr sz="1250" b="0">
                <a:solidFill>
                  <a:srgbClr val="333333"/>
                </a:solidFill>
                <a:latin typeface="Fira Sans"/>
              </a:rPr>
              <a:t>Mientras más alta la curva, mayor el área. El AUC se lee así: si se toma al azar un cliente que no paga y uno que paga, el modelo de la deuda le da más probabilidad al que no paga en el 95% de los pares; el de estudiante, en el 54%, casi como adivinar. Sumar estudiante a la deuda apenas cambia el AUC.</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Síntesis del bloque 1</a:t>
            </a:r>
          </a:p>
        </p:txBody>
      </p:sp>
      <p:sp>
        <p:nvSpPr>
          <p:cNvPr id="4" name="TextBox 3"/>
          <p:cNvSpPr txBox="1"/>
          <p:nvPr/>
        </p:nvSpPr>
        <p:spPr>
          <a:xfrm>
            <a:off x="704088" y="1353312"/>
            <a:ext cx="7744968" cy="3300984"/>
          </a:xfrm>
          <a:prstGeom prst="rect">
            <a:avLst/>
          </a:prstGeom>
          <a:noFill/>
        </p:spPr>
        <p:txBody>
          <a:bodyPr wrap="square">
            <a:spAutoFit/>
          </a:bodyPr>
          <a:lstStyle/>
          <a:p>
            <a:pPr>
              <a:lnSpc>
                <a:spcPct val="112000"/>
              </a:lnSpc>
              <a:spcAft>
                <a:spcPts val="900"/>
              </a:spcAft>
            </a:pPr>
            <a:r>
              <a:rPr sz="1800" b="1">
                <a:solidFill>
                  <a:srgbClr val="E0A437"/>
                </a:solidFill>
                <a:latin typeface="Fira Sans"/>
              </a:rPr>
              <a:t>▸ </a:t>
            </a:r>
            <a:r>
              <a:rPr sz="1800" b="1">
                <a:solidFill>
                  <a:srgbClr val="1D3557"/>
                </a:solidFill>
                <a:latin typeface="Fira Sans"/>
              </a:rPr>
              <a:t>Con un sí raro la exactitud engaña: sensibilidad, especificidad y precisión miden un error por vez.</a:t>
            </a:r>
          </a:p>
          <a:p>
            <a:pPr>
              <a:lnSpc>
                <a:spcPct val="112000"/>
              </a:lnSpc>
              <a:spcAft>
                <a:spcPts val="900"/>
              </a:spcAft>
            </a:pPr>
            <a:r>
              <a:rPr sz="1800" b="1">
                <a:solidFill>
                  <a:srgbClr val="E0A437"/>
                </a:solidFill>
                <a:latin typeface="Fira Sans"/>
              </a:rPr>
              <a:t>▸ </a:t>
            </a:r>
            <a:r>
              <a:rPr sz="1800" b="0">
                <a:solidFill>
                  <a:srgbClr val="000000"/>
                </a:solidFill>
                <a:latin typeface="Fira Sans"/>
              </a:rPr>
              <a:t>El umbral no es 0,5 por naturaleza: es el P donde aprobar y rechazar cuestan lo mismo, costo FP / (costo FP + costo FN). Con costos iguales, 0,5.</a:t>
            </a:r>
          </a:p>
          <a:p>
            <a:pPr>
              <a:lnSpc>
                <a:spcPct val="112000"/>
              </a:lnSpc>
              <a:spcAft>
                <a:spcPts val="900"/>
              </a:spcAft>
            </a:pPr>
            <a:r>
              <a:rPr sz="1800" b="1">
                <a:solidFill>
                  <a:srgbClr val="E0A437"/>
                </a:solidFill>
                <a:latin typeface="Fira Sans"/>
              </a:rPr>
              <a:t>▸ </a:t>
            </a:r>
            <a:r>
              <a:rPr sz="1800" b="0">
                <a:solidFill>
                  <a:srgbClr val="000000"/>
                </a:solidFill>
                <a:latin typeface="Fira Sans"/>
              </a:rPr>
              <a:t>La curva ROC muestra lo que el modelo ofrece con todos los umbrales; el AUC lo resume en un número y permite comparar modelos antes de conocer los costos.</a:t>
            </a:r>
          </a:p>
          <a:p>
            <a:pPr>
              <a:lnSpc>
                <a:spcPct val="112000"/>
              </a:lnSpc>
              <a:spcAft>
                <a:spcPts val="900"/>
              </a:spcAft>
            </a:pPr>
            <a:r>
              <a:rPr sz="1800" b="1">
                <a:solidFill>
                  <a:srgbClr val="E0A437"/>
                </a:solidFill>
                <a:latin typeface="Fira Sans"/>
              </a:rPr>
              <a:t>▸ </a:t>
            </a:r>
            <a:r>
              <a:rPr sz="1800" b="0">
                <a:solidFill>
                  <a:srgbClr val="000000"/>
                </a:solidFill>
                <a:latin typeface="Fira Sans"/>
              </a:rPr>
              <a:t>En el notebook: secciones 2 a 6, con los mismos clientes de la clase 06.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1847088"/>
            <a:ext cx="7946136" cy="1399032"/>
          </a:xfrm>
          <a:prstGeom prst="rect">
            <a:avLst/>
          </a:prstGeom>
          <a:noFill/>
        </p:spPr>
        <p:txBody>
          <a:bodyPr wrap="square">
            <a:spAutoFit/>
          </a:bodyPr>
          <a:lstStyle/>
          <a:p>
            <a:r>
              <a:rPr sz="3400" b="1">
                <a:solidFill>
                  <a:srgbClr val="FFFFFF"/>
                </a:solidFill>
                <a:latin typeface="Fira Sans"/>
              </a:rPr>
              <a:t>Recreo</a:t>
            </a:r>
          </a:p>
          <a:p>
            <a:r>
              <a:rPr sz="1800" b="0">
                <a:solidFill>
                  <a:srgbClr val="E0A437"/>
                </a:solidFill>
                <a:latin typeface="Fira Sans"/>
              </a:rPr>
              <a:t>15 minutos · al volver: una regresión con 19 variables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1847088"/>
            <a:ext cx="7946136" cy="1399032"/>
          </a:xfrm>
          <a:prstGeom prst="rect">
            <a:avLst/>
          </a:prstGeom>
          <a:noFill/>
        </p:spPr>
        <p:txBody>
          <a:bodyPr wrap="square">
            <a:spAutoFit/>
          </a:bodyPr>
          <a:lstStyle/>
          <a:p>
            <a:r>
              <a:rPr sz="3400" b="1">
                <a:solidFill>
                  <a:srgbClr val="FFFFFF"/>
                </a:solidFill>
                <a:latin typeface="Fira Sans"/>
              </a:rPr>
              <a:t>Bloque 2 · Muchas variables y cómo regularizar</a:t>
            </a:r>
          </a:p>
          <a:p>
            <a:r>
              <a:rPr sz="1800" b="0">
                <a:solidFill>
                  <a:srgbClr val="E0A437"/>
                </a:solidFill>
                <a:latin typeface="Fira Sans"/>
              </a:rPr>
              <a:t>Primero el problema: un modelo que se ajusta al azar de su muestra; después el remedio: Ridge y Lasso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El mapa de la clase</a:t>
            </a:r>
          </a:p>
        </p:txBody>
      </p:sp>
      <p:pic>
        <p:nvPicPr>
          <p:cNvPr id="4" name="Picture 3" descr="c7_23_mapa_4.png"/>
          <p:cNvPicPr>
            <a:picLocks noChangeAspect="1"/>
          </p:cNvPicPr>
          <p:nvPr/>
        </p:nvPicPr>
        <p:blipFill>
          <a:blip r:embed="rId2"/>
          <a:stretch>
            <a:fillRect/>
          </a:stretch>
        </p:blipFill>
        <p:spPr>
          <a:xfrm>
            <a:off x="683323" y="1097280"/>
            <a:ext cx="7777352" cy="306324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Otro problema: el salario de jugadores de béisbol</a:t>
            </a:r>
          </a:p>
        </p:txBody>
      </p:sp>
      <p:pic>
        <p:nvPicPr>
          <p:cNvPr id="4" name="Picture 3" descr="c7_12_datos_hitters.png"/>
          <p:cNvPicPr>
            <a:picLocks noChangeAspect="1"/>
          </p:cNvPicPr>
          <p:nvPr/>
        </p:nvPicPr>
        <p:blipFill>
          <a:blip r:embed="rId2"/>
          <a:stretch>
            <a:fillRect/>
          </a:stretch>
        </p:blipFill>
        <p:spPr>
          <a:xfrm>
            <a:off x="804088" y="1097280"/>
            <a:ext cx="7535822" cy="3063240"/>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263 jugadores de las grandes ligas, su salario de 1987 y 19 variables de la temporada 1986 y de su carrera (James et al.). La respuesta es un número: volvemos a la regresión lineal.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Las variables de bateo de la temporada 1986</a:t>
            </a:r>
          </a:p>
        </p:txBody>
      </p:sp>
      <p:pic>
        <p:nvPicPr>
          <p:cNvPr id="4" name="Picture 3" descr="c7_25_variables_1986.png"/>
          <p:cNvPicPr>
            <a:picLocks noChangeAspect="1"/>
          </p:cNvPicPr>
          <p:nvPr/>
        </p:nvPicPr>
        <p:blipFill>
          <a:blip r:embed="rId2"/>
          <a:stretch>
            <a:fillRect/>
          </a:stretch>
        </p:blipFill>
        <p:spPr>
          <a:xfrm>
            <a:off x="804088" y="1097280"/>
            <a:ext cx="7535822" cy="3063240"/>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Seis cuentas de lo que hizo el jugador al batear durante 1986.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Las mismas cuentas, en toda la carrera</a:t>
            </a:r>
          </a:p>
        </p:txBody>
      </p:sp>
      <p:pic>
        <p:nvPicPr>
          <p:cNvPr id="4" name="Picture 3" descr="c7_26_variables_carrera.png"/>
          <p:cNvPicPr>
            <a:picLocks noChangeAspect="1"/>
          </p:cNvPicPr>
          <p:nvPr/>
        </p:nvPicPr>
        <p:blipFill>
          <a:blip r:embed="rId2"/>
          <a:stretch>
            <a:fillRect/>
          </a:stretch>
        </p:blipFill>
        <p:spPr>
          <a:xfrm>
            <a:off x="640080" y="1097280"/>
            <a:ext cx="7863840" cy="3060694"/>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Siete variables más: las temporadas en las grandes ligas y los seis totales acumulados.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Defensa, categóricas y la respuesta</a:t>
            </a:r>
          </a:p>
        </p:txBody>
      </p:sp>
      <p:pic>
        <p:nvPicPr>
          <p:cNvPr id="4" name="Picture 3" descr="c7_27_variables_defensa.png"/>
          <p:cNvPicPr>
            <a:picLocks noChangeAspect="1"/>
          </p:cNvPicPr>
          <p:nvPr/>
        </p:nvPicPr>
        <p:blipFill>
          <a:blip r:embed="rId2"/>
          <a:stretch>
            <a:fillRect/>
          </a:stretch>
        </p:blipFill>
        <p:spPr>
          <a:xfrm>
            <a:off x="804088" y="1097280"/>
            <a:ext cx="7535822" cy="3063240"/>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Con estas se completan las 19 variables. El salario es lo que el modelo debe predecir.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¿Qué variables dicen lo mismo?</a:t>
            </a:r>
          </a:p>
        </p:txBody>
      </p:sp>
      <p:pic>
        <p:nvPicPr>
          <p:cNvPr id="4" name="Picture 3" descr="c7_28_correlaciones.png"/>
          <p:cNvPicPr>
            <a:picLocks noChangeAspect="1"/>
          </p:cNvPicPr>
          <p:nvPr/>
        </p:nvPicPr>
        <p:blipFill>
          <a:blip r:embed="rId2"/>
          <a:stretch>
            <a:fillRect/>
          </a:stretch>
        </p:blipFill>
        <p:spPr>
          <a:xfrm>
            <a:off x="1698955" y="1097280"/>
            <a:ext cx="5746088" cy="3063240"/>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Dos bloques oscuros: las seis de la temporada 1986 entre sí, y las siete de la carrera entre sí. Entre bloques, casi nada.</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Multicolinealidad entre las variables de la carrera</a:t>
            </a:r>
          </a:p>
        </p:txBody>
      </p:sp>
      <p:pic>
        <p:nvPicPr>
          <p:cNvPr id="4" name="Picture 3" descr="c7_29_bloque_carrera.png"/>
          <p:cNvPicPr>
            <a:picLocks noChangeAspect="1"/>
          </p:cNvPicPr>
          <p:nvPr/>
        </p:nvPicPr>
        <p:blipFill>
          <a:blip r:embed="rId2"/>
          <a:stretch>
            <a:fillRect/>
          </a:stretch>
        </p:blipFill>
        <p:spPr>
          <a:xfrm>
            <a:off x="1091045" y="1097280"/>
            <a:ext cx="6961909" cy="3063240"/>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Las siete variables de la carrera están fuertemente correlacionadas entre sí, de 0,72 a 0,995. Esa multicolinealidad es la que volverá inestables los coeficientes de mínimos cuadrados.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Tres pares de variables, jugador por jugador</a:t>
            </a:r>
          </a:p>
        </p:txBody>
      </p:sp>
      <p:pic>
        <p:nvPicPr>
          <p:cNvPr id="4" name="Picture 3" descr="c7_30_pares.png"/>
          <p:cNvPicPr>
            <a:picLocks noChangeAspect="1"/>
          </p:cNvPicPr>
          <p:nvPr/>
        </p:nvPicPr>
        <p:blipFill>
          <a:blip r:embed="rId2"/>
          <a:stretch>
            <a:fillRect/>
          </a:stretch>
        </p:blipFill>
        <p:spPr>
          <a:xfrm>
            <a:off x="640080" y="1097280"/>
            <a:ext cx="7863840" cy="2727577"/>
          </a:xfrm>
          <a:prstGeom prst="rect">
            <a:avLst/>
          </a:prstGeom>
        </p:spPr>
      </p:pic>
      <p:sp>
        <p:nvSpPr>
          <p:cNvPr id="5" name="TextBox 4"/>
          <p:cNvSpPr txBox="1"/>
          <p:nvPr/>
        </p:nvSpPr>
        <p:spPr>
          <a:xfrm>
            <a:off x="548640" y="3934584"/>
            <a:ext cx="8046720" cy="457200"/>
          </a:xfrm>
          <a:prstGeom prst="rect">
            <a:avLst/>
          </a:prstGeom>
          <a:noFill/>
        </p:spPr>
        <p:txBody>
          <a:bodyPr wrap="square">
            <a:spAutoFit/>
          </a:bodyPr>
          <a:lstStyle/>
          <a:p>
            <a:r>
              <a:rPr sz="1250" b="0">
                <a:solidFill>
                  <a:srgbClr val="333333"/>
                </a:solidFill>
                <a:latin typeface="Fira Sans"/>
              </a:rPr>
              <a:t>Con correlación 0,995, saber una variable es saber la otra: el modelo no tiene cómo repartir el mérito entre las dos.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¿Y con el salario?</a:t>
            </a:r>
          </a:p>
        </p:txBody>
      </p:sp>
      <p:pic>
        <p:nvPicPr>
          <p:cNvPr id="4" name="Picture 3" descr="c7_31_corr_salario.png"/>
          <p:cNvPicPr>
            <a:picLocks noChangeAspect="1"/>
          </p:cNvPicPr>
          <p:nvPr/>
        </p:nvPicPr>
        <p:blipFill>
          <a:blip r:embed="rId2"/>
          <a:stretch>
            <a:fillRect/>
          </a:stretch>
        </p:blipFill>
        <p:spPr>
          <a:xfrm>
            <a:off x="640080" y="1097280"/>
            <a:ext cx="7863840" cy="3019715"/>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Ninguna variable sola explica el salario. Las más relacionadas son las de la carrera: justo las que dicen lo mismo entre sí.</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Entrenamiento y prueba: por qué se parte</a:t>
            </a:r>
          </a:p>
        </p:txBody>
      </p:sp>
      <p:pic>
        <p:nvPicPr>
          <p:cNvPr id="4" name="Picture 3" descr="c7_42_partir.png"/>
          <p:cNvPicPr>
            <a:picLocks noChangeAspect="1"/>
          </p:cNvPicPr>
          <p:nvPr/>
        </p:nvPicPr>
        <p:blipFill>
          <a:blip r:embed="rId2"/>
          <a:stretch>
            <a:fillRect/>
          </a:stretch>
        </p:blipFill>
        <p:spPr>
          <a:xfrm>
            <a:off x="804088" y="1097280"/>
            <a:ext cx="7535822" cy="3063240"/>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Se barajan los 263 y se parten en dos mitades antes de ajustar nada: 131 para ajustar y 132 para medir. La prueba no se toca hasta el final.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Cómo se parte en el código</a:t>
            </a:r>
          </a:p>
        </p:txBody>
      </p:sp>
      <p:pic>
        <p:nvPicPr>
          <p:cNvPr id="4" name="Picture 3" descr="c7_43_codigo_partir.png"/>
          <p:cNvPicPr>
            <a:picLocks noChangeAspect="1"/>
          </p:cNvPicPr>
          <p:nvPr/>
        </p:nvPicPr>
        <p:blipFill>
          <a:blip r:embed="rId2"/>
          <a:stretch>
            <a:fillRect/>
          </a:stretch>
        </p:blipFill>
        <p:spPr>
          <a:xfrm>
            <a:off x="868334" y="1097280"/>
            <a:ext cx="7407330" cy="3063240"/>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Entra la tabla X y el salario y; salen cuatro piezas, dos de entrenamiento y dos de prueba. En el notebook, esta línea abre la sección 8.</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El error de una regresión: el RMSE</a:t>
            </a:r>
          </a:p>
        </p:txBody>
      </p:sp>
      <p:pic>
        <p:nvPicPr>
          <p:cNvPr id="4" name="Picture 3" descr="c7_13a_rmse_formula.png"/>
          <p:cNvPicPr>
            <a:picLocks noChangeAspect="1"/>
          </p:cNvPicPr>
          <p:nvPr/>
        </p:nvPicPr>
        <p:blipFill>
          <a:blip r:embed="rId2"/>
          <a:stretch>
            <a:fillRect/>
          </a:stretch>
        </p:blipFill>
        <p:spPr>
          <a:xfrm>
            <a:off x="1187972" y="1097280"/>
            <a:ext cx="6768054" cy="3063240"/>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Como en la clase 06: 131 jugadores para ajustar y 132 de prueba, y el error se mide con los de prueba, que el modelo no vio.</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El RMSE paso a paso</a:t>
            </a:r>
          </a:p>
        </p:txBody>
      </p:sp>
      <p:pic>
        <p:nvPicPr>
          <p:cNvPr id="4" name="Picture 3" descr="c7_13_rmse.png"/>
          <p:cNvPicPr>
            <a:picLocks noChangeAspect="1"/>
          </p:cNvPicPr>
          <p:nvPr/>
        </p:nvPicPr>
        <p:blipFill>
          <a:blip r:embed="rId2"/>
          <a:stretch>
            <a:fillRect/>
          </a:stretch>
        </p:blipFill>
        <p:spPr>
          <a:xfrm>
            <a:off x="725115" y="1097280"/>
            <a:ext cx="7693769" cy="3063240"/>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Con los 132 jugadores de prueba, el error típico del modelo es de 342 mil dólares; sin modelo, de 416 mil.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Estandarizar las variables</a:t>
            </a:r>
          </a:p>
        </p:txBody>
      </p:sp>
      <p:pic>
        <p:nvPicPr>
          <p:cNvPr id="4" name="Picture 3" descr="c7_17_estandarizar.png"/>
          <p:cNvPicPr>
            <a:picLocks noChangeAspect="1"/>
          </p:cNvPicPr>
          <p:nvPr/>
        </p:nvPicPr>
        <p:blipFill>
          <a:blip r:embed="rId2"/>
          <a:stretch>
            <a:fillRect/>
          </a:stretch>
        </p:blipFill>
        <p:spPr>
          <a:xfrm>
            <a:off x="640080" y="1097280"/>
            <a:ext cx="7863840" cy="3032020"/>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Estandarizadas, cada coeficiente dice cuánto cambia el salario por una desviación estándar, y se pueden comparar. La media y la desviación salen del entrenamiento.</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Regresión lineal múltiple con 19 variables</a:t>
            </a:r>
          </a:p>
        </p:txBody>
      </p:sp>
      <p:pic>
        <p:nvPicPr>
          <p:cNvPr id="4" name="Picture 3" descr="c7_14_mco_19.png"/>
          <p:cNvPicPr>
            <a:picLocks noChangeAspect="1"/>
          </p:cNvPicPr>
          <p:nvPr/>
        </p:nvPicPr>
        <p:blipFill>
          <a:blip r:embed="rId2"/>
          <a:stretch>
            <a:fillRect/>
          </a:stretch>
        </p:blipFill>
        <p:spPr>
          <a:xfrm>
            <a:off x="640080" y="1097280"/>
            <a:ext cx="7863840" cy="3019715"/>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A turnos y hits de la carrera, con correlación 0,995, les da coeficientes enormes de signo opuesto que se cancelan. Su error típico (RMSE) es de 301 mil dólares con los jugadores que vio y de 342 mil con los nuevos.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Otros jugadores, otros coeficientes</a:t>
            </a:r>
          </a:p>
        </p:txBody>
      </p:sp>
      <p:pic>
        <p:nvPicPr>
          <p:cNvPr id="4" name="Picture 3" descr="c7_48_tres_repartos.png"/>
          <p:cNvPicPr>
            <a:picLocks noChangeAspect="1"/>
          </p:cNvPicPr>
          <p:nvPr/>
        </p:nvPicPr>
        <p:blipFill>
          <a:blip r:embed="rId2"/>
          <a:stretch>
            <a:fillRect/>
          </a:stretch>
        </p:blipFill>
        <p:spPr>
          <a:xfrm>
            <a:off x="640080" y="1097280"/>
            <a:ext cx="7863840" cy="2982836"/>
          </a:xfrm>
          <a:prstGeom prst="rect">
            <a:avLst/>
          </a:prstGeom>
        </p:spPr>
      </p:pic>
      <p:sp>
        <p:nvSpPr>
          <p:cNvPr id="5" name="TextBox 4"/>
          <p:cNvSpPr txBox="1"/>
          <p:nvPr/>
        </p:nvSpPr>
        <p:spPr>
          <a:xfrm>
            <a:off x="548640" y="4189843"/>
            <a:ext cx="8046720" cy="457200"/>
          </a:xfrm>
          <a:prstGeom prst="rect">
            <a:avLst/>
          </a:prstGeom>
          <a:noFill/>
        </p:spPr>
        <p:txBody>
          <a:bodyPr wrap="square">
            <a:spAutoFit/>
          </a:bodyPr>
          <a:lstStyle/>
          <a:p>
            <a:r>
              <a:rPr sz="1250" b="0">
                <a:solidFill>
                  <a:srgbClr val="333333"/>
                </a:solidFill>
                <a:latin typeface="Fira Sans"/>
              </a:rPr>
              <a:t>Tres repartos distintos de los 263 jugadores y la misma regresión: turnos y hits de la carrera cambian de tamaño y hasta de signo según qué 131 jugadores tocaron.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Los coeficientes varían mucho entre muestras</a:t>
            </a:r>
          </a:p>
        </p:txBody>
      </p:sp>
      <p:pic>
        <p:nvPicPr>
          <p:cNvPr id="4" name="Picture 3" descr="c7_15_repartos.png"/>
          <p:cNvPicPr>
            <a:picLocks noChangeAspect="1"/>
          </p:cNvPicPr>
          <p:nvPr/>
        </p:nvPicPr>
        <p:blipFill>
          <a:blip r:embed="rId2"/>
          <a:stretch>
            <a:fillRect/>
          </a:stretch>
        </p:blipFill>
        <p:spPr>
          <a:xfrm>
            <a:off x="640080" y="1097280"/>
            <a:ext cx="7863840" cy="2592305"/>
          </a:xfrm>
          <a:prstGeom prst="rect">
            <a:avLst/>
          </a:prstGeom>
        </p:spPr>
      </p:pic>
      <p:sp>
        <p:nvSpPr>
          <p:cNvPr id="5" name="TextBox 4"/>
          <p:cNvSpPr txBox="1"/>
          <p:nvPr/>
        </p:nvSpPr>
        <p:spPr>
          <a:xfrm>
            <a:off x="548640" y="3799312"/>
            <a:ext cx="8046720" cy="457200"/>
          </a:xfrm>
          <a:prstGeom prst="rect">
            <a:avLst/>
          </a:prstGeom>
          <a:noFill/>
        </p:spPr>
        <p:txBody>
          <a:bodyPr wrap="square">
            <a:spAutoFit/>
          </a:bodyPr>
          <a:lstStyle/>
          <a:p>
            <a:r>
              <a:rPr sz="1250" b="0">
                <a:solidFill>
                  <a:srgbClr val="333333"/>
                </a:solidFill>
                <a:latin typeface="Fira Sans"/>
              </a:rPr>
              <a:t>Cada punto es un reparto distinto. Con mínimos cuadrados, el coeficiente de turnos de la carrera va de −1.400 a 627 según qué 131 jugadores tocaron: ese es el problema. Con Ridge, de 15 a 36. Es la clase 06: todo número que sale de una muestra se mueve.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El mapa de la clase</a:t>
            </a:r>
          </a:p>
        </p:txBody>
      </p:sp>
      <p:pic>
        <p:nvPicPr>
          <p:cNvPr id="4" name="Picture 3" descr="c7_23_mapa_5.png"/>
          <p:cNvPicPr>
            <a:picLocks noChangeAspect="1"/>
          </p:cNvPicPr>
          <p:nvPr/>
        </p:nvPicPr>
        <p:blipFill>
          <a:blip r:embed="rId2"/>
          <a:stretch>
            <a:fillRect/>
          </a:stretch>
        </p:blipFill>
        <p:spPr>
          <a:xfrm>
            <a:off x="683323" y="1097280"/>
            <a:ext cx="7777352" cy="306324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¿Qué es regularizar?</a:t>
            </a:r>
          </a:p>
        </p:txBody>
      </p:sp>
      <p:pic>
        <p:nvPicPr>
          <p:cNvPr id="4" name="Picture 3" descr="c7_40_que_es.png"/>
          <p:cNvPicPr>
            <a:picLocks noChangeAspect="1"/>
          </p:cNvPicPr>
          <p:nvPr/>
        </p:nvPicPr>
        <p:blipFill>
          <a:blip r:embed="rId2"/>
          <a:stretch>
            <a:fillRect/>
          </a:stretch>
        </p:blipFill>
        <p:spPr>
          <a:xfrm>
            <a:off x="640080" y="1097280"/>
            <a:ext cx="7863840" cy="2830877"/>
          </a:xfrm>
          <a:prstGeom prst="rect">
            <a:avLst/>
          </a:prstGeom>
        </p:spPr>
      </p:pic>
      <p:sp>
        <p:nvSpPr>
          <p:cNvPr id="5" name="TextBox 4"/>
          <p:cNvSpPr txBox="1"/>
          <p:nvPr/>
        </p:nvSpPr>
        <p:spPr>
          <a:xfrm>
            <a:off x="548640" y="4037885"/>
            <a:ext cx="8046720" cy="457200"/>
          </a:xfrm>
          <a:prstGeom prst="rect">
            <a:avLst/>
          </a:prstGeom>
          <a:noFill/>
        </p:spPr>
        <p:txBody>
          <a:bodyPr wrap="square">
            <a:spAutoFit/>
          </a:bodyPr>
          <a:lstStyle/>
          <a:p>
            <a:r>
              <a:rPr sz="1250" b="0">
                <a:solidFill>
                  <a:srgbClr val="333333"/>
                </a:solidFill>
                <a:latin typeface="Fira Sans"/>
              </a:rPr>
              <a:t>Cuánto se empujan lo fija λ, un número que se elige con los datos.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¿Para qué regularizar?</a:t>
            </a:r>
          </a:p>
        </p:txBody>
      </p:sp>
      <p:pic>
        <p:nvPicPr>
          <p:cNvPr id="4" name="Picture 3" descr="c7_16a_para_que.png"/>
          <p:cNvPicPr>
            <a:picLocks noChangeAspect="1"/>
          </p:cNvPicPr>
          <p:nvPr/>
        </p:nvPicPr>
        <p:blipFill>
          <a:blip r:embed="rId2"/>
          <a:stretch>
            <a:fillRect/>
          </a:stretch>
        </p:blipFill>
        <p:spPr>
          <a:xfrm>
            <a:off x="1273126" y="1097280"/>
            <a:ext cx="6597747" cy="3063240"/>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Con coeficientes chicos, el modelo depende menos de su muestra: pierde un poco con los jugadores que vio y gana con los nuevos.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¿Cuándo conviene regularizar?</a:t>
            </a:r>
          </a:p>
        </p:txBody>
      </p:sp>
      <p:pic>
        <p:nvPicPr>
          <p:cNvPr id="4" name="Picture 3" descr="c7_39_cuando.png"/>
          <p:cNvPicPr>
            <a:picLocks noChangeAspect="1"/>
          </p:cNvPicPr>
          <p:nvPr/>
        </p:nvPicPr>
        <p:blipFill>
          <a:blip r:embed="rId2"/>
          <a:stretch>
            <a:fillRect/>
          </a:stretch>
        </p:blipFill>
        <p:spPr>
          <a:xfrm>
            <a:off x="983767" y="1097280"/>
            <a:ext cx="7176465" cy="3063240"/>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Con pocas variables y muchos datos da casi lo mismo que mínimos cuadrados. Y no sirve para leer coeficientes con valores p, como en la clase 06: aquí se achican a propósito.</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Cómo se escribe: el error más un castigo</a:t>
            </a:r>
          </a:p>
        </p:txBody>
      </p:sp>
      <p:pic>
        <p:nvPicPr>
          <p:cNvPr id="4" name="Picture 3" descr="c7_16_penalizacion.png"/>
          <p:cNvPicPr>
            <a:picLocks noChangeAspect="1"/>
          </p:cNvPicPr>
          <p:nvPr/>
        </p:nvPicPr>
        <p:blipFill>
          <a:blip r:embed="rId2"/>
          <a:stretch>
            <a:fillRect/>
          </a:stretch>
        </p:blipFill>
        <p:spPr>
          <a:xfrm>
            <a:off x="687685" y="1097280"/>
            <a:ext cx="7768629" cy="3063240"/>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λ decide cuánto pesa el castigo: más λ, coeficientes más chicos. Como el castigo suma coeficientes de variables distintas, se usan las variables estandarizadas.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Qué es cada símbolo</a:t>
            </a:r>
          </a:p>
        </p:txBody>
      </p:sp>
      <p:pic>
        <p:nvPicPr>
          <p:cNvPr id="4" name="Picture 3" descr="c7_16b_simbolos.png"/>
          <p:cNvPicPr>
            <a:picLocks noChangeAspect="1"/>
          </p:cNvPicPr>
          <p:nvPr/>
        </p:nvPicPr>
        <p:blipFill>
          <a:blip r:embed="rId2"/>
          <a:stretch>
            <a:fillRect/>
          </a:stretch>
        </p:blipFill>
        <p:spPr>
          <a:xfrm>
            <a:off x="640080" y="1097280"/>
            <a:ext cx="7863840" cy="2615165"/>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Ridge: todos los coeficientes se achican</a:t>
            </a:r>
          </a:p>
        </p:txBody>
      </p:sp>
      <p:pic>
        <p:nvPicPr>
          <p:cNvPr id="4" name="Picture 3" descr="c7_18_ridge_camino.png"/>
          <p:cNvPicPr>
            <a:picLocks noChangeAspect="1"/>
          </p:cNvPicPr>
          <p:nvPr/>
        </p:nvPicPr>
        <p:blipFill>
          <a:blip r:embed="rId2"/>
          <a:stretch>
            <a:fillRect/>
          </a:stretch>
        </p:blipFill>
        <p:spPr>
          <a:xfrm>
            <a:off x="1052881" y="1097280"/>
            <a:ext cx="7038236" cy="3063240"/>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A la izquierda, λ casi 0: mínimos cuadrados, con los opuestos de −1.400 y 1.427. Al subir λ se achican y se juntan; ninguno llega exactamente a 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El error de Ridge según λ</a:t>
            </a:r>
          </a:p>
        </p:txBody>
      </p:sp>
      <p:pic>
        <p:nvPicPr>
          <p:cNvPr id="4" name="Picture 3" descr="c7_19_ridge_error.png"/>
          <p:cNvPicPr>
            <a:picLocks noChangeAspect="1"/>
          </p:cNvPicPr>
          <p:nvPr/>
        </p:nvPicPr>
        <p:blipFill>
          <a:blip r:embed="rId2"/>
          <a:stretch>
            <a:fillRect/>
          </a:stretch>
        </p:blipFill>
        <p:spPr>
          <a:xfrm>
            <a:off x="904232" y="1097280"/>
            <a:ext cx="7335534" cy="3063240"/>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El error en entrenamiento solo sube con λ. El de prueba baja de 342 a 316 y después sube. El λ no se elige mirando la prueba, sino con validación cruzada.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Lasso: los coeficientes se apagan de a uno</a:t>
            </a:r>
          </a:p>
        </p:txBody>
      </p:sp>
      <p:pic>
        <p:nvPicPr>
          <p:cNvPr id="4" name="Picture 3" descr="c7_20_lasso_camino.png"/>
          <p:cNvPicPr>
            <a:picLocks noChangeAspect="1"/>
          </p:cNvPicPr>
          <p:nvPr/>
        </p:nvPicPr>
        <p:blipFill>
          <a:blip r:embed="rId2"/>
          <a:stretch>
            <a:fillRect/>
          </a:stretch>
        </p:blipFill>
        <p:spPr>
          <a:xfrm>
            <a:off x="1052881" y="1097280"/>
            <a:ext cx="7038236" cy="3063240"/>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Al subir λ, los coeficientes llegan exactamente a 0 de a uno: el modelo elige variables. Con el λ elegido quedan 7 de las 19, como en el libro.</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Los 19 coeficientes con cada método</a:t>
            </a:r>
          </a:p>
        </p:txBody>
      </p:sp>
      <p:pic>
        <p:nvPicPr>
          <p:cNvPr id="4" name="Picture 3" descr="c7_37_coeficientes_tres.png"/>
          <p:cNvPicPr>
            <a:picLocks noChangeAspect="1"/>
          </p:cNvPicPr>
          <p:nvPr/>
        </p:nvPicPr>
        <p:blipFill>
          <a:blip r:embed="rId2"/>
          <a:stretch>
            <a:fillRect/>
          </a:stretch>
        </p:blipFill>
        <p:spPr>
          <a:xfrm>
            <a:off x="640080" y="1097280"/>
            <a:ext cx="7863840" cy="2937699"/>
          </a:xfrm>
          <a:prstGeom prst="rect">
            <a:avLst/>
          </a:prstGeom>
        </p:spPr>
      </p:pic>
      <p:sp>
        <p:nvSpPr>
          <p:cNvPr id="5" name="TextBox 4"/>
          <p:cNvSpPr txBox="1"/>
          <p:nvPr/>
        </p:nvSpPr>
        <p:spPr>
          <a:xfrm>
            <a:off x="548640" y="4144706"/>
            <a:ext cx="8046720" cy="457200"/>
          </a:xfrm>
          <a:prstGeom prst="rect">
            <a:avLst/>
          </a:prstGeom>
          <a:noFill/>
        </p:spPr>
        <p:txBody>
          <a:bodyPr wrap="square">
            <a:spAutoFit/>
          </a:bodyPr>
          <a:lstStyle/>
          <a:p>
            <a:r>
              <a:rPr sz="1250" b="0">
                <a:solidFill>
                  <a:srgbClr val="333333"/>
                </a:solidFill>
                <a:latin typeface="Fira Sans"/>
              </a:rPr>
              <a:t>Ridge deja los 19 chicos y distintos de 0; Lasso deja 7 y lleva 12 exactamente a 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¿Qué es la validación cruzada?</a:t>
            </a:r>
          </a:p>
        </p:txBody>
      </p:sp>
      <p:sp>
        <p:nvSpPr>
          <p:cNvPr id="4" name="TextBox 3"/>
          <p:cNvSpPr txBox="1"/>
          <p:nvPr/>
        </p:nvSpPr>
        <p:spPr>
          <a:xfrm>
            <a:off x="704088" y="1353312"/>
            <a:ext cx="7744968" cy="3300984"/>
          </a:xfrm>
          <a:prstGeom prst="rect">
            <a:avLst/>
          </a:prstGeom>
          <a:noFill/>
        </p:spPr>
        <p:txBody>
          <a:bodyPr wrap="square">
            <a:spAutoFit/>
          </a:bodyPr>
          <a:lstStyle/>
          <a:p>
            <a:pPr>
              <a:lnSpc>
                <a:spcPct val="112000"/>
              </a:lnSpc>
              <a:spcAft>
                <a:spcPts val="900"/>
              </a:spcAft>
            </a:pPr>
            <a:r>
              <a:rPr sz="1800" b="1">
                <a:solidFill>
                  <a:srgbClr val="E0A437"/>
                </a:solidFill>
                <a:latin typeface="Fira Sans"/>
              </a:rPr>
              <a:t>▸ </a:t>
            </a:r>
            <a:r>
              <a:rPr sz="1800" b="1">
                <a:solidFill>
                  <a:srgbClr val="1D3557"/>
                </a:solidFill>
                <a:latin typeface="Fira Sans"/>
              </a:rPr>
              <a:t>Una forma de elegir λ sin tocar los datos de prueba.</a:t>
            </a:r>
          </a:p>
          <a:p>
            <a:pPr>
              <a:lnSpc>
                <a:spcPct val="112000"/>
              </a:lnSpc>
              <a:spcAft>
                <a:spcPts val="900"/>
              </a:spcAft>
            </a:pPr>
            <a:r>
              <a:rPr sz="1800" b="1">
                <a:solidFill>
                  <a:srgbClr val="E0A437"/>
                </a:solidFill>
                <a:latin typeface="Fira Sans"/>
              </a:rPr>
              <a:t>▸ </a:t>
            </a:r>
            <a:r>
              <a:rPr sz="1800" b="0">
                <a:solidFill>
                  <a:srgbClr val="000000"/>
                </a:solidFill>
                <a:latin typeface="Fira Sans"/>
              </a:rPr>
              <a:t>El problema: la prueba es para la medición final, y el error de entrenamiento siempre prefiere λ = 0.</a:t>
            </a:r>
          </a:p>
          <a:p>
            <a:pPr>
              <a:lnSpc>
                <a:spcPct val="112000"/>
              </a:lnSpc>
              <a:spcAft>
                <a:spcPts val="900"/>
              </a:spcAft>
            </a:pPr>
            <a:r>
              <a:rPr sz="1800" b="1">
                <a:solidFill>
                  <a:srgbClr val="E0A437"/>
                </a:solidFill>
                <a:latin typeface="Fira Sans"/>
              </a:rPr>
              <a:t>▸ </a:t>
            </a:r>
            <a:r>
              <a:rPr sz="1800" b="0">
                <a:solidFill>
                  <a:srgbClr val="000000"/>
                </a:solidFill>
                <a:latin typeface="Fira Sans"/>
              </a:rPr>
              <a:t>La idea: apartar un grupo de jugadores, ajustar el modelo con el resto y medir el error en el grupo apartado. Se repite rotando el grupo, de modo que cada grupo se use como conjunto de validación exactamente una vez.</a:t>
            </a:r>
          </a:p>
          <a:p>
            <a:pPr>
              <a:lnSpc>
                <a:spcPct val="112000"/>
              </a:lnSpc>
              <a:spcAft>
                <a:spcPts val="900"/>
              </a:spcAft>
            </a:pPr>
            <a:r>
              <a:rPr sz="1800" b="1">
                <a:solidFill>
                  <a:srgbClr val="E0A437"/>
                </a:solidFill>
                <a:latin typeface="Fira Sans"/>
              </a:rPr>
              <a:t>▸ </a:t>
            </a:r>
            <a:r>
              <a:rPr sz="1800" b="0">
                <a:solidFill>
                  <a:srgbClr val="000000"/>
                </a:solidFill>
                <a:latin typeface="Fira Sans"/>
              </a:rPr>
              <a:t>Con cinco grupos: por cada λ, cinco errores y su promedio. Gana el λ de menor promedio (James et al., 2013, p. 181).</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Cuántos jugadores hay en cada paso</a:t>
            </a:r>
          </a:p>
        </p:txBody>
      </p:sp>
      <p:pic>
        <p:nvPicPr>
          <p:cNvPr id="4" name="Picture 3" descr="c7_41_reparto.png"/>
          <p:cNvPicPr>
            <a:picLocks noChangeAspect="1"/>
          </p:cNvPicPr>
          <p:nvPr/>
        </p:nvPicPr>
        <p:blipFill>
          <a:blip r:embed="rId2"/>
          <a:stretch>
            <a:fillRect/>
          </a:stretch>
        </p:blipFill>
        <p:spPr>
          <a:xfrm>
            <a:off x="1111948" y="1097280"/>
            <a:ext cx="6920103" cy="3063240"/>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Los cinco grupos salen solo de los 131 de entrenamiento: 27, 26, 26, 26 y 26. En cada vuelta, cuatro grupos ajustan y uno valida. Los 132 de prueba se usan una sola vez, al final.</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Cómo elegir λ: validación cruzada</a:t>
            </a:r>
          </a:p>
        </p:txBody>
      </p:sp>
      <p:pic>
        <p:nvPicPr>
          <p:cNvPr id="4" name="Picture 3" descr="c7_21_validacion.png"/>
          <p:cNvPicPr>
            <a:picLocks noChangeAspect="1"/>
          </p:cNvPicPr>
          <p:nvPr/>
        </p:nvPicPr>
        <p:blipFill>
          <a:blip r:embed="rId2"/>
          <a:stretch>
            <a:fillRect/>
          </a:stretch>
        </p:blipFill>
        <p:spPr>
          <a:xfrm>
            <a:off x="640080" y="1097280"/>
            <a:ext cx="7863840" cy="2887352"/>
          </a:xfrm>
          <a:prstGeom prst="rect">
            <a:avLst/>
          </a:prstGeom>
        </p:spPr>
      </p:pic>
      <p:sp>
        <p:nvSpPr>
          <p:cNvPr id="5" name="TextBox 4"/>
          <p:cNvSpPr txBox="1"/>
          <p:nvPr/>
        </p:nvSpPr>
        <p:spPr>
          <a:xfrm>
            <a:off x="548640" y="4094360"/>
            <a:ext cx="8046720" cy="457200"/>
          </a:xfrm>
          <a:prstGeom prst="rect">
            <a:avLst/>
          </a:prstGeom>
          <a:noFill/>
        </p:spPr>
        <p:txBody>
          <a:bodyPr wrap="square">
            <a:spAutoFit/>
          </a:bodyPr>
          <a:lstStyle/>
          <a:p>
            <a:r>
              <a:rPr sz="1250" b="0">
                <a:solidFill>
                  <a:srgbClr val="333333"/>
                </a:solidFill>
                <a:latin typeface="Fira Sans"/>
              </a:rPr>
              <a:t>Para cada λ se ajusta con cuatro partes del entrenamiento y se mide en la quinta, cinco veces, y se promedia. Se elige el λ de menor error; la prueba queda intacta.</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El resultado en datos que no vio</a:t>
            </a:r>
          </a:p>
        </p:txBody>
      </p:sp>
      <p:pic>
        <p:nvPicPr>
          <p:cNvPr id="4" name="Picture 3" descr="c7_22_comparacion.png"/>
          <p:cNvPicPr>
            <a:picLocks noChangeAspect="1"/>
          </p:cNvPicPr>
          <p:nvPr/>
        </p:nvPicPr>
        <p:blipFill>
          <a:blip r:embed="rId2"/>
          <a:stretch>
            <a:fillRect/>
          </a:stretch>
        </p:blipFill>
        <p:spPr>
          <a:xfrm>
            <a:off x="640080" y="1097280"/>
            <a:ext cx="7863840" cy="3020520"/>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Ridge baja el error de 342 a 316, y Lasso a 325 con 7 variables. En 20 repartos distintos de los 263 jugadores, Ridge le gana a mínimos cuadrados en 17 y Lasso también en 17: cada uno se compara con mínimos cuadrados, no entre sí.</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Cómo quedan los modelos finales</a:t>
            </a:r>
          </a:p>
        </p:txBody>
      </p:sp>
      <p:pic>
        <p:nvPicPr>
          <p:cNvPr id="4" name="Picture 3" descr="c7_45_modelos_finales.png"/>
          <p:cNvPicPr>
            <a:picLocks noChangeAspect="1"/>
          </p:cNvPicPr>
          <p:nvPr/>
        </p:nvPicPr>
        <p:blipFill>
          <a:blip r:embed="rId2"/>
          <a:stretch>
            <a:fillRect/>
          </a:stretch>
        </p:blipFill>
        <p:spPr>
          <a:xfrm>
            <a:off x="727934" y="1097280"/>
            <a:ext cx="7688131" cy="3063240"/>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Son coeficientes achicados a propósito: sirven para predecir y para ver qué pesa más, no para leer efectos con valores p.</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Ridge y Lasso en scikit-learn</a:t>
            </a:r>
          </a:p>
        </p:txBody>
      </p:sp>
      <p:sp>
        <p:nvSpPr>
          <p:cNvPr id="4" name="Rectangle 3"/>
          <p:cNvSpPr/>
          <p:nvPr/>
        </p:nvSpPr>
        <p:spPr>
          <a:xfrm>
            <a:off x="704088" y="1234440"/>
            <a:ext cx="7744968" cy="2148840"/>
          </a:xfrm>
          <a:prstGeom prst="rect">
            <a:avLst/>
          </a:prstGeom>
          <a:solidFill>
            <a:srgbClr val="F0F2F5"/>
          </a:solidFill>
          <a:ln>
            <a:solidFill>
              <a:srgbClr val="D8DDE3"/>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tIns="109728"/>
          <a:lstStyle/>
          <a:p>
            <a:pPr algn="l"/>
            <a:r>
              <a:rPr sz="1300" b="0">
                <a:solidFill>
                  <a:srgbClr val="1D3557"/>
                </a:solidFill>
                <a:latin typeface="Menlo"/>
              </a:rPr>
              <a:t>escala = StandardScaler().fit(X_ent)</a:t>
            </a:r>
          </a:p>
          <a:p>
            <a:pPr algn="l"/>
            <a:r>
              <a:rPr sz="1300" b="0">
                <a:solidFill>
                  <a:srgbClr val="1D3557"/>
                </a:solidFill>
                <a:latin typeface="Menlo"/>
              </a:rPr>
              <a:t>Z_ent = escala.transform(X_ent)</a:t>
            </a:r>
          </a:p>
          <a:p>
            <a:pPr algn="l"/>
            <a:r>
              <a:rPr sz="1300" b="0">
                <a:solidFill>
                  <a:srgbClr val="1D3557"/>
                </a:solidFill>
                <a:latin typeface="Menlo"/>
              </a:rPr>
              <a:t>Z_pru = escala.transform(X_pru)</a:t>
            </a:r>
          </a:p>
          <a:p>
            <a:pPr algn="l"/>
            <a:r>
              <a:rPr sz="1300" b="0">
                <a:solidFill>
                  <a:srgbClr val="1D3557"/>
                </a:solidFill>
                <a:latin typeface="Menlo"/>
              </a:rPr>
              <a:t>lasso = LassoCV(cv=5).fit(Z_ent, y_ent)</a:t>
            </a:r>
          </a:p>
          <a:p>
            <a:pPr algn="l"/>
            <a:r>
              <a:rPr sz="1300" b="0">
                <a:solidFill>
                  <a:srgbClr val="1D3557"/>
                </a:solidFill>
                <a:latin typeface="Menlo"/>
              </a:rPr>
              <a:t>lasso.predict(Z_pru)</a:t>
            </a:r>
          </a:p>
        </p:txBody>
      </p:sp>
      <p:sp>
        <p:nvSpPr>
          <p:cNvPr id="5" name="TextBox 4"/>
          <p:cNvSpPr txBox="1"/>
          <p:nvPr/>
        </p:nvSpPr>
        <p:spPr>
          <a:xfrm>
            <a:off x="704088" y="3566160"/>
            <a:ext cx="7744968" cy="1097280"/>
          </a:xfrm>
          <a:prstGeom prst="rect">
            <a:avLst/>
          </a:prstGeom>
          <a:noFill/>
        </p:spPr>
        <p:txBody>
          <a:bodyPr wrap="square">
            <a:spAutoFit/>
          </a:bodyPr>
          <a:lstStyle/>
          <a:p>
            <a:pPr>
              <a:lnSpc>
                <a:spcPct val="112000"/>
              </a:lnSpc>
              <a:spcAft>
                <a:spcPts val="900"/>
              </a:spcAft>
            </a:pPr>
            <a:r>
              <a:rPr sz="1300" b="1">
                <a:solidFill>
                  <a:srgbClr val="E0A437"/>
                </a:solidFill>
                <a:latin typeface="Fira Sans"/>
              </a:rPr>
              <a:t>▸ </a:t>
            </a:r>
            <a:r>
              <a:rPr sz="1300" b="0">
                <a:solidFill>
                  <a:srgbClr val="000000"/>
                </a:solidFill>
                <a:latin typeface="Fira Sans"/>
              </a:rPr>
              <a:t>LassoCV elige λ con validación cruzada; Ridge es igual, con RidgeCV. scikit-learn llama alpha a λ.</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¿Ridge o Lasso?</a:t>
            </a:r>
          </a:p>
        </p:txBody>
      </p:sp>
      <p:pic>
        <p:nvPicPr>
          <p:cNvPr id="4" name="Picture 3" descr="c7_38_ridge_o_lasso.png"/>
          <p:cNvPicPr>
            <a:picLocks noChangeAspect="1"/>
          </p:cNvPicPr>
          <p:nvPr/>
        </p:nvPicPr>
        <p:blipFill>
          <a:blip r:embed="rId2"/>
          <a:stretch>
            <a:fillRect/>
          </a:stretch>
        </p:blipFill>
        <p:spPr>
          <a:xfrm>
            <a:off x="640080" y="1097280"/>
            <a:ext cx="7863840" cy="3046922"/>
          </a:xfrm>
          <a:prstGeom prst="rect">
            <a:avLst/>
          </a:prstGeom>
        </p:spPr>
      </p:pic>
      <p:sp>
        <p:nvSpPr>
          <p:cNvPr id="5" name="TextBox 4"/>
          <p:cNvSpPr txBox="1"/>
          <p:nvPr/>
        </p:nvSpPr>
        <p:spPr>
          <a:xfrm>
            <a:off x="548640" y="4206240"/>
            <a:ext cx="8046720" cy="457200"/>
          </a:xfrm>
          <a:prstGeom prst="rect">
            <a:avLst/>
          </a:prstGeom>
          <a:noFill/>
        </p:spPr>
        <p:txBody>
          <a:bodyPr wrap="square">
            <a:spAutoFit/>
          </a:bodyPr>
          <a:lstStyle/>
          <a:p>
            <a:r>
              <a:rPr sz="1250" b="0">
                <a:solidFill>
                  <a:srgbClr val="333333"/>
                </a:solidFill>
                <a:latin typeface="Fira Sans"/>
              </a:rPr>
              <a:t>Ninguno es mejor en todos los casos (James et al., p. 224). En los dos, λ se elige con validación cruzada y el error se mide en prueba.</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Conclusiones</a:t>
            </a:r>
          </a:p>
        </p:txBody>
      </p:sp>
      <p:sp>
        <p:nvSpPr>
          <p:cNvPr id="4" name="TextBox 3"/>
          <p:cNvSpPr txBox="1"/>
          <p:nvPr/>
        </p:nvSpPr>
        <p:spPr>
          <a:xfrm>
            <a:off x="704088" y="1353312"/>
            <a:ext cx="7744968" cy="3300984"/>
          </a:xfrm>
          <a:prstGeom prst="rect">
            <a:avLst/>
          </a:prstGeom>
          <a:noFill/>
        </p:spPr>
        <p:txBody>
          <a:bodyPr wrap="square">
            <a:spAutoFit/>
          </a:bodyPr>
          <a:lstStyle/>
          <a:p>
            <a:pPr>
              <a:lnSpc>
                <a:spcPct val="112000"/>
              </a:lnSpc>
              <a:spcAft>
                <a:spcPts val="900"/>
              </a:spcAft>
            </a:pPr>
            <a:r>
              <a:rPr sz="1800" b="1">
                <a:solidFill>
                  <a:srgbClr val="E0A437"/>
                </a:solidFill>
                <a:latin typeface="Fira Sans"/>
              </a:rPr>
              <a:t>▸ </a:t>
            </a:r>
            <a:r>
              <a:rPr sz="1800" b="1">
                <a:solidFill>
                  <a:srgbClr val="1D3557"/>
                </a:solidFill>
                <a:latin typeface="Fira Sans"/>
              </a:rPr>
              <a:t>Un modelo se juzga por sus errores donde importan, con el costo correcto y en datos que no vio.</a:t>
            </a:r>
          </a:p>
          <a:p>
            <a:pPr>
              <a:lnSpc>
                <a:spcPct val="112000"/>
              </a:lnSpc>
              <a:spcAft>
                <a:spcPts val="900"/>
              </a:spcAft>
            </a:pPr>
            <a:r>
              <a:rPr sz="1800" b="1">
                <a:solidFill>
                  <a:srgbClr val="E0A437"/>
                </a:solidFill>
                <a:latin typeface="Fira Sans"/>
              </a:rPr>
              <a:t>▸ </a:t>
            </a:r>
            <a:r>
              <a:rPr sz="1800" b="0">
                <a:solidFill>
                  <a:srgbClr val="000000"/>
                </a:solidFill>
                <a:latin typeface="Fira Sans"/>
              </a:rPr>
              <a:t>En un clasificador, la matriz separa los dos errores; sensibilidad, especificidad y precisión miden cada uno, y el umbral se elige con el costo de cada error, no por defecto en 0,5.</a:t>
            </a:r>
          </a:p>
          <a:p>
            <a:pPr>
              <a:lnSpc>
                <a:spcPct val="112000"/>
              </a:lnSpc>
              <a:spcAft>
                <a:spcPts val="900"/>
              </a:spcAft>
            </a:pPr>
            <a:r>
              <a:rPr sz="1800" b="1">
                <a:solidFill>
                  <a:srgbClr val="E0A437"/>
                </a:solidFill>
                <a:latin typeface="Fira Sans"/>
              </a:rPr>
              <a:t>▸ </a:t>
            </a:r>
            <a:r>
              <a:rPr sz="1800" b="0">
                <a:solidFill>
                  <a:srgbClr val="000000"/>
                </a:solidFill>
                <a:latin typeface="Fira Sans"/>
              </a:rPr>
              <a:t>En una regresión con muchas variables, el error que vale es el de prueba: mínimos cuadrados se ajusta al azar de su muestra, y Ridge o Lasso lo corrigen castigando los coeficientes grandes, con λ elegido por validación cruzada.</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Síntesis</a:t>
            </a:r>
          </a:p>
        </p:txBody>
      </p:sp>
      <p:sp>
        <p:nvSpPr>
          <p:cNvPr id="4" name="TextBox 3"/>
          <p:cNvSpPr txBox="1"/>
          <p:nvPr/>
        </p:nvSpPr>
        <p:spPr>
          <a:xfrm>
            <a:off x="704088" y="1353312"/>
            <a:ext cx="7744968" cy="3300984"/>
          </a:xfrm>
          <a:prstGeom prst="rect">
            <a:avLst/>
          </a:prstGeom>
          <a:noFill/>
        </p:spPr>
        <p:txBody>
          <a:bodyPr wrap="square">
            <a:spAutoFit/>
          </a:bodyPr>
          <a:lstStyle/>
          <a:p>
            <a:pPr>
              <a:lnSpc>
                <a:spcPct val="112000"/>
              </a:lnSpc>
              <a:spcAft>
                <a:spcPts val="900"/>
              </a:spcAft>
            </a:pPr>
            <a:r>
              <a:rPr sz="1800" b="1">
                <a:solidFill>
                  <a:srgbClr val="E0A437"/>
                </a:solidFill>
                <a:latin typeface="Fira Sans"/>
              </a:rPr>
              <a:t>▸ </a:t>
            </a:r>
            <a:r>
              <a:rPr sz="1800" b="0">
                <a:solidFill>
                  <a:srgbClr val="000000"/>
                </a:solidFill>
                <a:latin typeface="Fira Sans"/>
              </a:rPr>
              <a:t>Sensibilidad, especificidad y precisión miden un error por vez; la exactitud los mezcla.</a:t>
            </a:r>
          </a:p>
          <a:p>
            <a:pPr>
              <a:lnSpc>
                <a:spcPct val="112000"/>
              </a:lnSpc>
              <a:spcAft>
                <a:spcPts val="900"/>
              </a:spcAft>
            </a:pPr>
            <a:r>
              <a:rPr sz="1800" b="1">
                <a:solidFill>
                  <a:srgbClr val="E0A437"/>
                </a:solidFill>
                <a:latin typeface="Fira Sans"/>
              </a:rPr>
              <a:t>▸ </a:t>
            </a:r>
            <a:r>
              <a:rPr sz="1800" b="0">
                <a:solidFill>
                  <a:srgbClr val="000000"/>
                </a:solidFill>
                <a:latin typeface="Fira Sans"/>
              </a:rPr>
              <a:t>El umbral de menor costo es costo FP / (costo FP + costo FN); con costos iguales, 0,5.</a:t>
            </a:r>
          </a:p>
          <a:p>
            <a:pPr>
              <a:lnSpc>
                <a:spcPct val="112000"/>
              </a:lnSpc>
              <a:spcAft>
                <a:spcPts val="900"/>
              </a:spcAft>
            </a:pPr>
            <a:r>
              <a:rPr sz="1800" b="1">
                <a:solidFill>
                  <a:srgbClr val="E0A437"/>
                </a:solidFill>
                <a:latin typeface="Fira Sans"/>
              </a:rPr>
              <a:t>▸ </a:t>
            </a:r>
            <a:r>
              <a:rPr sz="1800" b="0">
                <a:solidFill>
                  <a:srgbClr val="000000"/>
                </a:solidFill>
                <a:latin typeface="Fira Sans"/>
              </a:rPr>
              <a:t>La curva ROC compara modelos con todos los umbrales; el AUC la resume.</a:t>
            </a:r>
          </a:p>
          <a:p>
            <a:pPr>
              <a:lnSpc>
                <a:spcPct val="112000"/>
              </a:lnSpc>
              <a:spcAft>
                <a:spcPts val="900"/>
              </a:spcAft>
            </a:pPr>
            <a:r>
              <a:rPr sz="1800" b="1">
                <a:solidFill>
                  <a:srgbClr val="E0A437"/>
                </a:solidFill>
                <a:latin typeface="Fira Sans"/>
              </a:rPr>
              <a:t>▸ </a:t>
            </a:r>
            <a:r>
              <a:rPr sz="1800" b="0">
                <a:solidFill>
                  <a:srgbClr val="000000"/>
                </a:solidFill>
                <a:latin typeface="Fira Sans"/>
              </a:rPr>
              <a:t>El error que vale es el de prueba, en clasificación y en regresión; importa cuando hay muchas variables para pocos datos.</a:t>
            </a:r>
          </a:p>
          <a:p>
            <a:pPr>
              <a:lnSpc>
                <a:spcPct val="112000"/>
              </a:lnSpc>
              <a:spcAft>
                <a:spcPts val="900"/>
              </a:spcAft>
            </a:pPr>
            <a:r>
              <a:rPr sz="1800" b="1">
                <a:solidFill>
                  <a:srgbClr val="E0A437"/>
                </a:solidFill>
                <a:latin typeface="Fira Sans"/>
              </a:rPr>
              <a:t>▸ </a:t>
            </a:r>
            <a:r>
              <a:rPr sz="1800" b="0">
                <a:solidFill>
                  <a:srgbClr val="000000"/>
                </a:solidFill>
                <a:latin typeface="Fira Sans"/>
              </a:rPr>
              <a:t>Ridge achica todos los coeficientes; Lasso lleva algunos a 0; λ se elige con validación cruzada.</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Próximas clases</a:t>
            </a:r>
          </a:p>
        </p:txBody>
      </p:sp>
      <p:sp>
        <p:nvSpPr>
          <p:cNvPr id="4" name="TextBox 3"/>
          <p:cNvSpPr txBox="1"/>
          <p:nvPr/>
        </p:nvSpPr>
        <p:spPr>
          <a:xfrm>
            <a:off x="704088" y="1353312"/>
            <a:ext cx="7744968" cy="3300984"/>
          </a:xfrm>
          <a:prstGeom prst="rect">
            <a:avLst/>
          </a:prstGeom>
          <a:noFill/>
        </p:spPr>
        <p:txBody>
          <a:bodyPr wrap="square">
            <a:spAutoFit/>
          </a:bodyPr>
          <a:lstStyle/>
          <a:p>
            <a:pPr>
              <a:lnSpc>
                <a:spcPct val="112000"/>
              </a:lnSpc>
              <a:spcAft>
                <a:spcPts val="900"/>
              </a:spcAft>
            </a:pPr>
            <a:r>
              <a:rPr sz="1800" b="1">
                <a:solidFill>
                  <a:srgbClr val="E0A437"/>
                </a:solidFill>
                <a:latin typeface="Fira Sans"/>
              </a:rPr>
              <a:t>▸ </a:t>
            </a:r>
            <a:r>
              <a:rPr sz="1800" b="1">
                <a:solidFill>
                  <a:srgbClr val="1D3557"/>
                </a:solidFill>
                <a:latin typeface="Fira Sans"/>
              </a:rPr>
              <a:t>Viernes 30 de octubre: Control Q3 al inicio (los informes de OpenAI y del AISI). Después, introducción al aprendizaje automático: tipos de aprendizaje, función de pérdida y riesgo esperado; validación cruzada; reducción de dimensionalidad con PCA.</a:t>
            </a:r>
          </a:p>
          <a:p>
            <a:pPr>
              <a:lnSpc>
                <a:spcPct val="112000"/>
              </a:lnSpc>
              <a:spcAft>
                <a:spcPts val="900"/>
              </a:spcAft>
            </a:pPr>
            <a:r>
              <a:rPr sz="1800" b="1">
                <a:solidFill>
                  <a:srgbClr val="E0A437"/>
                </a:solidFill>
                <a:latin typeface="Fira Sans"/>
              </a:rPr>
              <a:t>▸ </a:t>
            </a:r>
            <a:r>
              <a:rPr sz="1800" b="0">
                <a:solidFill>
                  <a:srgbClr val="000000"/>
                </a:solidFill>
                <a:latin typeface="Fira Sans"/>
              </a:rPr>
              <a:t>Viernes 6 de noviembre: clustering (k-means y jerárquico) y el avance opcional de proyecto.</a:t>
            </a:r>
          </a:p>
          <a:p>
            <a:pPr>
              <a:lnSpc>
                <a:spcPct val="112000"/>
              </a:lnSpc>
              <a:spcAft>
                <a:spcPts val="900"/>
              </a:spcAft>
            </a:pPr>
            <a:r>
              <a:rPr sz="1800" b="1">
                <a:solidFill>
                  <a:srgbClr val="E0A437"/>
                </a:solidFill>
                <a:latin typeface="Fira Sans"/>
              </a:rPr>
              <a:t>▸ </a:t>
            </a:r>
            <a:r>
              <a:rPr sz="1800" b="0">
                <a:solidFill>
                  <a:srgbClr val="000000"/>
                </a:solidFill>
                <a:latin typeface="Fira Sans"/>
              </a:rPr>
              <a:t>Viernes 13 de noviembre (fecha por confirmar): se entrega la Tarea 2 por Aula.</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301752"/>
            <a:ext cx="8348472" cy="795528"/>
          </a:xfrm>
          <a:prstGeom prst="rect">
            <a:avLst/>
          </a:prstGeom>
          <a:noFill/>
        </p:spPr>
        <p:txBody>
          <a:bodyPr wrap="square">
            <a:spAutoFit/>
          </a:bodyPr>
          <a:lstStyle/>
          <a:p>
            <a:r>
              <a:rPr sz="2800" b="1">
                <a:solidFill>
                  <a:srgbClr val="0F0F0F"/>
                </a:solidFill>
                <a:latin typeface="Fira Sans"/>
              </a:rPr>
              <a:t>Referencias</a:t>
            </a:r>
          </a:p>
        </p:txBody>
      </p:sp>
      <p:sp>
        <p:nvSpPr>
          <p:cNvPr id="4" name="TextBox 3"/>
          <p:cNvSpPr txBox="1"/>
          <p:nvPr/>
        </p:nvSpPr>
        <p:spPr>
          <a:xfrm>
            <a:off x="704088" y="1234440"/>
            <a:ext cx="7744968" cy="3566160"/>
          </a:xfrm>
          <a:prstGeom prst="rect">
            <a:avLst/>
          </a:prstGeom>
          <a:noFill/>
        </p:spPr>
        <p:txBody>
          <a:bodyPr wrap="square">
            <a:spAutoFit/>
          </a:bodyPr>
          <a:lstStyle/>
          <a:p>
            <a:pPr>
              <a:lnSpc>
                <a:spcPct val="115000"/>
              </a:lnSpc>
              <a:spcAft>
                <a:spcPts val="700"/>
              </a:spcAft>
            </a:pPr>
            <a:r>
              <a:rPr sz="1300" b="0">
                <a:solidFill>
                  <a:srgbClr val="333333"/>
                </a:solidFill>
                <a:latin typeface="Fira Sans"/>
              </a:rPr>
              <a:t>James, G., Witten, D., Hastie, T. y Tibshirani, R. (2013). An Introduction to Statistical Learning. Springer. Pp. 145 a 149 (sensibilidad, especificidad y curva ROC, con los datos Default); pp. 165 a 167 (precisión, con los datos Caravan); sección 5.1.3, p. 181 (validación cruzada); sección 6.2, pp. 214 a 228 (Ridge y Lasso); laboratorio 6.6, pp. 251 a 255 (Ridge y Lasso con los datos Hitters). PDF gratuito en statlearning.com.</a:t>
            </a:r>
          </a:p>
          <a:p>
            <a:pPr>
              <a:lnSpc>
                <a:spcPct val="115000"/>
              </a:lnSpc>
              <a:spcAft>
                <a:spcPts val="700"/>
              </a:spcAft>
            </a:pPr>
            <a:r>
              <a:rPr sz="1300" b="0">
                <a:solidFill>
                  <a:srgbClr val="333333"/>
                </a:solidFill>
                <a:latin typeface="Fira Sans"/>
              </a:rPr>
              <a:t>Documentación de scikit-learn sobre modelos lineales, Ridge y Lasso: scikit-learn.org/stable/modules/linear_model.html</a:t>
            </a:r>
          </a:p>
          <a:p>
            <a:pPr>
              <a:lnSpc>
                <a:spcPct val="115000"/>
              </a:lnSpc>
              <a:spcAft>
                <a:spcPts val="700"/>
              </a:spcAft>
            </a:pPr>
            <a:r>
              <a:rPr sz="1300" b="0">
                <a:solidFill>
                  <a:srgbClr val="333333"/>
                </a:solidFill>
                <a:latin typeface="Fira Sans"/>
              </a:rPr>
              <a:t>Datos: Default y Hitters, del libro de James et al. (statlearning.com), en datos/clase06/ y datos/clase07/ del repositorio.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